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34"/>
  </p:notesMasterIdLst>
  <p:sldIdLst>
    <p:sldId id="5414" r:id="rId2"/>
    <p:sldId id="5298" r:id="rId3"/>
    <p:sldId id="5418" r:id="rId4"/>
    <p:sldId id="5419" r:id="rId5"/>
    <p:sldId id="5420" r:id="rId6"/>
    <p:sldId id="5421" r:id="rId7"/>
    <p:sldId id="5422" r:id="rId8"/>
    <p:sldId id="5416" r:id="rId9"/>
    <p:sldId id="1174" r:id="rId10"/>
    <p:sldId id="1154" r:id="rId11"/>
    <p:sldId id="5170" r:id="rId12"/>
    <p:sldId id="1148" r:id="rId13"/>
    <p:sldId id="5171" r:id="rId14"/>
    <p:sldId id="5179" r:id="rId15"/>
    <p:sldId id="1155" r:id="rId16"/>
    <p:sldId id="5180" r:id="rId17"/>
    <p:sldId id="459" r:id="rId18"/>
    <p:sldId id="460" r:id="rId19"/>
    <p:sldId id="266" r:id="rId20"/>
    <p:sldId id="5178" r:id="rId21"/>
    <p:sldId id="456" r:id="rId22"/>
    <p:sldId id="5183" r:id="rId23"/>
    <p:sldId id="5181" r:id="rId24"/>
    <p:sldId id="5176" r:id="rId25"/>
    <p:sldId id="5177" r:id="rId26"/>
    <p:sldId id="5182" r:id="rId27"/>
    <p:sldId id="5174" r:id="rId28"/>
    <p:sldId id="5417" r:id="rId29"/>
    <p:sldId id="5415" r:id="rId30"/>
    <p:sldId id="5299" r:id="rId31"/>
    <p:sldId id="5293" r:id="rId32"/>
    <p:sldId id="5300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08E24FF-4541-4E9A-8040-D69391BE0D6A}">
          <p14:sldIdLst>
            <p14:sldId id="5414"/>
            <p14:sldId id="5298"/>
            <p14:sldId id="5418"/>
            <p14:sldId id="5419"/>
            <p14:sldId id="5420"/>
            <p14:sldId id="5421"/>
            <p14:sldId id="5422"/>
            <p14:sldId id="5416"/>
            <p14:sldId id="1174"/>
            <p14:sldId id="1154"/>
            <p14:sldId id="5170"/>
            <p14:sldId id="1148"/>
            <p14:sldId id="5171"/>
            <p14:sldId id="5179"/>
            <p14:sldId id="1155"/>
            <p14:sldId id="5180"/>
            <p14:sldId id="459"/>
            <p14:sldId id="460"/>
            <p14:sldId id="266"/>
            <p14:sldId id="5178"/>
            <p14:sldId id="456"/>
            <p14:sldId id="5183"/>
            <p14:sldId id="5181"/>
            <p14:sldId id="5176"/>
            <p14:sldId id="5177"/>
            <p14:sldId id="5182"/>
            <p14:sldId id="5174"/>
            <p14:sldId id="5417"/>
            <p14:sldId id="5415"/>
            <p14:sldId id="5299"/>
            <p14:sldId id="5293"/>
            <p14:sldId id="5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3"/>
    <a:srgbClr val="FFFFFF"/>
    <a:srgbClr val="00B050"/>
    <a:srgbClr val="FF0124"/>
    <a:srgbClr val="01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1" autoAdjust="0"/>
    <p:restoredTop sz="89698" autoAdjust="0"/>
  </p:normalViewPr>
  <p:slideViewPr>
    <p:cSldViewPr snapToGrid="0">
      <p:cViewPr varScale="1">
        <p:scale>
          <a:sx n="87" d="100"/>
          <a:sy n="87" d="100"/>
        </p:scale>
        <p:origin x="874" y="82"/>
      </p:cViewPr>
      <p:guideLst/>
    </p:cSldViewPr>
  </p:slideViewPr>
  <p:outlineViewPr>
    <p:cViewPr>
      <p:scale>
        <a:sx n="33" d="100"/>
        <a:sy n="33" d="100"/>
      </p:scale>
      <p:origin x="0" y="-62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B76C1-035F-4F90-86EE-40D9CEF268FF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BC37E-C0EE-4E56-9385-1E7D6AB1CA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7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88FD7A-B640-4B8F-913A-32C5D2A5E70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968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07968-6EDD-4419-8980-8C2BD9F36E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51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C17D1D7-4FE2-4258-8342-E67D50904E7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438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17D1D7-4FE2-4258-8342-E67D50904E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5330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17D1D7-4FE2-4258-8342-E67D50904E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217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17D1D7-4FE2-4258-8342-E67D50904E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800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17D1D7-4FE2-4258-8342-E67D50904E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335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037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950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7E3D26-081A-4223-8A94-39180C0AE39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748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7E3D26-081A-4223-8A94-39180C0AE39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94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Then, the linearity was</a:t>
            </a:r>
            <a:r>
              <a:rPr lang="en-US" altLang="ko-KR" baseline="0" dirty="0"/>
              <a:t> improved in the new version of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, named as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+</a:t>
            </a:r>
          </a:p>
          <a:p>
            <a:r>
              <a:rPr lang="en-US" altLang="ko-KR" baseline="0" dirty="0"/>
              <a:t>This work was presented on last Monday with the number of abstract 317.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009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17D1D7-4FE2-4258-8342-E67D50904E7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604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First, as we explained previous</a:t>
            </a:r>
            <a:r>
              <a:rPr lang="en-US" altLang="ko-KR" baseline="0" dirty="0"/>
              <a:t> slide,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The training data of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 consists of healthy subjects.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The training</a:t>
            </a:r>
            <a:r>
              <a:rPr lang="en-US" altLang="ko-KR" baseline="0" dirty="0"/>
              <a:t> data distribution of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 is plotted as shown here.</a:t>
            </a:r>
          </a:p>
          <a:p>
            <a:r>
              <a:rPr lang="en-US" altLang="ko-KR" baseline="0" dirty="0"/>
              <a:t>The x-axis is the susceptibility value of the voxel in training images, and y-axis is the number of voxels.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Since the network never observed the large susceptibility values such as hemorrhage lesions, or calcification during training stage,</a:t>
            </a:r>
          </a:p>
          <a:p>
            <a:r>
              <a:rPr lang="en-US" altLang="ko-KR" baseline="0" dirty="0"/>
              <a:t>we don’t know the network can perform properly in this range.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467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First, as we explained previous</a:t>
            </a:r>
            <a:r>
              <a:rPr lang="en-US" altLang="ko-KR" baseline="0" dirty="0"/>
              <a:t> slide,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The training data of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 consists of healthy subjects.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The training</a:t>
            </a:r>
            <a:r>
              <a:rPr lang="en-US" altLang="ko-KR" baseline="0" dirty="0"/>
              <a:t> data distribution of </a:t>
            </a:r>
            <a:r>
              <a:rPr lang="en-US" altLang="ko-KR" baseline="0" dirty="0" err="1"/>
              <a:t>QSMnet</a:t>
            </a:r>
            <a:r>
              <a:rPr lang="en-US" altLang="ko-KR" baseline="0" dirty="0"/>
              <a:t> is plotted as shown here.</a:t>
            </a:r>
          </a:p>
          <a:p>
            <a:r>
              <a:rPr lang="en-US" altLang="ko-KR" baseline="0" dirty="0"/>
              <a:t>The x-axis is the susceptibility value of the voxel in training images, and y-axis is the number of voxels.</a:t>
            </a:r>
          </a:p>
          <a:p>
            <a:endParaRPr lang="en-US" altLang="ko-KR" baseline="0" dirty="0"/>
          </a:p>
          <a:p>
            <a:r>
              <a:rPr lang="en-US" altLang="ko-KR" baseline="0" dirty="0"/>
              <a:t>Since the network never observed the large susceptibility values such as hemorrhage lesions, or calcification during training stage,</a:t>
            </a:r>
          </a:p>
          <a:p>
            <a:r>
              <a:rPr lang="en-US" altLang="ko-KR" baseline="0" dirty="0"/>
              <a:t>we don’t know the network can perform properly in this range.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358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717C59-381B-4DEE-9A7E-E210D1A10D2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190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C9C4D-F85B-4798-BEB5-8A01C8EF1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4A6806-BA9D-4628-80F7-CAB234A20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2900"/>
            <a:ext cx="9144000" cy="11049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2AD79-5D17-4039-B339-EFC6F9BA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C5329-B909-4995-AB8F-4383DEEE1A9D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7518F6-A8FB-4344-8328-18422F8F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0C27F-7E14-49D6-B9AB-85ABDF88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4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B7DA94-7FF4-4EAD-A7B9-3E8894F1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ECA247-C038-4DF7-B1E0-2A08D6B7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EB0F86-186C-4BFB-B085-6604CE92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16B5-4584-4CD6-AF05-B625CB5560AE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196C4F-709E-4BEC-8E8E-7165FF62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9C4763-2093-40C2-A47A-A55FA394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4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중앙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59ECA-9E36-48C4-ADCA-67B86134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2688432"/>
            <a:ext cx="10972800" cy="76517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32E9D5-ABA0-4827-8297-F6A755AF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465A-D1ED-477B-8C33-A28D03571AC5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C9BB74-985A-4738-B26B-CB023C16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F233BB-8A25-457E-8C42-7C07DA90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7C1A1-EB02-463C-8563-3A8B11264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DC9411-A046-44E1-A3F8-D1E3AB6FE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34D6-6380-4324-8625-76289A860CBA}" type="datetime1">
              <a:rPr lang="en-US" smtClean="0">
                <a:ea typeface="Calibri" panose="020F0502020204030204" pitchFamily="34" charset="0"/>
              </a:rPr>
              <a:t>8/19/2025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970F32-6484-4E79-8B07-BE6195E2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D824B3-839F-4742-82C4-63F047E3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62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FF0468-C999-4CA5-A820-0D707B62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3332-C45F-4A46-B267-D63A4C8A0008}" type="datetime1">
              <a:rPr lang="en-US" smtClean="0"/>
              <a:t>8/19/2025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544EF9-1695-4520-A3C0-3248AF52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0C8A7-2F21-4098-AB88-48FC52B7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B68E-5C5D-4B03-9C07-34B3573976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800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C8BA-AFB5-4611-9EEC-31ABA9C0C451}" type="datetime1">
              <a:rPr lang="ko-KR" altLang="en-US" smtClean="0"/>
              <a:t>2025-08-19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79D1-7896-45E9-81D3-994659B5369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66682" y="627957"/>
            <a:ext cx="8137525" cy="450850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4pPr marL="1371600" indent="0">
              <a:buNone/>
              <a:defRPr/>
            </a:lvl4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A942A-238C-4543-B72F-EAFAAAE49C20}"/>
              </a:ext>
            </a:extLst>
          </p:cNvPr>
          <p:cNvSpPr txBox="1"/>
          <p:nvPr userDrawn="1"/>
        </p:nvSpPr>
        <p:spPr>
          <a:xfrm>
            <a:off x="11521742" y="6463844"/>
            <a:ext cx="397866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/50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85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6414E-2987-43F3-9E19-F23936A04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08508"/>
            <a:ext cx="10972800" cy="472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38A86-EECD-4B3D-B915-799B99685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6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699988B-EC3A-4F5C-A4BB-1D5B04974052}" type="datetime1">
              <a:rPr lang="en-US" smtClean="0">
                <a:ea typeface="Calibri" panose="020F0502020204030204" pitchFamily="34" charset="0"/>
              </a:rPr>
              <a:t>8/19/2025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7DEA3-DC21-4012-BC18-D9A572C62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AAA70-981E-4B2F-AE99-262F99D65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65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42FB68E-5C5D-4B03-9C07-34B357397683}" type="slidenum">
              <a:rPr lang="en-US" smtClean="0">
                <a:ea typeface="Calibri" panose="020F0502020204030204" pitchFamily="34" charset="0"/>
              </a:rPr>
              <a:pPr/>
              <a:t>‹#›</a:t>
            </a:fld>
            <a:endParaRPr lang="en-US" dirty="0">
              <a:ea typeface="Calibri" panose="020F0502020204030204" pitchFamily="34" charset="0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373413-82BA-41C5-8C15-5CC42CF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316310"/>
            <a:ext cx="10972800" cy="765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9574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  <p:sldLayoutId id="2147483665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2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2.jpe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tiff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../media/image44.png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3;p1">
            <a:extLst>
              <a:ext uri="{FF2B5EF4-FFF2-40B4-BE49-F238E27FC236}">
                <a16:creationId xmlns:a16="http://schemas.microsoft.com/office/drawing/2014/main" id="{0FD9809E-1B7D-40C0-B8DE-093FC6269ADE}"/>
              </a:ext>
            </a:extLst>
          </p:cNvPr>
          <p:cNvSpPr/>
          <p:nvPr/>
        </p:nvSpPr>
        <p:spPr>
          <a:xfrm>
            <a:off x="306404" y="1598352"/>
            <a:ext cx="11579192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삼성 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</a:t>
            </a:r>
            <a:r>
              <a:rPr lang="en-US" altLang="ko-KR" sz="4000" b="0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</a:t>
            </a:r>
            <a:r>
              <a:rPr lang="ko-KR" altLang="en-US"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</a:t>
            </a:r>
            <a:r>
              <a:rPr lang="en-US" altLang="ko-KR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endParaRPr lang="en-US" altLang="ko-KR"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Restoration Challenge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n-US"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Jongho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Lee,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Laboratory for Imaging Science and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Computer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Seoul National University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74F780-935D-46B7-87C0-5AA214B6021B}"/>
              </a:ext>
            </a:extLst>
          </p:cNvPr>
          <p:cNvGrpSpPr>
            <a:grpSpLocks noChangeAspect="1"/>
          </p:cNvGrpSpPr>
          <p:nvPr/>
        </p:nvGrpSpPr>
        <p:grpSpPr>
          <a:xfrm>
            <a:off x="306404" y="5271793"/>
            <a:ext cx="3476794" cy="1360752"/>
            <a:chOff x="8375322" y="3712727"/>
            <a:chExt cx="1154342" cy="451787"/>
          </a:xfrm>
        </p:grpSpPr>
        <p:pic>
          <p:nvPicPr>
            <p:cNvPr id="8" name="그림 7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4E4D2B72-58B6-47A9-966D-F4AE7A16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21" t="20241" r="59880" b="40723"/>
            <a:stretch/>
          </p:blipFill>
          <p:spPr>
            <a:xfrm>
              <a:off x="8881565" y="3712727"/>
              <a:ext cx="648099" cy="451787"/>
            </a:xfrm>
            <a:prstGeom prst="rect">
              <a:avLst/>
            </a:prstGeom>
          </p:spPr>
        </p:pic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D549FB93-F75B-49EB-AED6-FB56104C5BF2}"/>
                </a:ext>
              </a:extLst>
            </p:cNvPr>
            <p:cNvSpPr/>
            <p:nvPr/>
          </p:nvSpPr>
          <p:spPr>
            <a:xfrm>
              <a:off x="8375322" y="3719323"/>
              <a:ext cx="419897" cy="437957"/>
            </a:xfrm>
            <a:custGeom>
              <a:avLst/>
              <a:gdLst>
                <a:gd name="connsiteX0" fmla="*/ 100316 w 425953"/>
                <a:gd name="connsiteY0" fmla="*/ 226003 h 444273"/>
                <a:gd name="connsiteX1" fmla="*/ 86362 w 425953"/>
                <a:gd name="connsiteY1" fmla="*/ 226003 h 444273"/>
                <a:gd name="connsiteX2" fmla="*/ 86362 w 425953"/>
                <a:gd name="connsiteY2" fmla="*/ 243664 h 444273"/>
                <a:gd name="connsiteX3" fmla="*/ 100316 w 425953"/>
                <a:gd name="connsiteY3" fmla="*/ 243664 h 444273"/>
                <a:gd name="connsiteX4" fmla="*/ 39253 w 425953"/>
                <a:gd name="connsiteY4" fmla="*/ 359706 h 444273"/>
                <a:gd name="connsiteX5" fmla="*/ 94850 w 425953"/>
                <a:gd name="connsiteY5" fmla="*/ 380256 h 444273"/>
                <a:gd name="connsiteX6" fmla="*/ 83895 w 425953"/>
                <a:gd name="connsiteY6" fmla="*/ 330356 h 444273"/>
                <a:gd name="connsiteX7" fmla="*/ 88737 w 425953"/>
                <a:gd name="connsiteY7" fmla="*/ 374515 h 444273"/>
                <a:gd name="connsiteX8" fmla="*/ 39253 w 425953"/>
                <a:gd name="connsiteY8" fmla="*/ 359706 h 444273"/>
                <a:gd name="connsiteX9" fmla="*/ 76017 w 425953"/>
                <a:gd name="connsiteY9" fmla="*/ 152910 h 444273"/>
                <a:gd name="connsiteX10" fmla="*/ 69238 w 425953"/>
                <a:gd name="connsiteY10" fmla="*/ 146577 h 444273"/>
                <a:gd name="connsiteX11" fmla="*/ 40933 w 425953"/>
                <a:gd name="connsiteY11" fmla="*/ 165264 h 444273"/>
                <a:gd name="connsiteX12" fmla="*/ 41049 w 425953"/>
                <a:gd name="connsiteY12" fmla="*/ 120488 h 444273"/>
                <a:gd name="connsiteX13" fmla="*/ 36114 w 425953"/>
                <a:gd name="connsiteY13" fmla="*/ 116458 h 444273"/>
                <a:gd name="connsiteX14" fmla="*/ 37653 w 425953"/>
                <a:gd name="connsiteY14" fmla="*/ 172971 h 444273"/>
                <a:gd name="connsiteX15" fmla="*/ 76017 w 425953"/>
                <a:gd name="connsiteY15" fmla="*/ 152910 h 444273"/>
                <a:gd name="connsiteX16" fmla="*/ 121757 w 425953"/>
                <a:gd name="connsiteY16" fmla="*/ 398796 h 444273"/>
                <a:gd name="connsiteX17" fmla="*/ 116291 w 425953"/>
                <a:gd name="connsiteY17" fmla="*/ 371755 h 444273"/>
                <a:gd name="connsiteX18" fmla="*/ 102826 w 425953"/>
                <a:gd name="connsiteY18" fmla="*/ 371767 h 444273"/>
                <a:gd name="connsiteX19" fmla="*/ 114734 w 425953"/>
                <a:gd name="connsiteY19" fmla="*/ 394204 h 444273"/>
                <a:gd name="connsiteX20" fmla="*/ 63418 w 425953"/>
                <a:gd name="connsiteY20" fmla="*/ 388207 h 444273"/>
                <a:gd name="connsiteX21" fmla="*/ 121757 w 425953"/>
                <a:gd name="connsiteY21" fmla="*/ 398796 h 444273"/>
                <a:gd name="connsiteX22" fmla="*/ 171510 w 425953"/>
                <a:gd name="connsiteY22" fmla="*/ 241154 h 444273"/>
                <a:gd name="connsiteX23" fmla="*/ 171510 w 425953"/>
                <a:gd name="connsiteY23" fmla="*/ 247926 h 444273"/>
                <a:gd name="connsiteX24" fmla="*/ 164218 w 425953"/>
                <a:gd name="connsiteY24" fmla="*/ 247926 h 444273"/>
                <a:gd name="connsiteX25" fmla="*/ 164218 w 425953"/>
                <a:gd name="connsiteY25" fmla="*/ 255865 h 444273"/>
                <a:gd name="connsiteX26" fmla="*/ 170630 w 425953"/>
                <a:gd name="connsiteY26" fmla="*/ 255865 h 444273"/>
                <a:gd name="connsiteX27" fmla="*/ 170630 w 425953"/>
                <a:gd name="connsiteY27" fmla="*/ 262638 h 444273"/>
                <a:gd name="connsiteX28" fmla="*/ 164218 w 425953"/>
                <a:gd name="connsiteY28" fmla="*/ 262638 h 444273"/>
                <a:gd name="connsiteX29" fmla="*/ 164218 w 425953"/>
                <a:gd name="connsiteY29" fmla="*/ 270857 h 444273"/>
                <a:gd name="connsiteX30" fmla="*/ 171620 w 425953"/>
                <a:gd name="connsiteY30" fmla="*/ 270857 h 444273"/>
                <a:gd name="connsiteX31" fmla="*/ 171620 w 425953"/>
                <a:gd name="connsiteY31" fmla="*/ 277636 h 444273"/>
                <a:gd name="connsiteX32" fmla="*/ 157000 w 425953"/>
                <a:gd name="connsiteY32" fmla="*/ 277636 h 444273"/>
                <a:gd name="connsiteX33" fmla="*/ 157000 w 425953"/>
                <a:gd name="connsiteY33" fmla="*/ 241209 h 444273"/>
                <a:gd name="connsiteX34" fmla="*/ 146899 w 425953"/>
                <a:gd name="connsiteY34" fmla="*/ 277636 h 444273"/>
                <a:gd name="connsiteX35" fmla="*/ 141006 w 425953"/>
                <a:gd name="connsiteY35" fmla="*/ 277636 h 444273"/>
                <a:gd name="connsiteX36" fmla="*/ 130465 w 425953"/>
                <a:gd name="connsiteY36" fmla="*/ 241154 h 444273"/>
                <a:gd name="connsiteX37" fmla="*/ 138191 w 425953"/>
                <a:gd name="connsiteY37" fmla="*/ 241154 h 444273"/>
                <a:gd name="connsiteX38" fmla="*/ 142545 w 425953"/>
                <a:gd name="connsiteY38" fmla="*/ 258668 h 444273"/>
                <a:gd name="connsiteX39" fmla="*/ 143846 w 425953"/>
                <a:gd name="connsiteY39" fmla="*/ 264909 h 444273"/>
                <a:gd name="connsiteX40" fmla="*/ 143955 w 425953"/>
                <a:gd name="connsiteY40" fmla="*/ 264909 h 444273"/>
                <a:gd name="connsiteX41" fmla="*/ 145067 w 425953"/>
                <a:gd name="connsiteY41" fmla="*/ 258576 h 444273"/>
                <a:gd name="connsiteX42" fmla="*/ 149458 w 425953"/>
                <a:gd name="connsiteY42" fmla="*/ 241154 h 444273"/>
                <a:gd name="connsiteX43" fmla="*/ 180584 w 425953"/>
                <a:gd name="connsiteY43" fmla="*/ 322045 h 444273"/>
                <a:gd name="connsiteX44" fmla="*/ 172878 w 425953"/>
                <a:gd name="connsiteY44" fmla="*/ 322045 h 444273"/>
                <a:gd name="connsiteX45" fmla="*/ 171534 w 425953"/>
                <a:gd name="connsiteY45" fmla="*/ 315908 h 444273"/>
                <a:gd name="connsiteX46" fmla="*/ 164230 w 425953"/>
                <a:gd name="connsiteY46" fmla="*/ 315908 h 444273"/>
                <a:gd name="connsiteX47" fmla="*/ 162911 w 425953"/>
                <a:gd name="connsiteY47" fmla="*/ 322045 h 444273"/>
                <a:gd name="connsiteX48" fmla="*/ 155760 w 425953"/>
                <a:gd name="connsiteY48" fmla="*/ 322045 h 444273"/>
                <a:gd name="connsiteX49" fmla="*/ 164230 w 425953"/>
                <a:gd name="connsiteY49" fmla="*/ 285569 h 444273"/>
                <a:gd name="connsiteX50" fmla="*/ 171827 w 425953"/>
                <a:gd name="connsiteY50" fmla="*/ 285569 h 444273"/>
                <a:gd name="connsiteX51" fmla="*/ 172987 w 425953"/>
                <a:gd name="connsiteY51" fmla="*/ 241154 h 444273"/>
                <a:gd name="connsiteX52" fmla="*/ 180242 w 425953"/>
                <a:gd name="connsiteY52" fmla="*/ 241154 h 444273"/>
                <a:gd name="connsiteX53" fmla="*/ 193061 w 425953"/>
                <a:gd name="connsiteY53" fmla="*/ 251596 h 444273"/>
                <a:gd name="connsiteX54" fmla="*/ 187888 w 425953"/>
                <a:gd name="connsiteY54" fmla="*/ 261031 h 444273"/>
                <a:gd name="connsiteX55" fmla="*/ 194233 w 425953"/>
                <a:gd name="connsiteY55" fmla="*/ 277636 h 444273"/>
                <a:gd name="connsiteX56" fmla="*/ 186642 w 425953"/>
                <a:gd name="connsiteY56" fmla="*/ 277636 h 444273"/>
                <a:gd name="connsiteX57" fmla="*/ 180322 w 425953"/>
                <a:gd name="connsiteY57" fmla="*/ 260793 h 444273"/>
                <a:gd name="connsiteX58" fmla="*/ 180194 w 425953"/>
                <a:gd name="connsiteY58" fmla="*/ 260793 h 444273"/>
                <a:gd name="connsiteX59" fmla="*/ 180194 w 425953"/>
                <a:gd name="connsiteY59" fmla="*/ 277636 h 444273"/>
                <a:gd name="connsiteX60" fmla="*/ 172987 w 425953"/>
                <a:gd name="connsiteY60" fmla="*/ 277636 h 444273"/>
                <a:gd name="connsiteX61" fmla="*/ 195650 w 425953"/>
                <a:gd name="connsiteY61" fmla="*/ 241154 h 444273"/>
                <a:gd name="connsiteX62" fmla="*/ 202856 w 425953"/>
                <a:gd name="connsiteY62" fmla="*/ 241154 h 444273"/>
                <a:gd name="connsiteX63" fmla="*/ 202856 w 425953"/>
                <a:gd name="connsiteY63" fmla="*/ 277636 h 444273"/>
                <a:gd name="connsiteX64" fmla="*/ 195650 w 425953"/>
                <a:gd name="connsiteY64" fmla="*/ 277636 h 444273"/>
                <a:gd name="connsiteX65" fmla="*/ 190319 w 425953"/>
                <a:gd name="connsiteY65" fmla="*/ 322625 h 444273"/>
                <a:gd name="connsiteX66" fmla="*/ 184108 w 425953"/>
                <a:gd name="connsiteY66" fmla="*/ 320775 h 444273"/>
                <a:gd name="connsiteX67" fmla="*/ 184108 w 425953"/>
                <a:gd name="connsiteY67" fmla="*/ 313923 h 444273"/>
                <a:gd name="connsiteX68" fmla="*/ 189574 w 425953"/>
                <a:gd name="connsiteY68" fmla="*/ 315859 h 444273"/>
                <a:gd name="connsiteX69" fmla="*/ 193745 w 425953"/>
                <a:gd name="connsiteY69" fmla="*/ 311889 h 444273"/>
                <a:gd name="connsiteX70" fmla="*/ 189494 w 425953"/>
                <a:gd name="connsiteY70" fmla="*/ 306558 h 444273"/>
                <a:gd name="connsiteX71" fmla="*/ 182765 w 425953"/>
                <a:gd name="connsiteY71" fmla="*/ 295743 h 444273"/>
                <a:gd name="connsiteX72" fmla="*/ 192303 w 425953"/>
                <a:gd name="connsiteY72" fmla="*/ 284995 h 444273"/>
                <a:gd name="connsiteX73" fmla="*/ 198667 w 425953"/>
                <a:gd name="connsiteY73" fmla="*/ 286784 h 444273"/>
                <a:gd name="connsiteX74" fmla="*/ 198667 w 425953"/>
                <a:gd name="connsiteY74" fmla="*/ 293795 h 444273"/>
                <a:gd name="connsiteX75" fmla="*/ 193464 w 425953"/>
                <a:gd name="connsiteY75" fmla="*/ 291480 h 444273"/>
                <a:gd name="connsiteX76" fmla="*/ 189830 w 425953"/>
                <a:gd name="connsiteY76" fmla="*/ 295053 h 444273"/>
                <a:gd name="connsiteX77" fmla="*/ 200810 w 425953"/>
                <a:gd name="connsiteY77" fmla="*/ 311260 h 444273"/>
                <a:gd name="connsiteX78" fmla="*/ 190319 w 425953"/>
                <a:gd name="connsiteY78" fmla="*/ 322625 h 444273"/>
                <a:gd name="connsiteX79" fmla="*/ 154459 w 425953"/>
                <a:gd name="connsiteY79" fmla="*/ 292341 h 444273"/>
                <a:gd name="connsiteX80" fmla="*/ 148762 w 425953"/>
                <a:gd name="connsiteY80" fmla="*/ 292341 h 444273"/>
                <a:gd name="connsiteX81" fmla="*/ 148762 w 425953"/>
                <a:gd name="connsiteY81" fmla="*/ 322045 h 444273"/>
                <a:gd name="connsiteX82" fmla="*/ 141519 w 425953"/>
                <a:gd name="connsiteY82" fmla="*/ 322045 h 444273"/>
                <a:gd name="connsiteX83" fmla="*/ 141519 w 425953"/>
                <a:gd name="connsiteY83" fmla="*/ 292341 h 444273"/>
                <a:gd name="connsiteX84" fmla="*/ 135882 w 425953"/>
                <a:gd name="connsiteY84" fmla="*/ 292341 h 444273"/>
                <a:gd name="connsiteX85" fmla="*/ 135882 w 425953"/>
                <a:gd name="connsiteY85" fmla="*/ 285569 h 444273"/>
                <a:gd name="connsiteX86" fmla="*/ 154459 w 425953"/>
                <a:gd name="connsiteY86" fmla="*/ 285569 h 444273"/>
                <a:gd name="connsiteX87" fmla="*/ 118453 w 425953"/>
                <a:gd name="connsiteY87" fmla="*/ 199029 h 444273"/>
                <a:gd name="connsiteX88" fmla="*/ 118453 w 425953"/>
                <a:gd name="connsiteY88" fmla="*/ 352512 h 444273"/>
                <a:gd name="connsiteX89" fmla="*/ 194477 w 425953"/>
                <a:gd name="connsiteY89" fmla="*/ 352512 h 444273"/>
                <a:gd name="connsiteX90" fmla="*/ 211925 w 425953"/>
                <a:gd name="connsiteY90" fmla="*/ 359480 h 444273"/>
                <a:gd name="connsiteX91" fmla="*/ 211925 w 425953"/>
                <a:gd name="connsiteY91" fmla="*/ 236702 h 444273"/>
                <a:gd name="connsiteX92" fmla="*/ 156603 w 425953"/>
                <a:gd name="connsiteY92" fmla="*/ 199029 h 444273"/>
                <a:gd name="connsiteX93" fmla="*/ 294966 w 425953"/>
                <a:gd name="connsiteY93" fmla="*/ 119713 h 444273"/>
                <a:gd name="connsiteX94" fmla="*/ 272169 w 425953"/>
                <a:gd name="connsiteY94" fmla="*/ 144525 h 444273"/>
                <a:gd name="connsiteX95" fmla="*/ 272401 w 425953"/>
                <a:gd name="connsiteY95" fmla="*/ 184140 h 444273"/>
                <a:gd name="connsiteX96" fmla="*/ 270325 w 425953"/>
                <a:gd name="connsiteY96" fmla="*/ 193893 h 444273"/>
                <a:gd name="connsiteX97" fmla="*/ 284957 w 425953"/>
                <a:gd name="connsiteY97" fmla="*/ 193893 h 444273"/>
                <a:gd name="connsiteX98" fmla="*/ 326813 w 425953"/>
                <a:gd name="connsiteY98" fmla="*/ 152036 h 444273"/>
                <a:gd name="connsiteX99" fmla="*/ 100768 w 425953"/>
                <a:gd name="connsiteY99" fmla="*/ 309496 h 444273"/>
                <a:gd name="connsiteX100" fmla="*/ 86826 w 425953"/>
                <a:gd name="connsiteY100" fmla="*/ 309496 h 444273"/>
                <a:gd name="connsiteX101" fmla="*/ 86826 w 425953"/>
                <a:gd name="connsiteY101" fmla="*/ 327157 h 444273"/>
                <a:gd name="connsiteX102" fmla="*/ 100768 w 425953"/>
                <a:gd name="connsiteY102" fmla="*/ 327157 h 444273"/>
                <a:gd name="connsiteX103" fmla="*/ 123559 w 425953"/>
                <a:gd name="connsiteY103" fmla="*/ 138100 h 444273"/>
                <a:gd name="connsiteX104" fmla="*/ 152878 w 425953"/>
                <a:gd name="connsiteY104" fmla="*/ 166925 h 444273"/>
                <a:gd name="connsiteX105" fmla="*/ 152878 w 425953"/>
                <a:gd name="connsiteY105" fmla="*/ 144610 h 444273"/>
                <a:gd name="connsiteX106" fmla="*/ 123559 w 425953"/>
                <a:gd name="connsiteY106" fmla="*/ 115310 h 444273"/>
                <a:gd name="connsiteX107" fmla="*/ 100456 w 425953"/>
                <a:gd name="connsiteY107" fmla="*/ 385159 h 444273"/>
                <a:gd name="connsiteX108" fmla="*/ 103772 w 425953"/>
                <a:gd name="connsiteY108" fmla="*/ 381843 h 444273"/>
                <a:gd name="connsiteX109" fmla="*/ 100456 w 425953"/>
                <a:gd name="connsiteY109" fmla="*/ 378527 h 444273"/>
                <a:gd name="connsiteX110" fmla="*/ 97140 w 425953"/>
                <a:gd name="connsiteY110" fmla="*/ 381843 h 444273"/>
                <a:gd name="connsiteX111" fmla="*/ 100456 w 425953"/>
                <a:gd name="connsiteY111" fmla="*/ 385159 h 444273"/>
                <a:gd name="connsiteX112" fmla="*/ 47369 w 425953"/>
                <a:gd name="connsiteY112" fmla="*/ 148995 h 444273"/>
                <a:gd name="connsiteX113" fmla="*/ 50685 w 425953"/>
                <a:gd name="connsiteY113" fmla="*/ 152311 h 444273"/>
                <a:gd name="connsiteX114" fmla="*/ 53995 w 425953"/>
                <a:gd name="connsiteY114" fmla="*/ 148995 h 444273"/>
                <a:gd name="connsiteX115" fmla="*/ 50685 w 425953"/>
                <a:gd name="connsiteY115" fmla="*/ 145673 h 444273"/>
                <a:gd name="connsiteX116" fmla="*/ 47369 w 425953"/>
                <a:gd name="connsiteY116" fmla="*/ 148995 h 444273"/>
                <a:gd name="connsiteX117" fmla="*/ 100633 w 425953"/>
                <a:gd name="connsiteY117" fmla="*/ 360982 h 444273"/>
                <a:gd name="connsiteX118" fmla="*/ 101061 w 425953"/>
                <a:gd name="connsiteY118" fmla="*/ 360647 h 444273"/>
                <a:gd name="connsiteX119" fmla="*/ 101061 w 425953"/>
                <a:gd name="connsiteY119" fmla="*/ 339089 h 444273"/>
                <a:gd name="connsiteX120" fmla="*/ 97507 w 425953"/>
                <a:gd name="connsiteY120" fmla="*/ 343040 h 444273"/>
                <a:gd name="connsiteX121" fmla="*/ 100633 w 425953"/>
                <a:gd name="connsiteY121" fmla="*/ 360982 h 444273"/>
                <a:gd name="connsiteX122" fmla="*/ 152878 w 425953"/>
                <a:gd name="connsiteY122" fmla="*/ 177978 h 444273"/>
                <a:gd name="connsiteX123" fmla="*/ 152878 w 425953"/>
                <a:gd name="connsiteY123" fmla="*/ 173447 h 444273"/>
                <a:gd name="connsiteX124" fmla="*/ 131241 w 425953"/>
                <a:gd name="connsiteY124" fmla="*/ 151816 h 444273"/>
                <a:gd name="connsiteX125" fmla="*/ 80554 w 425953"/>
                <a:gd name="connsiteY125" fmla="*/ 151816 h 444273"/>
                <a:gd name="connsiteX126" fmla="*/ 109183 w 425953"/>
                <a:gd name="connsiteY126" fmla="*/ 177978 h 444273"/>
                <a:gd name="connsiteX127" fmla="*/ 42918 w 425953"/>
                <a:gd name="connsiteY127" fmla="*/ 116409 h 444273"/>
                <a:gd name="connsiteX128" fmla="*/ 53330 w 425953"/>
                <a:gd name="connsiteY128" fmla="*/ 86919 h 444273"/>
                <a:gd name="connsiteX129" fmla="*/ 11705 w 425953"/>
                <a:gd name="connsiteY129" fmla="*/ 86919 h 444273"/>
                <a:gd name="connsiteX130" fmla="*/ 42918 w 425953"/>
                <a:gd name="connsiteY130" fmla="*/ 116409 h 444273"/>
                <a:gd name="connsiteX131" fmla="*/ 6814 w 425953"/>
                <a:gd name="connsiteY131" fmla="*/ 181343 h 444273"/>
                <a:gd name="connsiteX132" fmla="*/ 26826 w 425953"/>
                <a:gd name="connsiteY132" fmla="*/ 237178 h 444273"/>
                <a:gd name="connsiteX133" fmla="*/ 57965 w 425953"/>
                <a:gd name="connsiteY133" fmla="*/ 196690 h 444273"/>
                <a:gd name="connsiteX134" fmla="*/ 27290 w 425953"/>
                <a:gd name="connsiteY134" fmla="*/ 228793 h 444273"/>
                <a:gd name="connsiteX135" fmla="*/ 6814 w 425953"/>
                <a:gd name="connsiteY135" fmla="*/ 181343 h 444273"/>
                <a:gd name="connsiteX136" fmla="*/ 31345 w 425953"/>
                <a:gd name="connsiteY136" fmla="*/ 196427 h 444273"/>
                <a:gd name="connsiteX137" fmla="*/ 19412 w 425953"/>
                <a:gd name="connsiteY137" fmla="*/ 146149 h 444273"/>
                <a:gd name="connsiteX138" fmla="*/ 29440 w 425953"/>
                <a:gd name="connsiteY138" fmla="*/ 204598 h 444273"/>
                <a:gd name="connsiteX139" fmla="*/ 67143 w 425953"/>
                <a:gd name="connsiteY139" fmla="*/ 170161 h 444273"/>
                <a:gd name="connsiteX140" fmla="*/ 31345 w 425953"/>
                <a:gd name="connsiteY140" fmla="*/ 196427 h 444273"/>
                <a:gd name="connsiteX141" fmla="*/ 34258 w 425953"/>
                <a:gd name="connsiteY141" fmla="*/ 210076 h 444273"/>
                <a:gd name="connsiteX142" fmla="*/ 30960 w 425953"/>
                <a:gd name="connsiteY142" fmla="*/ 206760 h 444273"/>
                <a:gd name="connsiteX143" fmla="*/ 27656 w 425953"/>
                <a:gd name="connsiteY143" fmla="*/ 210076 h 444273"/>
                <a:gd name="connsiteX144" fmla="*/ 30960 w 425953"/>
                <a:gd name="connsiteY144" fmla="*/ 213392 h 444273"/>
                <a:gd name="connsiteX145" fmla="*/ 34258 w 425953"/>
                <a:gd name="connsiteY145" fmla="*/ 210076 h 444273"/>
                <a:gd name="connsiteX146" fmla="*/ 203821 w 425953"/>
                <a:gd name="connsiteY146" fmla="*/ 377880 h 444273"/>
                <a:gd name="connsiteX147" fmla="*/ 225647 w 425953"/>
                <a:gd name="connsiteY147" fmla="*/ 377880 h 444273"/>
                <a:gd name="connsiteX148" fmla="*/ 233256 w 425953"/>
                <a:gd name="connsiteY148" fmla="*/ 368402 h 444273"/>
                <a:gd name="connsiteX149" fmla="*/ 323857 w 425953"/>
                <a:gd name="connsiteY149" fmla="*/ 368402 h 444273"/>
                <a:gd name="connsiteX150" fmla="*/ 323857 w 425953"/>
                <a:gd name="connsiteY150" fmla="*/ 208989 h 444273"/>
                <a:gd name="connsiteX151" fmla="*/ 314850 w 425953"/>
                <a:gd name="connsiteY151" fmla="*/ 199499 h 444273"/>
                <a:gd name="connsiteX152" fmla="*/ 314850 w 425953"/>
                <a:gd name="connsiteY152" fmla="*/ 357477 h 444273"/>
                <a:gd name="connsiteX153" fmla="*/ 233702 w 425953"/>
                <a:gd name="connsiteY153" fmla="*/ 357477 h 444273"/>
                <a:gd name="connsiteX154" fmla="*/ 214264 w 425953"/>
                <a:gd name="connsiteY154" fmla="*/ 368854 h 444273"/>
                <a:gd name="connsiteX155" fmla="*/ 193390 w 425953"/>
                <a:gd name="connsiteY155" fmla="*/ 357959 h 444273"/>
                <a:gd name="connsiteX156" fmla="*/ 114160 w 425953"/>
                <a:gd name="connsiteY156" fmla="*/ 357959 h 444273"/>
                <a:gd name="connsiteX157" fmla="*/ 114160 w 425953"/>
                <a:gd name="connsiteY157" fmla="*/ 200922 h 444273"/>
                <a:gd name="connsiteX158" fmla="*/ 104438 w 425953"/>
                <a:gd name="connsiteY158" fmla="*/ 210644 h 444273"/>
                <a:gd name="connsiteX159" fmla="*/ 104438 w 425953"/>
                <a:gd name="connsiteY159" fmla="*/ 368402 h 444273"/>
                <a:gd name="connsiteX160" fmla="*/ 192914 w 425953"/>
                <a:gd name="connsiteY160" fmla="*/ 368402 h 444273"/>
                <a:gd name="connsiteX161" fmla="*/ 203821 w 425953"/>
                <a:gd name="connsiteY161" fmla="*/ 377880 h 444273"/>
                <a:gd name="connsiteX162" fmla="*/ 61837 w 425953"/>
                <a:gd name="connsiteY162" fmla="*/ 84922 h 444273"/>
                <a:gd name="connsiteX163" fmla="*/ 51247 w 425953"/>
                <a:gd name="connsiteY163" fmla="*/ 143255 h 444273"/>
                <a:gd name="connsiteX164" fmla="*/ 98459 w 425953"/>
                <a:gd name="connsiteY164" fmla="*/ 123804 h 444273"/>
                <a:gd name="connsiteX165" fmla="*/ 55821 w 425953"/>
                <a:gd name="connsiteY165" fmla="*/ 136244 h 444273"/>
                <a:gd name="connsiteX166" fmla="*/ 61837 w 425953"/>
                <a:gd name="connsiteY166" fmla="*/ 84922 h 444273"/>
                <a:gd name="connsiteX167" fmla="*/ 168627 w 425953"/>
                <a:gd name="connsiteY167" fmla="*/ 300476 h 444273"/>
                <a:gd name="connsiteX168" fmla="*/ 167809 w 425953"/>
                <a:gd name="connsiteY168" fmla="*/ 294943 h 444273"/>
                <a:gd name="connsiteX169" fmla="*/ 167717 w 425953"/>
                <a:gd name="connsiteY169" fmla="*/ 294943 h 444273"/>
                <a:gd name="connsiteX170" fmla="*/ 166936 w 425953"/>
                <a:gd name="connsiteY170" fmla="*/ 300476 h 444273"/>
                <a:gd name="connsiteX171" fmla="*/ 165397 w 425953"/>
                <a:gd name="connsiteY171" fmla="*/ 310186 h 444273"/>
                <a:gd name="connsiteX172" fmla="*/ 170478 w 425953"/>
                <a:gd name="connsiteY172" fmla="*/ 310186 h 444273"/>
                <a:gd name="connsiteX173" fmla="*/ 377982 w 425953"/>
                <a:gd name="connsiteY173" fmla="*/ 369080 h 444273"/>
                <a:gd name="connsiteX174" fmla="*/ 393079 w 425953"/>
                <a:gd name="connsiteY174" fmla="*/ 354607 h 444273"/>
                <a:gd name="connsiteX175" fmla="*/ 367076 w 425953"/>
                <a:gd name="connsiteY175" fmla="*/ 357788 h 444273"/>
                <a:gd name="connsiteX176" fmla="*/ 401024 w 425953"/>
                <a:gd name="connsiteY176" fmla="*/ 224415 h 444273"/>
                <a:gd name="connsiteX177" fmla="*/ 369598 w 425953"/>
                <a:gd name="connsiteY177" fmla="*/ 193044 h 444273"/>
                <a:gd name="connsiteX178" fmla="*/ 401701 w 425953"/>
                <a:gd name="connsiteY178" fmla="*/ 232775 h 444273"/>
                <a:gd name="connsiteX179" fmla="*/ 420370 w 425953"/>
                <a:gd name="connsiteY179" fmla="*/ 176488 h 444273"/>
                <a:gd name="connsiteX180" fmla="*/ 401024 w 425953"/>
                <a:gd name="connsiteY180" fmla="*/ 224415 h 444273"/>
                <a:gd name="connsiteX181" fmla="*/ 360700 w 425953"/>
                <a:gd name="connsiteY181" fmla="*/ 302870 h 444273"/>
                <a:gd name="connsiteX182" fmla="*/ 359772 w 425953"/>
                <a:gd name="connsiteY182" fmla="*/ 353935 h 444273"/>
                <a:gd name="connsiteX183" fmla="*/ 410245 w 425953"/>
                <a:gd name="connsiteY183" fmla="*/ 322863 h 444273"/>
                <a:gd name="connsiteX184" fmla="*/ 364627 w 425953"/>
                <a:gd name="connsiteY184" fmla="*/ 347114 h 444273"/>
                <a:gd name="connsiteX185" fmla="*/ 360700 w 425953"/>
                <a:gd name="connsiteY185" fmla="*/ 302870 h 444273"/>
                <a:gd name="connsiteX186" fmla="*/ 400144 w 425953"/>
                <a:gd name="connsiteY186" fmla="*/ 257013 h 444273"/>
                <a:gd name="connsiteX187" fmla="*/ 374654 w 425953"/>
                <a:gd name="connsiteY187" fmla="*/ 220659 h 444273"/>
                <a:gd name="connsiteX188" fmla="*/ 399369 w 425953"/>
                <a:gd name="connsiteY188" fmla="*/ 265349 h 444273"/>
                <a:gd name="connsiteX189" fmla="*/ 427540 w 425953"/>
                <a:gd name="connsiteY189" fmla="*/ 213190 h 444273"/>
                <a:gd name="connsiteX190" fmla="*/ 400144 w 425953"/>
                <a:gd name="connsiteY190" fmla="*/ 257013 h 444273"/>
                <a:gd name="connsiteX191" fmla="*/ 374831 w 425953"/>
                <a:gd name="connsiteY191" fmla="*/ 248720 h 444273"/>
                <a:gd name="connsiteX192" fmla="*/ 391411 w 425953"/>
                <a:gd name="connsiteY192" fmla="*/ 297044 h 444273"/>
                <a:gd name="connsiteX193" fmla="*/ 428224 w 425953"/>
                <a:gd name="connsiteY193" fmla="*/ 250564 h 444273"/>
                <a:gd name="connsiteX194" fmla="*/ 393665 w 425953"/>
                <a:gd name="connsiteY194" fmla="*/ 288964 h 444273"/>
                <a:gd name="connsiteX195" fmla="*/ 374831 w 425953"/>
                <a:gd name="connsiteY195" fmla="*/ 248720 h 444273"/>
                <a:gd name="connsiteX196" fmla="*/ 396114 w 425953"/>
                <a:gd name="connsiteY196" fmla="*/ 273392 h 444273"/>
                <a:gd name="connsiteX197" fmla="*/ 399417 w 425953"/>
                <a:gd name="connsiteY197" fmla="*/ 270076 h 444273"/>
                <a:gd name="connsiteX198" fmla="*/ 396114 w 425953"/>
                <a:gd name="connsiteY198" fmla="*/ 266760 h 444273"/>
                <a:gd name="connsiteX199" fmla="*/ 392810 w 425953"/>
                <a:gd name="connsiteY199" fmla="*/ 270076 h 444273"/>
                <a:gd name="connsiteX200" fmla="*/ 396114 w 425953"/>
                <a:gd name="connsiteY200" fmla="*/ 273392 h 444273"/>
                <a:gd name="connsiteX201" fmla="*/ 376731 w 425953"/>
                <a:gd name="connsiteY201" fmla="*/ 330100 h 444273"/>
                <a:gd name="connsiteX202" fmla="*/ 373427 w 425953"/>
                <a:gd name="connsiteY202" fmla="*/ 326778 h 444273"/>
                <a:gd name="connsiteX203" fmla="*/ 370111 w 425953"/>
                <a:gd name="connsiteY203" fmla="*/ 330100 h 444273"/>
                <a:gd name="connsiteX204" fmla="*/ 373427 w 425953"/>
                <a:gd name="connsiteY204" fmla="*/ 333422 h 444273"/>
                <a:gd name="connsiteX205" fmla="*/ 376731 w 425953"/>
                <a:gd name="connsiteY205" fmla="*/ 330100 h 444273"/>
                <a:gd name="connsiteX206" fmla="*/ 96591 w 425953"/>
                <a:gd name="connsiteY206" fmla="*/ 132671 h 444273"/>
                <a:gd name="connsiteX207" fmla="*/ 96627 w 425953"/>
                <a:gd name="connsiteY207" fmla="*/ 132671 h 444273"/>
                <a:gd name="connsiteX208" fmla="*/ 72053 w 425953"/>
                <a:gd name="connsiteY208" fmla="*/ 143841 h 444273"/>
                <a:gd name="connsiteX209" fmla="*/ 76847 w 425953"/>
                <a:gd name="connsiteY209" fmla="*/ 148323 h 444273"/>
                <a:gd name="connsiteX210" fmla="*/ 127052 w 425953"/>
                <a:gd name="connsiteY210" fmla="*/ 148104 h 444273"/>
                <a:gd name="connsiteX211" fmla="*/ 111473 w 425953"/>
                <a:gd name="connsiteY211" fmla="*/ 132513 h 444273"/>
                <a:gd name="connsiteX212" fmla="*/ 111461 w 425953"/>
                <a:gd name="connsiteY212" fmla="*/ 132513 h 444273"/>
                <a:gd name="connsiteX213" fmla="*/ 103552 w 425953"/>
                <a:gd name="connsiteY213" fmla="*/ 124610 h 444273"/>
                <a:gd name="connsiteX214" fmla="*/ 96591 w 425953"/>
                <a:gd name="connsiteY214" fmla="*/ 132671 h 444273"/>
                <a:gd name="connsiteX215" fmla="*/ 290758 w 425953"/>
                <a:gd name="connsiteY215" fmla="*/ 295193 h 444273"/>
                <a:gd name="connsiteX216" fmla="*/ 290673 w 425953"/>
                <a:gd name="connsiteY216" fmla="*/ 295193 h 444273"/>
                <a:gd name="connsiteX217" fmla="*/ 289897 w 425953"/>
                <a:gd name="connsiteY217" fmla="*/ 300695 h 444273"/>
                <a:gd name="connsiteX218" fmla="*/ 288346 w 425953"/>
                <a:gd name="connsiteY218" fmla="*/ 310424 h 444273"/>
                <a:gd name="connsiteX219" fmla="*/ 293409 w 425953"/>
                <a:gd name="connsiteY219" fmla="*/ 310424 h 444273"/>
                <a:gd name="connsiteX220" fmla="*/ 291564 w 425953"/>
                <a:gd name="connsiteY220" fmla="*/ 300695 h 444273"/>
                <a:gd name="connsiteX221" fmla="*/ 186038 w 425953"/>
                <a:gd name="connsiteY221" fmla="*/ 251670 h 444273"/>
                <a:gd name="connsiteX222" fmla="*/ 181171 w 425953"/>
                <a:gd name="connsiteY222" fmla="*/ 247102 h 444273"/>
                <a:gd name="connsiteX223" fmla="*/ 180194 w 425953"/>
                <a:gd name="connsiteY223" fmla="*/ 247102 h 444273"/>
                <a:gd name="connsiteX224" fmla="*/ 180194 w 425953"/>
                <a:gd name="connsiteY224" fmla="*/ 256830 h 444273"/>
                <a:gd name="connsiteX225" fmla="*/ 181464 w 425953"/>
                <a:gd name="connsiteY225" fmla="*/ 256873 h 444273"/>
                <a:gd name="connsiteX226" fmla="*/ 186038 w 425953"/>
                <a:gd name="connsiteY226" fmla="*/ 251670 h 444273"/>
                <a:gd name="connsiteX227" fmla="*/ 257305 w 425953"/>
                <a:gd name="connsiteY227" fmla="*/ 271908 h 444273"/>
                <a:gd name="connsiteX228" fmla="*/ 260877 w 425953"/>
                <a:gd name="connsiteY228" fmla="*/ 266528 h 444273"/>
                <a:gd name="connsiteX229" fmla="*/ 260877 w 425953"/>
                <a:gd name="connsiteY229" fmla="*/ 241392 h 444273"/>
                <a:gd name="connsiteX230" fmla="*/ 268083 w 425953"/>
                <a:gd name="connsiteY230" fmla="*/ 241392 h 444273"/>
                <a:gd name="connsiteX231" fmla="*/ 268083 w 425953"/>
                <a:gd name="connsiteY231" fmla="*/ 267999 h 444273"/>
                <a:gd name="connsiteX232" fmla="*/ 257244 w 425953"/>
                <a:gd name="connsiteY232" fmla="*/ 278436 h 444273"/>
                <a:gd name="connsiteX233" fmla="*/ 246508 w 425953"/>
                <a:gd name="connsiteY233" fmla="*/ 268476 h 444273"/>
                <a:gd name="connsiteX234" fmla="*/ 246508 w 425953"/>
                <a:gd name="connsiteY234" fmla="*/ 241392 h 444273"/>
                <a:gd name="connsiteX235" fmla="*/ 253720 w 425953"/>
                <a:gd name="connsiteY235" fmla="*/ 241392 h 444273"/>
                <a:gd name="connsiteX236" fmla="*/ 253720 w 425953"/>
                <a:gd name="connsiteY236" fmla="*/ 264995 h 444273"/>
                <a:gd name="connsiteX237" fmla="*/ 257305 w 425953"/>
                <a:gd name="connsiteY237" fmla="*/ 271908 h 444273"/>
                <a:gd name="connsiteX238" fmla="*/ 275857 w 425953"/>
                <a:gd name="connsiteY238" fmla="*/ 285807 h 444273"/>
                <a:gd name="connsiteX239" fmla="*/ 275857 w 425953"/>
                <a:gd name="connsiteY239" fmla="*/ 292579 h 444273"/>
                <a:gd name="connsiteX240" fmla="*/ 268572 w 425953"/>
                <a:gd name="connsiteY240" fmla="*/ 292579 h 444273"/>
                <a:gd name="connsiteX241" fmla="*/ 268572 w 425953"/>
                <a:gd name="connsiteY241" fmla="*/ 300500 h 444273"/>
                <a:gd name="connsiteX242" fmla="*/ 275002 w 425953"/>
                <a:gd name="connsiteY242" fmla="*/ 300500 h 444273"/>
                <a:gd name="connsiteX243" fmla="*/ 275002 w 425953"/>
                <a:gd name="connsiteY243" fmla="*/ 307285 h 444273"/>
                <a:gd name="connsiteX244" fmla="*/ 268572 w 425953"/>
                <a:gd name="connsiteY244" fmla="*/ 307285 h 444273"/>
                <a:gd name="connsiteX245" fmla="*/ 268572 w 425953"/>
                <a:gd name="connsiteY245" fmla="*/ 315511 h 444273"/>
                <a:gd name="connsiteX246" fmla="*/ 275955 w 425953"/>
                <a:gd name="connsiteY246" fmla="*/ 315511 h 444273"/>
                <a:gd name="connsiteX247" fmla="*/ 275955 w 425953"/>
                <a:gd name="connsiteY247" fmla="*/ 322295 h 444273"/>
                <a:gd name="connsiteX248" fmla="*/ 261354 w 425953"/>
                <a:gd name="connsiteY248" fmla="*/ 322295 h 444273"/>
                <a:gd name="connsiteX249" fmla="*/ 261354 w 425953"/>
                <a:gd name="connsiteY249" fmla="*/ 285807 h 444273"/>
                <a:gd name="connsiteX250" fmla="*/ 273891 w 425953"/>
                <a:gd name="connsiteY250" fmla="*/ 241392 h 444273"/>
                <a:gd name="connsiteX251" fmla="*/ 282001 w 425953"/>
                <a:gd name="connsiteY251" fmla="*/ 241392 h 444273"/>
                <a:gd name="connsiteX252" fmla="*/ 284089 w 425953"/>
                <a:gd name="connsiteY252" fmla="*/ 246473 h 444273"/>
                <a:gd name="connsiteX253" fmla="*/ 285842 w 425953"/>
                <a:gd name="connsiteY253" fmla="*/ 252030 h 444273"/>
                <a:gd name="connsiteX254" fmla="*/ 285940 w 425953"/>
                <a:gd name="connsiteY254" fmla="*/ 252030 h 444273"/>
                <a:gd name="connsiteX255" fmla="*/ 287577 w 425953"/>
                <a:gd name="connsiteY255" fmla="*/ 246473 h 444273"/>
                <a:gd name="connsiteX256" fmla="*/ 289732 w 425953"/>
                <a:gd name="connsiteY256" fmla="*/ 241392 h 444273"/>
                <a:gd name="connsiteX257" fmla="*/ 297543 w 425953"/>
                <a:gd name="connsiteY257" fmla="*/ 241392 h 444273"/>
                <a:gd name="connsiteX258" fmla="*/ 289732 w 425953"/>
                <a:gd name="connsiteY258" fmla="*/ 259041 h 444273"/>
                <a:gd name="connsiteX259" fmla="*/ 298105 w 425953"/>
                <a:gd name="connsiteY259" fmla="*/ 277862 h 444273"/>
                <a:gd name="connsiteX260" fmla="*/ 289732 w 425953"/>
                <a:gd name="connsiteY260" fmla="*/ 277862 h 444273"/>
                <a:gd name="connsiteX261" fmla="*/ 287430 w 425953"/>
                <a:gd name="connsiteY261" fmla="*/ 272067 h 444273"/>
                <a:gd name="connsiteX262" fmla="*/ 285842 w 425953"/>
                <a:gd name="connsiteY262" fmla="*/ 266589 h 444273"/>
                <a:gd name="connsiteX263" fmla="*/ 285732 w 425953"/>
                <a:gd name="connsiteY263" fmla="*/ 266589 h 444273"/>
                <a:gd name="connsiteX264" fmla="*/ 284151 w 425953"/>
                <a:gd name="connsiteY264" fmla="*/ 272067 h 444273"/>
                <a:gd name="connsiteX265" fmla="*/ 282001 w 425953"/>
                <a:gd name="connsiteY265" fmla="*/ 277862 h 444273"/>
                <a:gd name="connsiteX266" fmla="*/ 273891 w 425953"/>
                <a:gd name="connsiteY266" fmla="*/ 277862 h 444273"/>
                <a:gd name="connsiteX267" fmla="*/ 281610 w 425953"/>
                <a:gd name="connsiteY267" fmla="*/ 259041 h 444273"/>
                <a:gd name="connsiteX268" fmla="*/ 295851 w 425953"/>
                <a:gd name="connsiteY268" fmla="*/ 322295 h 444273"/>
                <a:gd name="connsiteX269" fmla="*/ 294489 w 425953"/>
                <a:gd name="connsiteY269" fmla="*/ 316134 h 444273"/>
                <a:gd name="connsiteX270" fmla="*/ 287192 w 425953"/>
                <a:gd name="connsiteY270" fmla="*/ 316134 h 444273"/>
                <a:gd name="connsiteX271" fmla="*/ 285867 w 425953"/>
                <a:gd name="connsiteY271" fmla="*/ 322295 h 444273"/>
                <a:gd name="connsiteX272" fmla="*/ 278722 w 425953"/>
                <a:gd name="connsiteY272" fmla="*/ 322295 h 444273"/>
                <a:gd name="connsiteX273" fmla="*/ 287192 w 425953"/>
                <a:gd name="connsiteY273" fmla="*/ 285807 h 444273"/>
                <a:gd name="connsiteX274" fmla="*/ 294795 w 425953"/>
                <a:gd name="connsiteY274" fmla="*/ 285807 h 444273"/>
                <a:gd name="connsiteX275" fmla="*/ 303552 w 425953"/>
                <a:gd name="connsiteY275" fmla="*/ 322295 h 444273"/>
                <a:gd name="connsiteX276" fmla="*/ 249690 w 425953"/>
                <a:gd name="connsiteY276" fmla="*/ 322295 h 444273"/>
                <a:gd name="connsiteX277" fmla="*/ 247949 w 425953"/>
                <a:gd name="connsiteY277" fmla="*/ 296005 h 444273"/>
                <a:gd name="connsiteX278" fmla="*/ 247851 w 425953"/>
                <a:gd name="connsiteY278" fmla="*/ 296005 h 444273"/>
                <a:gd name="connsiteX279" fmla="*/ 246679 w 425953"/>
                <a:gd name="connsiteY279" fmla="*/ 305013 h 444273"/>
                <a:gd name="connsiteX280" fmla="*/ 243595 w 425953"/>
                <a:gd name="connsiteY280" fmla="*/ 322295 h 444273"/>
                <a:gd name="connsiteX281" fmla="*/ 238032 w 425953"/>
                <a:gd name="connsiteY281" fmla="*/ 322295 h 444273"/>
                <a:gd name="connsiteX282" fmla="*/ 234496 w 425953"/>
                <a:gd name="connsiteY282" fmla="*/ 304818 h 444273"/>
                <a:gd name="connsiteX283" fmla="*/ 233280 w 425953"/>
                <a:gd name="connsiteY283" fmla="*/ 296683 h 444273"/>
                <a:gd name="connsiteX284" fmla="*/ 233280 w 425953"/>
                <a:gd name="connsiteY284" fmla="*/ 296005 h 444273"/>
                <a:gd name="connsiteX285" fmla="*/ 233201 w 425953"/>
                <a:gd name="connsiteY285" fmla="*/ 296005 h 444273"/>
                <a:gd name="connsiteX286" fmla="*/ 232120 w 425953"/>
                <a:gd name="connsiteY286" fmla="*/ 322295 h 444273"/>
                <a:gd name="connsiteX287" fmla="*/ 224383 w 425953"/>
                <a:gd name="connsiteY287" fmla="*/ 322295 h 444273"/>
                <a:gd name="connsiteX288" fmla="*/ 227577 w 425953"/>
                <a:gd name="connsiteY288" fmla="*/ 285807 h 444273"/>
                <a:gd name="connsiteX289" fmla="*/ 237079 w 425953"/>
                <a:gd name="connsiteY289" fmla="*/ 285807 h 444273"/>
                <a:gd name="connsiteX290" fmla="*/ 240603 w 425953"/>
                <a:gd name="connsiteY290" fmla="*/ 307340 h 444273"/>
                <a:gd name="connsiteX291" fmla="*/ 240682 w 425953"/>
                <a:gd name="connsiteY291" fmla="*/ 307340 h 444273"/>
                <a:gd name="connsiteX292" fmla="*/ 243595 w 425953"/>
                <a:gd name="connsiteY292" fmla="*/ 285807 h 444273"/>
                <a:gd name="connsiteX293" fmla="*/ 253256 w 425953"/>
                <a:gd name="connsiteY293" fmla="*/ 285807 h 444273"/>
                <a:gd name="connsiteX294" fmla="*/ 257097 w 425953"/>
                <a:gd name="connsiteY294" fmla="*/ 322295 h 444273"/>
                <a:gd name="connsiteX295" fmla="*/ 226313 w 425953"/>
                <a:gd name="connsiteY295" fmla="*/ 241392 h 444273"/>
                <a:gd name="connsiteX296" fmla="*/ 233519 w 425953"/>
                <a:gd name="connsiteY296" fmla="*/ 241392 h 444273"/>
                <a:gd name="connsiteX297" fmla="*/ 233519 w 425953"/>
                <a:gd name="connsiteY297" fmla="*/ 271096 h 444273"/>
                <a:gd name="connsiteX298" fmla="*/ 241054 w 425953"/>
                <a:gd name="connsiteY298" fmla="*/ 271096 h 444273"/>
                <a:gd name="connsiteX299" fmla="*/ 241054 w 425953"/>
                <a:gd name="connsiteY299" fmla="*/ 277862 h 444273"/>
                <a:gd name="connsiteX300" fmla="*/ 226313 w 425953"/>
                <a:gd name="connsiteY300" fmla="*/ 277862 h 444273"/>
                <a:gd name="connsiteX301" fmla="*/ 217067 w 425953"/>
                <a:gd name="connsiteY301" fmla="*/ 235767 h 444273"/>
                <a:gd name="connsiteX302" fmla="*/ 217067 w 425953"/>
                <a:gd name="connsiteY302" fmla="*/ 359480 h 444273"/>
                <a:gd name="connsiteX303" fmla="*/ 233793 w 425953"/>
                <a:gd name="connsiteY303" fmla="*/ 352512 h 444273"/>
                <a:gd name="connsiteX304" fmla="*/ 310544 w 425953"/>
                <a:gd name="connsiteY304" fmla="*/ 352512 h 444273"/>
                <a:gd name="connsiteX305" fmla="*/ 310544 w 425953"/>
                <a:gd name="connsiteY305" fmla="*/ 199029 h 444273"/>
                <a:gd name="connsiteX306" fmla="*/ 269134 w 425953"/>
                <a:gd name="connsiteY306" fmla="*/ 199029 h 444273"/>
                <a:gd name="connsiteX307" fmla="*/ 217067 w 425953"/>
                <a:gd name="connsiteY307" fmla="*/ 235767 h 444273"/>
                <a:gd name="connsiteX308" fmla="*/ 119039 w 425953"/>
                <a:gd name="connsiteY308" fmla="*/ 111236 h 444273"/>
                <a:gd name="connsiteX309" fmla="*/ 103339 w 425953"/>
                <a:gd name="connsiteY309" fmla="*/ 118668 h 444273"/>
                <a:gd name="connsiteX310" fmla="*/ 119039 w 425953"/>
                <a:gd name="connsiteY310" fmla="*/ 133203 h 444273"/>
                <a:gd name="connsiteX311" fmla="*/ 184945 w 425953"/>
                <a:gd name="connsiteY311" fmla="*/ 96751 h 444273"/>
                <a:gd name="connsiteX312" fmla="*/ 184945 w 425953"/>
                <a:gd name="connsiteY312" fmla="*/ 80476 h 444273"/>
                <a:gd name="connsiteX313" fmla="*/ 235662 w 425953"/>
                <a:gd name="connsiteY313" fmla="*/ 80476 h 444273"/>
                <a:gd name="connsiteX314" fmla="*/ 235662 w 425953"/>
                <a:gd name="connsiteY314" fmla="*/ 103731 h 444273"/>
                <a:gd name="connsiteX315" fmla="*/ 252377 w 425953"/>
                <a:gd name="connsiteY315" fmla="*/ 103731 h 444273"/>
                <a:gd name="connsiteX316" fmla="*/ 252377 w 425953"/>
                <a:gd name="connsiteY316" fmla="*/ 120476 h 444273"/>
                <a:gd name="connsiteX317" fmla="*/ 236132 w 425953"/>
                <a:gd name="connsiteY317" fmla="*/ 120476 h 444273"/>
                <a:gd name="connsiteX318" fmla="*/ 236132 w 425953"/>
                <a:gd name="connsiteY318" fmla="*/ 127920 h 444273"/>
                <a:gd name="connsiteX319" fmla="*/ 252377 w 425953"/>
                <a:gd name="connsiteY319" fmla="*/ 127920 h 444273"/>
                <a:gd name="connsiteX320" fmla="*/ 252377 w 425953"/>
                <a:gd name="connsiteY320" fmla="*/ 146058 h 444273"/>
                <a:gd name="connsiteX321" fmla="*/ 236132 w 425953"/>
                <a:gd name="connsiteY321" fmla="*/ 146058 h 444273"/>
                <a:gd name="connsiteX322" fmla="*/ 236132 w 425953"/>
                <a:gd name="connsiteY322" fmla="*/ 200482 h 444273"/>
                <a:gd name="connsiteX323" fmla="*/ 222166 w 425953"/>
                <a:gd name="connsiteY323" fmla="*/ 200482 h 444273"/>
                <a:gd name="connsiteX324" fmla="*/ 202856 w 425953"/>
                <a:gd name="connsiteY324" fmla="*/ 181166 h 444273"/>
                <a:gd name="connsiteX325" fmla="*/ 185201 w 425953"/>
                <a:gd name="connsiteY325" fmla="*/ 198845 h 444273"/>
                <a:gd name="connsiteX326" fmla="*/ 172389 w 425953"/>
                <a:gd name="connsiteY326" fmla="*/ 186064 h 444273"/>
                <a:gd name="connsiteX327" fmla="*/ 201696 w 425953"/>
                <a:gd name="connsiteY327" fmla="*/ 156763 h 444273"/>
                <a:gd name="connsiteX328" fmla="*/ 216810 w 425953"/>
                <a:gd name="connsiteY328" fmla="*/ 171871 h 444273"/>
                <a:gd name="connsiteX329" fmla="*/ 216810 w 425953"/>
                <a:gd name="connsiteY329" fmla="*/ 96751 h 444273"/>
                <a:gd name="connsiteX330" fmla="*/ 158887 w 425953"/>
                <a:gd name="connsiteY330" fmla="*/ 174742 h 444273"/>
                <a:gd name="connsiteX331" fmla="*/ 212945 w 425953"/>
                <a:gd name="connsiteY331" fmla="*/ 231175 h 444273"/>
                <a:gd name="connsiteX332" fmla="*/ 267057 w 425953"/>
                <a:gd name="connsiteY332" fmla="*/ 174742 h 444273"/>
                <a:gd name="connsiteX333" fmla="*/ 267057 w 425953"/>
                <a:gd name="connsiteY333" fmla="*/ 64672 h 444273"/>
                <a:gd name="connsiteX334" fmla="*/ 158911 w 425953"/>
                <a:gd name="connsiteY334" fmla="*/ 64672 h 444273"/>
                <a:gd name="connsiteX335" fmla="*/ 158887 w 425953"/>
                <a:gd name="connsiteY335" fmla="*/ 174742 h 444273"/>
                <a:gd name="connsiteX336" fmla="*/ 112701 w 425953"/>
                <a:gd name="connsiteY336" fmla="*/ 182045 h 444273"/>
                <a:gd name="connsiteX337" fmla="*/ 125610 w 425953"/>
                <a:gd name="connsiteY337" fmla="*/ 193441 h 444273"/>
                <a:gd name="connsiteX338" fmla="*/ 154728 w 425953"/>
                <a:gd name="connsiteY338" fmla="*/ 193441 h 444273"/>
                <a:gd name="connsiteX339" fmla="*/ 153787 w 425953"/>
                <a:gd name="connsiteY339" fmla="*/ 182284 h 444273"/>
                <a:gd name="connsiteX340" fmla="*/ 347039 w 425953"/>
                <a:gd name="connsiteY340" fmla="*/ 327560 h 444273"/>
                <a:gd name="connsiteX341" fmla="*/ 343912 w 425953"/>
                <a:gd name="connsiteY341" fmla="*/ 333795 h 444273"/>
                <a:gd name="connsiteX342" fmla="*/ 350905 w 425953"/>
                <a:gd name="connsiteY342" fmla="*/ 341056 h 444273"/>
                <a:gd name="connsiteX343" fmla="*/ 347039 w 425953"/>
                <a:gd name="connsiteY343" fmla="*/ 327560 h 444273"/>
                <a:gd name="connsiteX344" fmla="*/ 71589 w 425953"/>
                <a:gd name="connsiteY344" fmla="*/ 357324 h 444273"/>
                <a:gd name="connsiteX345" fmla="*/ 69427 w 425953"/>
                <a:gd name="connsiteY345" fmla="*/ 306308 h 444273"/>
                <a:gd name="connsiteX346" fmla="*/ 66545 w 425953"/>
                <a:gd name="connsiteY346" fmla="*/ 350607 h 444273"/>
                <a:gd name="connsiteX347" fmla="*/ 20389 w 425953"/>
                <a:gd name="connsiteY347" fmla="*/ 327419 h 444273"/>
                <a:gd name="connsiteX348" fmla="*/ 71589 w 425953"/>
                <a:gd name="connsiteY348" fmla="*/ 357324 h 444273"/>
                <a:gd name="connsiteX349" fmla="*/ 69788 w 425953"/>
                <a:gd name="connsiteY349" fmla="*/ 116360 h 444273"/>
                <a:gd name="connsiteX350" fmla="*/ 119668 w 425953"/>
                <a:gd name="connsiteY350" fmla="*/ 105398 h 444273"/>
                <a:gd name="connsiteX351" fmla="*/ 75528 w 425953"/>
                <a:gd name="connsiteY351" fmla="*/ 110235 h 444273"/>
                <a:gd name="connsiteX352" fmla="*/ 90325 w 425953"/>
                <a:gd name="connsiteY352" fmla="*/ 60745 h 444273"/>
                <a:gd name="connsiteX353" fmla="*/ 69788 w 425953"/>
                <a:gd name="connsiteY353" fmla="*/ 116360 h 444273"/>
                <a:gd name="connsiteX354" fmla="*/ 148652 w 425953"/>
                <a:gd name="connsiteY354" fmla="*/ 382869 h 444273"/>
                <a:gd name="connsiteX355" fmla="*/ 174936 w 425953"/>
                <a:gd name="connsiteY355" fmla="*/ 418674 h 444273"/>
                <a:gd name="connsiteX356" fmla="*/ 124646 w 425953"/>
                <a:gd name="connsiteY356" fmla="*/ 430600 h 444273"/>
                <a:gd name="connsiteX357" fmla="*/ 183082 w 425953"/>
                <a:gd name="connsiteY357" fmla="*/ 420598 h 444273"/>
                <a:gd name="connsiteX358" fmla="*/ 148652 w 425953"/>
                <a:gd name="connsiteY358" fmla="*/ 382869 h 444273"/>
                <a:gd name="connsiteX359" fmla="*/ 52633 w 425953"/>
                <a:gd name="connsiteY359" fmla="*/ 330692 h 444273"/>
                <a:gd name="connsiteX360" fmla="*/ 59406 w 425953"/>
                <a:gd name="connsiteY360" fmla="*/ 280079 h 444273"/>
                <a:gd name="connsiteX361" fmla="*/ 48866 w 425953"/>
                <a:gd name="connsiteY361" fmla="*/ 323212 h 444273"/>
                <a:gd name="connsiteX362" fmla="*/ 7400 w 425953"/>
                <a:gd name="connsiteY362" fmla="*/ 292366 h 444273"/>
                <a:gd name="connsiteX363" fmla="*/ 52633 w 425953"/>
                <a:gd name="connsiteY363" fmla="*/ 330692 h 444273"/>
                <a:gd name="connsiteX364" fmla="*/ 128682 w 425953"/>
                <a:gd name="connsiteY364" fmla="*/ 371846 h 444273"/>
                <a:gd name="connsiteX365" fmla="*/ 123955 w 425953"/>
                <a:gd name="connsiteY365" fmla="*/ 371816 h 444273"/>
                <a:gd name="connsiteX366" fmla="*/ 143760 w 425953"/>
                <a:gd name="connsiteY366" fmla="*/ 409074 h 444273"/>
                <a:gd name="connsiteX367" fmla="*/ 92200 w 425953"/>
                <a:gd name="connsiteY367" fmla="*/ 412066 h 444273"/>
                <a:gd name="connsiteX368" fmla="*/ 151467 w 425953"/>
                <a:gd name="connsiteY368" fmla="*/ 412378 h 444273"/>
                <a:gd name="connsiteX369" fmla="*/ 128682 w 425953"/>
                <a:gd name="connsiteY369" fmla="*/ 371846 h 444273"/>
                <a:gd name="connsiteX370" fmla="*/ 58838 w 425953"/>
                <a:gd name="connsiteY370" fmla="*/ 387572 h 444273"/>
                <a:gd name="connsiteX371" fmla="*/ 71516 w 425953"/>
                <a:gd name="connsiteY371" fmla="*/ 383395 h 444273"/>
                <a:gd name="connsiteX372" fmla="*/ 63168 w 425953"/>
                <a:gd name="connsiteY372" fmla="*/ 381428 h 444273"/>
                <a:gd name="connsiteX373" fmla="*/ 62404 w 425953"/>
                <a:gd name="connsiteY373" fmla="*/ 382472 h 444273"/>
                <a:gd name="connsiteX374" fmla="*/ 63168 w 425953"/>
                <a:gd name="connsiteY374" fmla="*/ 381428 h 444273"/>
                <a:gd name="connsiteX375" fmla="*/ 26362 w 425953"/>
                <a:gd name="connsiteY375" fmla="*/ 420176 h 444273"/>
                <a:gd name="connsiteX376" fmla="*/ 26142 w 425953"/>
                <a:gd name="connsiteY376" fmla="*/ 430191 h 444273"/>
                <a:gd name="connsiteX377" fmla="*/ 34973 w 425953"/>
                <a:gd name="connsiteY377" fmla="*/ 429733 h 444273"/>
                <a:gd name="connsiteX378" fmla="*/ 70838 w 425953"/>
                <a:gd name="connsiteY378" fmla="*/ 398356 h 444273"/>
                <a:gd name="connsiteX379" fmla="*/ 58838 w 425953"/>
                <a:gd name="connsiteY379" fmla="*/ 387572 h 444273"/>
                <a:gd name="connsiteX380" fmla="*/ 38600 w 425953"/>
                <a:gd name="connsiteY380" fmla="*/ 301178 h 444273"/>
                <a:gd name="connsiteX381" fmla="*/ 54050 w 425953"/>
                <a:gd name="connsiteY381" fmla="*/ 252494 h 444273"/>
                <a:gd name="connsiteX382" fmla="*/ 36176 w 425953"/>
                <a:gd name="connsiteY382" fmla="*/ 293166 h 444273"/>
                <a:gd name="connsiteX383" fmla="*/ 725 w 425953"/>
                <a:gd name="connsiteY383" fmla="*/ 255572 h 444273"/>
                <a:gd name="connsiteX384" fmla="*/ 38600 w 425953"/>
                <a:gd name="connsiteY384" fmla="*/ 301178 h 444273"/>
                <a:gd name="connsiteX385" fmla="*/ 57507 w 425953"/>
                <a:gd name="connsiteY385" fmla="*/ 82980 h 444273"/>
                <a:gd name="connsiteX386" fmla="*/ 13934 w 425953"/>
                <a:gd name="connsiteY386" fmla="*/ 39371 h 444273"/>
                <a:gd name="connsiteX387" fmla="*/ 9849 w 425953"/>
                <a:gd name="connsiteY387" fmla="*/ 82980 h 444273"/>
                <a:gd name="connsiteX388" fmla="*/ 77238 w 425953"/>
                <a:gd name="connsiteY388" fmla="*/ 67108 h 444273"/>
                <a:gd name="connsiteX389" fmla="*/ 51601 w 425953"/>
                <a:gd name="connsiteY389" fmla="*/ 41234 h 444273"/>
                <a:gd name="connsiteX390" fmla="*/ 16890 w 425953"/>
                <a:gd name="connsiteY390" fmla="*/ 35817 h 444273"/>
                <a:gd name="connsiteX391" fmla="*/ 67388 w 425953"/>
                <a:gd name="connsiteY391" fmla="*/ 86119 h 444273"/>
                <a:gd name="connsiteX392" fmla="*/ 77238 w 425953"/>
                <a:gd name="connsiteY392" fmla="*/ 67108 h 444273"/>
                <a:gd name="connsiteX393" fmla="*/ 30002 w 425953"/>
                <a:gd name="connsiteY393" fmla="*/ 274296 h 444273"/>
                <a:gd name="connsiteX394" fmla="*/ 33299 w 425953"/>
                <a:gd name="connsiteY394" fmla="*/ 277612 h 444273"/>
                <a:gd name="connsiteX395" fmla="*/ 36603 w 425953"/>
                <a:gd name="connsiteY395" fmla="*/ 274296 h 444273"/>
                <a:gd name="connsiteX396" fmla="*/ 33299 w 425953"/>
                <a:gd name="connsiteY396" fmla="*/ 270973 h 444273"/>
                <a:gd name="connsiteX397" fmla="*/ 30002 w 425953"/>
                <a:gd name="connsiteY397" fmla="*/ 274296 h 444273"/>
                <a:gd name="connsiteX398" fmla="*/ 29916 w 425953"/>
                <a:gd name="connsiteY398" fmla="*/ 269703 h 444273"/>
                <a:gd name="connsiteX399" fmla="*/ 53574 w 425953"/>
                <a:gd name="connsiteY399" fmla="*/ 224427 h 444273"/>
                <a:gd name="connsiteX400" fmla="*/ 28914 w 425953"/>
                <a:gd name="connsiteY400" fmla="*/ 261367 h 444273"/>
                <a:gd name="connsiteX401" fmla="*/ 524 w 425953"/>
                <a:gd name="connsiteY401" fmla="*/ 218186 h 444273"/>
                <a:gd name="connsiteX402" fmla="*/ 29916 w 425953"/>
                <a:gd name="connsiteY402" fmla="*/ 269703 h 444273"/>
                <a:gd name="connsiteX403" fmla="*/ 54063 w 425953"/>
                <a:gd name="connsiteY403" fmla="*/ 333905 h 444273"/>
                <a:gd name="connsiteX404" fmla="*/ 57385 w 425953"/>
                <a:gd name="connsiteY404" fmla="*/ 337227 h 444273"/>
                <a:gd name="connsiteX405" fmla="*/ 60701 w 425953"/>
                <a:gd name="connsiteY405" fmla="*/ 333905 h 444273"/>
                <a:gd name="connsiteX406" fmla="*/ 57385 w 425953"/>
                <a:gd name="connsiteY406" fmla="*/ 330595 h 444273"/>
                <a:gd name="connsiteX407" fmla="*/ 54063 w 425953"/>
                <a:gd name="connsiteY407" fmla="*/ 333905 h 444273"/>
                <a:gd name="connsiteX408" fmla="*/ 331460 w 425953"/>
                <a:gd name="connsiteY408" fmla="*/ 382283 h 444273"/>
                <a:gd name="connsiteX409" fmla="*/ 334764 w 425953"/>
                <a:gd name="connsiteY409" fmla="*/ 378967 h 444273"/>
                <a:gd name="connsiteX410" fmla="*/ 331460 w 425953"/>
                <a:gd name="connsiteY410" fmla="*/ 375657 h 444273"/>
                <a:gd name="connsiteX411" fmla="*/ 328163 w 425953"/>
                <a:gd name="connsiteY411" fmla="*/ 378967 h 444273"/>
                <a:gd name="connsiteX412" fmla="*/ 331460 w 425953"/>
                <a:gd name="connsiteY412" fmla="*/ 382283 h 444273"/>
                <a:gd name="connsiteX413" fmla="*/ 349073 w 425953"/>
                <a:gd name="connsiteY413" fmla="*/ 377990 h 444273"/>
                <a:gd name="connsiteX414" fmla="*/ 337415 w 425953"/>
                <a:gd name="connsiteY414" fmla="*/ 368482 h 444273"/>
                <a:gd name="connsiteX415" fmla="*/ 338605 w 425953"/>
                <a:gd name="connsiteY415" fmla="*/ 377941 h 444273"/>
                <a:gd name="connsiteX416" fmla="*/ 349073 w 425953"/>
                <a:gd name="connsiteY416" fmla="*/ 377990 h 444273"/>
                <a:gd name="connsiteX417" fmla="*/ 381677 w 425953"/>
                <a:gd name="connsiteY417" fmla="*/ 319309 h 444273"/>
                <a:gd name="connsiteX418" fmla="*/ 370160 w 425953"/>
                <a:gd name="connsiteY418" fmla="*/ 276427 h 444273"/>
                <a:gd name="connsiteX419" fmla="*/ 378062 w 425953"/>
                <a:gd name="connsiteY419" fmla="*/ 326876 h 444273"/>
                <a:gd name="connsiteX420" fmla="*/ 422404 w 425953"/>
                <a:gd name="connsiteY420" fmla="*/ 287499 h 444273"/>
                <a:gd name="connsiteX421" fmla="*/ 381677 w 425953"/>
                <a:gd name="connsiteY421" fmla="*/ 319309 h 444273"/>
                <a:gd name="connsiteX422" fmla="*/ 160603 w 425953"/>
                <a:gd name="connsiteY422" fmla="*/ 411822 h 444273"/>
                <a:gd name="connsiteX423" fmla="*/ 157287 w 425953"/>
                <a:gd name="connsiteY423" fmla="*/ 408506 h 444273"/>
                <a:gd name="connsiteX424" fmla="*/ 153971 w 425953"/>
                <a:gd name="connsiteY424" fmla="*/ 411822 h 444273"/>
                <a:gd name="connsiteX425" fmla="*/ 157287 w 425953"/>
                <a:gd name="connsiteY425" fmla="*/ 415132 h 444273"/>
                <a:gd name="connsiteX426" fmla="*/ 160603 w 425953"/>
                <a:gd name="connsiteY426" fmla="*/ 411822 h 444273"/>
                <a:gd name="connsiteX427" fmla="*/ 317494 w 425953"/>
                <a:gd name="connsiteY427" fmla="*/ 391822 h 444273"/>
                <a:gd name="connsiteX428" fmla="*/ 328218 w 425953"/>
                <a:gd name="connsiteY428" fmla="*/ 371120 h 444273"/>
                <a:gd name="connsiteX429" fmla="*/ 314728 w 425953"/>
                <a:gd name="connsiteY429" fmla="*/ 370900 h 444273"/>
                <a:gd name="connsiteX430" fmla="*/ 310569 w 425953"/>
                <a:gd name="connsiteY430" fmla="*/ 396573 h 444273"/>
                <a:gd name="connsiteX431" fmla="*/ 363015 w 425953"/>
                <a:gd name="connsiteY431" fmla="*/ 389373 h 444273"/>
                <a:gd name="connsiteX432" fmla="*/ 354037 w 425953"/>
                <a:gd name="connsiteY432" fmla="*/ 382143 h 444273"/>
                <a:gd name="connsiteX433" fmla="*/ 317494 w 425953"/>
                <a:gd name="connsiteY433" fmla="*/ 391822 h 444273"/>
                <a:gd name="connsiteX434" fmla="*/ 327302 w 425953"/>
                <a:gd name="connsiteY434" fmla="*/ 338094 h 444273"/>
                <a:gd name="connsiteX435" fmla="*/ 327302 w 425953"/>
                <a:gd name="connsiteY435" fmla="*/ 355767 h 444273"/>
                <a:gd name="connsiteX436" fmla="*/ 406355 w 425953"/>
                <a:gd name="connsiteY436" fmla="*/ 421349 h 444273"/>
                <a:gd name="connsiteX437" fmla="*/ 422172 w 425953"/>
                <a:gd name="connsiteY437" fmla="*/ 421349 h 444273"/>
                <a:gd name="connsiteX438" fmla="*/ 341689 w 425953"/>
                <a:gd name="connsiteY438" fmla="*/ 338094 h 444273"/>
                <a:gd name="connsiteX439" fmla="*/ 211479 w 425953"/>
                <a:gd name="connsiteY439" fmla="*/ 414369 h 444273"/>
                <a:gd name="connsiteX440" fmla="*/ 211479 w 425953"/>
                <a:gd name="connsiteY440" fmla="*/ 422643 h 444273"/>
                <a:gd name="connsiteX441" fmla="*/ 175925 w 425953"/>
                <a:gd name="connsiteY441" fmla="*/ 393758 h 444273"/>
                <a:gd name="connsiteX442" fmla="*/ 206856 w 425953"/>
                <a:gd name="connsiteY442" fmla="*/ 424677 h 444273"/>
                <a:gd name="connsiteX443" fmla="*/ 162331 w 425953"/>
                <a:gd name="connsiteY443" fmla="*/ 444084 h 444273"/>
                <a:gd name="connsiteX444" fmla="*/ 211479 w 425953"/>
                <a:gd name="connsiteY444" fmla="*/ 425117 h 444273"/>
                <a:gd name="connsiteX445" fmla="*/ 211479 w 425953"/>
                <a:gd name="connsiteY445" fmla="*/ 438564 h 444273"/>
                <a:gd name="connsiteX446" fmla="*/ 219845 w 425953"/>
                <a:gd name="connsiteY446" fmla="*/ 438564 h 444273"/>
                <a:gd name="connsiteX447" fmla="*/ 219845 w 425953"/>
                <a:gd name="connsiteY447" fmla="*/ 424146 h 444273"/>
                <a:gd name="connsiteX448" fmla="*/ 219845 w 425953"/>
                <a:gd name="connsiteY448" fmla="*/ 414369 h 444273"/>
                <a:gd name="connsiteX449" fmla="*/ 225445 w 425953"/>
                <a:gd name="connsiteY449" fmla="*/ 424604 h 444273"/>
                <a:gd name="connsiteX450" fmla="*/ 256120 w 425953"/>
                <a:gd name="connsiteY450" fmla="*/ 393453 h 444273"/>
                <a:gd name="connsiteX451" fmla="*/ 219845 w 425953"/>
                <a:gd name="connsiteY451" fmla="*/ 424146 h 444273"/>
                <a:gd name="connsiteX452" fmla="*/ 270074 w 425953"/>
                <a:gd name="connsiteY452" fmla="*/ 443681 h 444273"/>
                <a:gd name="connsiteX453" fmla="*/ 225445 w 425953"/>
                <a:gd name="connsiteY453" fmla="*/ 424604 h 444273"/>
                <a:gd name="connsiteX454" fmla="*/ 257885 w 425953"/>
                <a:gd name="connsiteY454" fmla="*/ 417709 h 444273"/>
                <a:gd name="connsiteX455" fmla="*/ 283296 w 425953"/>
                <a:gd name="connsiteY455" fmla="*/ 381300 h 444273"/>
                <a:gd name="connsiteX456" fmla="*/ 249787 w 425953"/>
                <a:gd name="connsiteY456" fmla="*/ 419816 h 444273"/>
                <a:gd name="connsiteX457" fmla="*/ 308444 w 425953"/>
                <a:gd name="connsiteY457" fmla="*/ 428451 h 444273"/>
                <a:gd name="connsiteX458" fmla="*/ 257885 w 425953"/>
                <a:gd name="connsiteY458" fmla="*/ 417709 h 444273"/>
                <a:gd name="connsiteX459" fmla="*/ 288822 w 425953"/>
                <a:gd name="connsiteY459" fmla="*/ 407370 h 444273"/>
                <a:gd name="connsiteX460" fmla="*/ 307741 w 425953"/>
                <a:gd name="connsiteY460" fmla="*/ 371126 h 444273"/>
                <a:gd name="connsiteX461" fmla="*/ 301054 w 425953"/>
                <a:gd name="connsiteY461" fmla="*/ 371382 h 444273"/>
                <a:gd name="connsiteX462" fmla="*/ 281189 w 425953"/>
                <a:gd name="connsiteY462" fmla="*/ 410857 h 444273"/>
                <a:gd name="connsiteX463" fmla="*/ 340456 w 425953"/>
                <a:gd name="connsiteY463" fmla="*/ 409190 h 444273"/>
                <a:gd name="connsiteX464" fmla="*/ 288822 w 425953"/>
                <a:gd name="connsiteY464" fmla="*/ 407370 h 444273"/>
                <a:gd name="connsiteX465" fmla="*/ 272193 w 425953"/>
                <a:gd name="connsiteY465" fmla="*/ 410552 h 444273"/>
                <a:gd name="connsiteX466" fmla="*/ 275522 w 425953"/>
                <a:gd name="connsiteY466" fmla="*/ 413868 h 444273"/>
                <a:gd name="connsiteX467" fmla="*/ 278819 w 425953"/>
                <a:gd name="connsiteY467" fmla="*/ 410552 h 444273"/>
                <a:gd name="connsiteX468" fmla="*/ 275522 w 425953"/>
                <a:gd name="connsiteY468" fmla="*/ 407230 h 444273"/>
                <a:gd name="connsiteX469" fmla="*/ 272193 w 425953"/>
                <a:gd name="connsiteY469" fmla="*/ 410552 h 444273"/>
                <a:gd name="connsiteX470" fmla="*/ 389359 w 425953"/>
                <a:gd name="connsiteY470" fmla="*/ 168842 h 444273"/>
                <a:gd name="connsiteX471" fmla="*/ 387674 w 425953"/>
                <a:gd name="connsiteY471" fmla="*/ 109569 h 444273"/>
                <a:gd name="connsiteX472" fmla="*/ 385879 w 425953"/>
                <a:gd name="connsiteY472" fmla="*/ 161215 h 444273"/>
                <a:gd name="connsiteX473" fmla="*/ 345622 w 425953"/>
                <a:gd name="connsiteY473" fmla="*/ 142503 h 444273"/>
                <a:gd name="connsiteX474" fmla="*/ 389359 w 425953"/>
                <a:gd name="connsiteY474" fmla="*/ 168842 h 444273"/>
                <a:gd name="connsiteX475" fmla="*/ 308908 w 425953"/>
                <a:gd name="connsiteY475" fmla="*/ 94858 h 444273"/>
                <a:gd name="connsiteX476" fmla="*/ 318954 w 425953"/>
                <a:gd name="connsiteY476" fmla="*/ 84476 h 444273"/>
                <a:gd name="connsiteX477" fmla="*/ 281366 w 425953"/>
                <a:gd name="connsiteY477" fmla="*/ 89319 h 444273"/>
                <a:gd name="connsiteX478" fmla="*/ 308908 w 425953"/>
                <a:gd name="connsiteY478" fmla="*/ 94858 h 444273"/>
                <a:gd name="connsiteX479" fmla="*/ 375674 w 425953"/>
                <a:gd name="connsiteY479" fmla="*/ 148537 h 444273"/>
                <a:gd name="connsiteX480" fmla="*/ 378984 w 425953"/>
                <a:gd name="connsiteY480" fmla="*/ 145227 h 444273"/>
                <a:gd name="connsiteX481" fmla="*/ 375674 w 425953"/>
                <a:gd name="connsiteY481" fmla="*/ 141899 h 444273"/>
                <a:gd name="connsiteX482" fmla="*/ 372358 w 425953"/>
                <a:gd name="connsiteY482" fmla="*/ 145227 h 444273"/>
                <a:gd name="connsiteX483" fmla="*/ 375674 w 425953"/>
                <a:gd name="connsiteY483" fmla="*/ 148537 h 444273"/>
                <a:gd name="connsiteX484" fmla="*/ 398324 w 425953"/>
                <a:gd name="connsiteY484" fmla="*/ 200274 h 444273"/>
                <a:gd name="connsiteX485" fmla="*/ 406947 w 425953"/>
                <a:gd name="connsiteY485" fmla="*/ 141600 h 444273"/>
                <a:gd name="connsiteX486" fmla="*/ 396205 w 425953"/>
                <a:gd name="connsiteY486" fmla="*/ 192152 h 444273"/>
                <a:gd name="connsiteX487" fmla="*/ 359808 w 425953"/>
                <a:gd name="connsiteY487" fmla="*/ 166723 h 444273"/>
                <a:gd name="connsiteX488" fmla="*/ 398324 w 425953"/>
                <a:gd name="connsiteY488" fmla="*/ 200274 h 444273"/>
                <a:gd name="connsiteX489" fmla="*/ 350062 w 425953"/>
                <a:gd name="connsiteY489" fmla="*/ 41447 h 444273"/>
                <a:gd name="connsiteX490" fmla="*/ 368932 w 425953"/>
                <a:gd name="connsiteY490" fmla="*/ 41191 h 444273"/>
                <a:gd name="connsiteX491" fmla="*/ 388993 w 425953"/>
                <a:gd name="connsiteY491" fmla="*/ 43401 h 444273"/>
                <a:gd name="connsiteX492" fmla="*/ 395766 w 425953"/>
                <a:gd name="connsiteY492" fmla="*/ 58101 h 444273"/>
                <a:gd name="connsiteX493" fmla="*/ 393934 w 425953"/>
                <a:gd name="connsiteY493" fmla="*/ 64928 h 444273"/>
                <a:gd name="connsiteX494" fmla="*/ 391021 w 425953"/>
                <a:gd name="connsiteY494" fmla="*/ 63096 h 444273"/>
                <a:gd name="connsiteX495" fmla="*/ 391900 w 425953"/>
                <a:gd name="connsiteY495" fmla="*/ 59927 h 444273"/>
                <a:gd name="connsiteX496" fmla="*/ 380456 w 425953"/>
                <a:gd name="connsiteY496" fmla="*/ 43414 h 444273"/>
                <a:gd name="connsiteX497" fmla="*/ 363289 w 425953"/>
                <a:gd name="connsiteY497" fmla="*/ 53722 h 444273"/>
                <a:gd name="connsiteX498" fmla="*/ 362721 w 425953"/>
                <a:gd name="connsiteY498" fmla="*/ 63059 h 444273"/>
                <a:gd name="connsiteX499" fmla="*/ 345561 w 425953"/>
                <a:gd name="connsiteY499" fmla="*/ 45887 h 444273"/>
                <a:gd name="connsiteX500" fmla="*/ 346367 w 425953"/>
                <a:gd name="connsiteY500" fmla="*/ 60409 h 444273"/>
                <a:gd name="connsiteX501" fmla="*/ 384730 w 425953"/>
                <a:gd name="connsiteY501" fmla="*/ 98785 h 444273"/>
                <a:gd name="connsiteX502" fmla="*/ 398459 w 425953"/>
                <a:gd name="connsiteY502" fmla="*/ 98785 h 444273"/>
                <a:gd name="connsiteX503" fmla="*/ 384517 w 425953"/>
                <a:gd name="connsiteY503" fmla="*/ 84849 h 444273"/>
                <a:gd name="connsiteX504" fmla="*/ 398337 w 425953"/>
                <a:gd name="connsiteY504" fmla="*/ 87401 h 444273"/>
                <a:gd name="connsiteX505" fmla="*/ 419985 w 425953"/>
                <a:gd name="connsiteY505" fmla="*/ 67475 h 444273"/>
                <a:gd name="connsiteX506" fmla="*/ 406593 w 425953"/>
                <a:gd name="connsiteY506" fmla="*/ 32073 h 444273"/>
                <a:gd name="connsiteX507" fmla="*/ 375479 w 425953"/>
                <a:gd name="connsiteY507" fmla="*/ 20562 h 444273"/>
                <a:gd name="connsiteX508" fmla="*/ 339405 w 425953"/>
                <a:gd name="connsiteY508" fmla="*/ 458 h 444273"/>
                <a:gd name="connsiteX509" fmla="*/ 337085 w 425953"/>
                <a:gd name="connsiteY509" fmla="*/ 19676 h 444273"/>
                <a:gd name="connsiteX510" fmla="*/ 350062 w 425953"/>
                <a:gd name="connsiteY510" fmla="*/ 41447 h 444273"/>
                <a:gd name="connsiteX511" fmla="*/ 393616 w 425953"/>
                <a:gd name="connsiteY511" fmla="*/ 205697 h 444273"/>
                <a:gd name="connsiteX512" fmla="*/ 396914 w 425953"/>
                <a:gd name="connsiteY512" fmla="*/ 209013 h 444273"/>
                <a:gd name="connsiteX513" fmla="*/ 400242 w 425953"/>
                <a:gd name="connsiteY513" fmla="*/ 205697 h 444273"/>
                <a:gd name="connsiteX514" fmla="*/ 396914 w 425953"/>
                <a:gd name="connsiteY514" fmla="*/ 202381 h 444273"/>
                <a:gd name="connsiteX515" fmla="*/ 393616 w 425953"/>
                <a:gd name="connsiteY515" fmla="*/ 205697 h 444273"/>
                <a:gd name="connsiteX516" fmla="*/ 320920 w 425953"/>
                <a:gd name="connsiteY516" fmla="*/ 81930 h 444273"/>
                <a:gd name="connsiteX517" fmla="*/ 329024 w 425953"/>
                <a:gd name="connsiteY517" fmla="*/ 73710 h 444273"/>
                <a:gd name="connsiteX518" fmla="*/ 301348 w 425953"/>
                <a:gd name="connsiteY518" fmla="*/ 39786 h 444273"/>
                <a:gd name="connsiteX519" fmla="*/ 320920 w 425953"/>
                <a:gd name="connsiteY519" fmla="*/ 81930 h 444273"/>
                <a:gd name="connsiteX520" fmla="*/ 341244 w 425953"/>
                <a:gd name="connsiteY520" fmla="*/ 311114 h 444273"/>
                <a:gd name="connsiteX521" fmla="*/ 327302 w 425953"/>
                <a:gd name="connsiteY521" fmla="*/ 311114 h 444273"/>
                <a:gd name="connsiteX522" fmla="*/ 327302 w 425953"/>
                <a:gd name="connsiteY522" fmla="*/ 328793 h 444273"/>
                <a:gd name="connsiteX523" fmla="*/ 341244 w 425953"/>
                <a:gd name="connsiteY523" fmla="*/ 328793 h 444273"/>
                <a:gd name="connsiteX524" fmla="*/ 352108 w 425953"/>
                <a:gd name="connsiteY524" fmla="*/ 136012 h 444273"/>
                <a:gd name="connsiteX525" fmla="*/ 375094 w 425953"/>
                <a:gd name="connsiteY525" fmla="*/ 139456 h 444273"/>
                <a:gd name="connsiteX526" fmla="*/ 377445 w 425953"/>
                <a:gd name="connsiteY526" fmla="*/ 111749 h 444273"/>
                <a:gd name="connsiteX527" fmla="*/ 365359 w 425953"/>
                <a:gd name="connsiteY527" fmla="*/ 123316 h 444273"/>
                <a:gd name="connsiteX528" fmla="*/ 370355 w 425953"/>
                <a:gd name="connsiteY528" fmla="*/ 132537 h 444273"/>
                <a:gd name="connsiteX529" fmla="*/ 361708 w 425953"/>
                <a:gd name="connsiteY529" fmla="*/ 126815 h 444273"/>
                <a:gd name="connsiteX530" fmla="*/ 87021 w 425953"/>
                <a:gd name="connsiteY530" fmla="*/ 98296 h 444273"/>
                <a:gd name="connsiteX531" fmla="*/ 90325 w 425953"/>
                <a:gd name="connsiteY531" fmla="*/ 101600 h 444273"/>
                <a:gd name="connsiteX532" fmla="*/ 93653 w 425953"/>
                <a:gd name="connsiteY532" fmla="*/ 98296 h 444273"/>
                <a:gd name="connsiteX533" fmla="*/ 90325 w 425953"/>
                <a:gd name="connsiteY533" fmla="*/ 94980 h 444273"/>
                <a:gd name="connsiteX534" fmla="*/ 87021 w 425953"/>
                <a:gd name="connsiteY534" fmla="*/ 98296 h 444273"/>
                <a:gd name="connsiteX535" fmla="*/ 378911 w 425953"/>
                <a:gd name="connsiteY535" fmla="*/ 102272 h 444273"/>
                <a:gd name="connsiteX536" fmla="*/ 343106 w 425953"/>
                <a:gd name="connsiteY536" fmla="*/ 66467 h 444273"/>
                <a:gd name="connsiteX537" fmla="*/ 310996 w 425953"/>
                <a:gd name="connsiteY537" fmla="*/ 101343 h 444273"/>
                <a:gd name="connsiteX538" fmla="*/ 345445 w 425953"/>
                <a:gd name="connsiteY538" fmla="*/ 135304 h 444273"/>
                <a:gd name="connsiteX539" fmla="*/ 302862 w 425953"/>
                <a:gd name="connsiteY539" fmla="*/ 103444 h 444273"/>
                <a:gd name="connsiteX540" fmla="*/ 295668 w 425953"/>
                <a:gd name="connsiteY540" fmla="*/ 112055 h 444273"/>
                <a:gd name="connsiteX541" fmla="*/ 334728 w 425953"/>
                <a:gd name="connsiteY541" fmla="*/ 151126 h 444273"/>
                <a:gd name="connsiteX542" fmla="*/ 342642 w 425953"/>
                <a:gd name="connsiteY542" fmla="*/ 143206 h 444273"/>
                <a:gd name="connsiteX543" fmla="*/ 340547 w 425953"/>
                <a:gd name="connsiteY543" fmla="*/ 224604 h 444273"/>
                <a:gd name="connsiteX544" fmla="*/ 326605 w 425953"/>
                <a:gd name="connsiteY544" fmla="*/ 224604 h 444273"/>
                <a:gd name="connsiteX545" fmla="*/ 326605 w 425953"/>
                <a:gd name="connsiteY545" fmla="*/ 242283 h 444273"/>
                <a:gd name="connsiteX546" fmla="*/ 340547 w 425953"/>
                <a:gd name="connsiteY546" fmla="*/ 242283 h 444273"/>
                <a:gd name="connsiteX547" fmla="*/ 173366 w 425953"/>
                <a:gd name="connsiteY547" fmla="*/ 55841 h 444273"/>
                <a:gd name="connsiteX548" fmla="*/ 203650 w 425953"/>
                <a:gd name="connsiteY548" fmla="*/ 49808 h 444273"/>
                <a:gd name="connsiteX549" fmla="*/ 173366 w 425953"/>
                <a:gd name="connsiteY549" fmla="*/ 55841 h 444273"/>
                <a:gd name="connsiteX550" fmla="*/ 297806 w 425953"/>
                <a:gd name="connsiteY550" fmla="*/ 68354 h 444273"/>
                <a:gd name="connsiteX551" fmla="*/ 273268 w 425953"/>
                <a:gd name="connsiteY551" fmla="*/ 69740 h 444273"/>
                <a:gd name="connsiteX552" fmla="*/ 273225 w 425953"/>
                <a:gd name="connsiteY552" fmla="*/ 82229 h 444273"/>
                <a:gd name="connsiteX553" fmla="*/ 305372 w 425953"/>
                <a:gd name="connsiteY553" fmla="*/ 71963 h 444273"/>
                <a:gd name="connsiteX554" fmla="*/ 266007 w 425953"/>
                <a:gd name="connsiteY554" fmla="*/ 27658 h 444273"/>
                <a:gd name="connsiteX555" fmla="*/ 297806 w 425953"/>
                <a:gd name="connsiteY555" fmla="*/ 68354 h 444273"/>
                <a:gd name="connsiteX556" fmla="*/ 153787 w 425953"/>
                <a:gd name="connsiteY556" fmla="*/ 83908 h 444273"/>
                <a:gd name="connsiteX557" fmla="*/ 154032 w 425953"/>
                <a:gd name="connsiteY557" fmla="*/ 71756 h 444273"/>
                <a:gd name="connsiteX558" fmla="*/ 126844 w 425953"/>
                <a:gd name="connsiteY558" fmla="*/ 70345 h 444273"/>
                <a:gd name="connsiteX559" fmla="*/ 157671 w 425953"/>
                <a:gd name="connsiteY559" fmla="*/ 28910 h 444273"/>
                <a:gd name="connsiteX560" fmla="*/ 119333 w 425953"/>
                <a:gd name="connsiteY560" fmla="*/ 74137 h 444273"/>
                <a:gd name="connsiteX561" fmla="*/ 153787 w 425953"/>
                <a:gd name="connsiteY561" fmla="*/ 83908 h 444273"/>
                <a:gd name="connsiteX562" fmla="*/ 143748 w 425953"/>
                <a:gd name="connsiteY562" fmla="*/ 90943 h 444273"/>
                <a:gd name="connsiteX563" fmla="*/ 99430 w 425953"/>
                <a:gd name="connsiteY563" fmla="*/ 88055 h 444273"/>
                <a:gd name="connsiteX564" fmla="*/ 122612 w 425953"/>
                <a:gd name="connsiteY564" fmla="*/ 41875 h 444273"/>
                <a:gd name="connsiteX565" fmla="*/ 92725 w 425953"/>
                <a:gd name="connsiteY565" fmla="*/ 93087 h 444273"/>
                <a:gd name="connsiteX566" fmla="*/ 143748 w 425953"/>
                <a:gd name="connsiteY566" fmla="*/ 90943 h 444273"/>
                <a:gd name="connsiteX567" fmla="*/ 141696 w 425953"/>
                <a:gd name="connsiteY567" fmla="*/ 64262 h 444273"/>
                <a:gd name="connsiteX568" fmla="*/ 145000 w 425953"/>
                <a:gd name="connsiteY568" fmla="*/ 67578 h 444273"/>
                <a:gd name="connsiteX569" fmla="*/ 148328 w 425953"/>
                <a:gd name="connsiteY569" fmla="*/ 64262 h 444273"/>
                <a:gd name="connsiteX570" fmla="*/ 145000 w 425953"/>
                <a:gd name="connsiteY570" fmla="*/ 60946 h 444273"/>
                <a:gd name="connsiteX571" fmla="*/ 141696 w 425953"/>
                <a:gd name="connsiteY571" fmla="*/ 64262 h 444273"/>
                <a:gd name="connsiteX572" fmla="*/ 149714 w 425953"/>
                <a:gd name="connsiteY572" fmla="*/ 60769 h 444273"/>
                <a:gd name="connsiteX573" fmla="*/ 174752 w 425953"/>
                <a:gd name="connsiteY573" fmla="*/ 60409 h 444273"/>
                <a:gd name="connsiteX574" fmla="*/ 158471 w 425953"/>
                <a:gd name="connsiteY574" fmla="*/ 55902 h 444273"/>
                <a:gd name="connsiteX575" fmla="*/ 194453 w 425953"/>
                <a:gd name="connsiteY575" fmla="*/ 22229 h 444273"/>
                <a:gd name="connsiteX576" fmla="*/ 148829 w 425953"/>
                <a:gd name="connsiteY576" fmla="*/ 60116 h 444273"/>
                <a:gd name="connsiteX577" fmla="*/ 149714 w 425953"/>
                <a:gd name="connsiteY577" fmla="*/ 60769 h 444273"/>
                <a:gd name="connsiteX578" fmla="*/ 283283 w 425953"/>
                <a:gd name="connsiteY578" fmla="*/ 62461 h 444273"/>
                <a:gd name="connsiteX579" fmla="*/ 279961 w 425953"/>
                <a:gd name="connsiteY579" fmla="*/ 59145 h 444273"/>
                <a:gd name="connsiteX580" fmla="*/ 276657 w 425953"/>
                <a:gd name="connsiteY580" fmla="*/ 62461 h 444273"/>
                <a:gd name="connsiteX581" fmla="*/ 279961 w 425953"/>
                <a:gd name="connsiteY581" fmla="*/ 65777 h 444273"/>
                <a:gd name="connsiteX582" fmla="*/ 283283 w 425953"/>
                <a:gd name="connsiteY582" fmla="*/ 62461 h 444273"/>
                <a:gd name="connsiteX583" fmla="*/ 265708 w 425953"/>
                <a:gd name="connsiteY583" fmla="*/ 55902 h 444273"/>
                <a:gd name="connsiteX584" fmla="*/ 249439 w 425953"/>
                <a:gd name="connsiteY584" fmla="*/ 60409 h 444273"/>
                <a:gd name="connsiteX585" fmla="*/ 274441 w 425953"/>
                <a:gd name="connsiteY585" fmla="*/ 60769 h 444273"/>
                <a:gd name="connsiteX586" fmla="*/ 275332 w 425953"/>
                <a:gd name="connsiteY586" fmla="*/ 60116 h 444273"/>
                <a:gd name="connsiteX587" fmla="*/ 229726 w 425953"/>
                <a:gd name="connsiteY587" fmla="*/ 22229 h 444273"/>
                <a:gd name="connsiteX588" fmla="*/ 265708 w 425953"/>
                <a:gd name="connsiteY588" fmla="*/ 55902 h 444273"/>
                <a:gd name="connsiteX589" fmla="*/ 211925 w 425953"/>
                <a:gd name="connsiteY589" fmla="*/ 52061 h 444273"/>
                <a:gd name="connsiteX590" fmla="*/ 216371 w 425953"/>
                <a:gd name="connsiteY590" fmla="*/ 47621 h 444273"/>
                <a:gd name="connsiteX591" fmla="*/ 211925 w 425953"/>
                <a:gd name="connsiteY591" fmla="*/ 43188 h 444273"/>
                <a:gd name="connsiteX592" fmla="*/ 207491 w 425953"/>
                <a:gd name="connsiteY592" fmla="*/ 47621 h 444273"/>
                <a:gd name="connsiteX593" fmla="*/ 211925 w 425953"/>
                <a:gd name="connsiteY593" fmla="*/ 52061 h 444273"/>
                <a:gd name="connsiteX594" fmla="*/ 250789 w 425953"/>
                <a:gd name="connsiteY594" fmla="*/ 54375 h 444273"/>
                <a:gd name="connsiteX595" fmla="*/ 220316 w 425953"/>
                <a:gd name="connsiteY595" fmla="*/ 49484 h 444273"/>
                <a:gd name="connsiteX596" fmla="*/ 250789 w 425953"/>
                <a:gd name="connsiteY596" fmla="*/ 54375 h 44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</a:cxnLst>
              <a:rect l="l" t="t" r="r" b="b"/>
              <a:pathLst>
                <a:path w="425953" h="444273">
                  <a:moveTo>
                    <a:pt x="100316" y="226003"/>
                  </a:moveTo>
                  <a:lnTo>
                    <a:pt x="86362" y="226003"/>
                  </a:lnTo>
                  <a:lnTo>
                    <a:pt x="86362" y="243664"/>
                  </a:lnTo>
                  <a:lnTo>
                    <a:pt x="100316" y="243664"/>
                  </a:lnTo>
                  <a:close/>
                  <a:moveTo>
                    <a:pt x="39253" y="359706"/>
                  </a:moveTo>
                  <a:cubicBezTo>
                    <a:pt x="59406" y="386326"/>
                    <a:pt x="94850" y="380256"/>
                    <a:pt x="94850" y="380256"/>
                  </a:cubicBezTo>
                  <a:cubicBezTo>
                    <a:pt x="99143" y="342570"/>
                    <a:pt x="83895" y="330356"/>
                    <a:pt x="83895" y="330356"/>
                  </a:cubicBezTo>
                  <a:cubicBezTo>
                    <a:pt x="74417" y="350344"/>
                    <a:pt x="88737" y="374515"/>
                    <a:pt x="88737" y="374515"/>
                  </a:cubicBezTo>
                  <a:cubicBezTo>
                    <a:pt x="67186" y="354607"/>
                    <a:pt x="39253" y="359706"/>
                    <a:pt x="39253" y="359706"/>
                  </a:cubicBezTo>
                  <a:close/>
                  <a:moveTo>
                    <a:pt x="76017" y="152910"/>
                  </a:moveTo>
                  <a:lnTo>
                    <a:pt x="69238" y="146577"/>
                  </a:lnTo>
                  <a:cubicBezTo>
                    <a:pt x="52878" y="150748"/>
                    <a:pt x="40933" y="165264"/>
                    <a:pt x="40933" y="165264"/>
                  </a:cubicBezTo>
                  <a:cubicBezTo>
                    <a:pt x="48640" y="146870"/>
                    <a:pt x="44493" y="129636"/>
                    <a:pt x="41049" y="120488"/>
                  </a:cubicBezTo>
                  <a:lnTo>
                    <a:pt x="36114" y="116458"/>
                  </a:lnTo>
                  <a:cubicBezTo>
                    <a:pt x="21910" y="143413"/>
                    <a:pt x="37653" y="172971"/>
                    <a:pt x="37653" y="172971"/>
                  </a:cubicBezTo>
                  <a:cubicBezTo>
                    <a:pt x="59504" y="167719"/>
                    <a:pt x="70600" y="159084"/>
                    <a:pt x="76017" y="152910"/>
                  </a:cubicBezTo>
                  <a:close/>
                  <a:moveTo>
                    <a:pt x="121757" y="398796"/>
                  </a:moveTo>
                  <a:cubicBezTo>
                    <a:pt x="121036" y="387095"/>
                    <a:pt x="118917" y="378570"/>
                    <a:pt x="116291" y="371755"/>
                  </a:cubicBezTo>
                  <a:lnTo>
                    <a:pt x="102826" y="371767"/>
                  </a:lnTo>
                  <a:cubicBezTo>
                    <a:pt x="106453" y="384555"/>
                    <a:pt x="114734" y="394204"/>
                    <a:pt x="114734" y="394204"/>
                  </a:cubicBezTo>
                  <a:cubicBezTo>
                    <a:pt x="90050" y="378338"/>
                    <a:pt x="63418" y="388207"/>
                    <a:pt x="63418" y="388207"/>
                  </a:cubicBezTo>
                  <a:cubicBezTo>
                    <a:pt x="87907" y="410924"/>
                    <a:pt x="121757" y="398796"/>
                    <a:pt x="121757" y="398796"/>
                  </a:cubicBezTo>
                  <a:close/>
                  <a:moveTo>
                    <a:pt x="171510" y="241154"/>
                  </a:moveTo>
                  <a:lnTo>
                    <a:pt x="171510" y="247926"/>
                  </a:lnTo>
                  <a:lnTo>
                    <a:pt x="164218" y="247926"/>
                  </a:lnTo>
                  <a:lnTo>
                    <a:pt x="164218" y="255865"/>
                  </a:lnTo>
                  <a:lnTo>
                    <a:pt x="170630" y="255865"/>
                  </a:lnTo>
                  <a:lnTo>
                    <a:pt x="170630" y="262638"/>
                  </a:lnTo>
                  <a:lnTo>
                    <a:pt x="164218" y="262638"/>
                  </a:lnTo>
                  <a:lnTo>
                    <a:pt x="164218" y="270857"/>
                  </a:lnTo>
                  <a:lnTo>
                    <a:pt x="171620" y="270857"/>
                  </a:lnTo>
                  <a:lnTo>
                    <a:pt x="171620" y="277636"/>
                  </a:lnTo>
                  <a:lnTo>
                    <a:pt x="157000" y="277636"/>
                  </a:lnTo>
                  <a:lnTo>
                    <a:pt x="157000" y="241209"/>
                  </a:lnTo>
                  <a:lnTo>
                    <a:pt x="146899" y="277636"/>
                  </a:lnTo>
                  <a:lnTo>
                    <a:pt x="141006" y="277636"/>
                  </a:lnTo>
                  <a:lnTo>
                    <a:pt x="130465" y="241154"/>
                  </a:lnTo>
                  <a:lnTo>
                    <a:pt x="138191" y="241154"/>
                  </a:lnTo>
                  <a:lnTo>
                    <a:pt x="142545" y="258668"/>
                  </a:lnTo>
                  <a:cubicBezTo>
                    <a:pt x="143186" y="260744"/>
                    <a:pt x="143430" y="262833"/>
                    <a:pt x="143846" y="264909"/>
                  </a:cubicBezTo>
                  <a:lnTo>
                    <a:pt x="143955" y="264909"/>
                  </a:lnTo>
                  <a:cubicBezTo>
                    <a:pt x="144334" y="262778"/>
                    <a:pt x="144499" y="260702"/>
                    <a:pt x="145067" y="258576"/>
                  </a:cubicBezTo>
                  <a:lnTo>
                    <a:pt x="149458" y="241154"/>
                  </a:lnTo>
                  <a:close/>
                  <a:moveTo>
                    <a:pt x="180584" y="322045"/>
                  </a:moveTo>
                  <a:lnTo>
                    <a:pt x="172878" y="322045"/>
                  </a:lnTo>
                  <a:lnTo>
                    <a:pt x="171534" y="315908"/>
                  </a:lnTo>
                  <a:lnTo>
                    <a:pt x="164230" y="315908"/>
                  </a:lnTo>
                  <a:lnTo>
                    <a:pt x="162911" y="322045"/>
                  </a:lnTo>
                  <a:lnTo>
                    <a:pt x="155760" y="322045"/>
                  </a:lnTo>
                  <a:lnTo>
                    <a:pt x="164230" y="285569"/>
                  </a:lnTo>
                  <a:lnTo>
                    <a:pt x="171827" y="285569"/>
                  </a:lnTo>
                  <a:close/>
                  <a:moveTo>
                    <a:pt x="172987" y="241154"/>
                  </a:moveTo>
                  <a:lnTo>
                    <a:pt x="180242" y="241154"/>
                  </a:lnTo>
                  <a:cubicBezTo>
                    <a:pt x="184841" y="241154"/>
                    <a:pt x="193061" y="241636"/>
                    <a:pt x="193061" y="251596"/>
                  </a:cubicBezTo>
                  <a:cubicBezTo>
                    <a:pt x="193061" y="255615"/>
                    <a:pt x="191473" y="259047"/>
                    <a:pt x="187888" y="261031"/>
                  </a:cubicBezTo>
                  <a:lnTo>
                    <a:pt x="194233" y="277636"/>
                  </a:lnTo>
                  <a:lnTo>
                    <a:pt x="186642" y="277636"/>
                  </a:lnTo>
                  <a:lnTo>
                    <a:pt x="180322" y="260793"/>
                  </a:lnTo>
                  <a:lnTo>
                    <a:pt x="180194" y="260793"/>
                  </a:lnTo>
                  <a:lnTo>
                    <a:pt x="180194" y="277636"/>
                  </a:lnTo>
                  <a:lnTo>
                    <a:pt x="172987" y="277636"/>
                  </a:lnTo>
                  <a:close/>
                  <a:moveTo>
                    <a:pt x="195650" y="241154"/>
                  </a:moveTo>
                  <a:lnTo>
                    <a:pt x="202856" y="241154"/>
                  </a:lnTo>
                  <a:lnTo>
                    <a:pt x="202856" y="277636"/>
                  </a:lnTo>
                  <a:lnTo>
                    <a:pt x="195650" y="277636"/>
                  </a:lnTo>
                  <a:close/>
                  <a:moveTo>
                    <a:pt x="190319" y="322625"/>
                  </a:moveTo>
                  <a:cubicBezTo>
                    <a:pt x="188261" y="322625"/>
                    <a:pt x="185757" y="322015"/>
                    <a:pt x="184108" y="320775"/>
                  </a:cubicBezTo>
                  <a:lnTo>
                    <a:pt x="184108" y="313923"/>
                  </a:lnTo>
                  <a:cubicBezTo>
                    <a:pt x="185794" y="315077"/>
                    <a:pt x="187448" y="315859"/>
                    <a:pt x="189574" y="315859"/>
                  </a:cubicBezTo>
                  <a:cubicBezTo>
                    <a:pt x="191900" y="315859"/>
                    <a:pt x="193745" y="314314"/>
                    <a:pt x="193745" y="311889"/>
                  </a:cubicBezTo>
                  <a:cubicBezTo>
                    <a:pt x="193745" y="309092"/>
                    <a:pt x="191522" y="308011"/>
                    <a:pt x="189494" y="306558"/>
                  </a:cubicBezTo>
                  <a:cubicBezTo>
                    <a:pt x="185317" y="303755"/>
                    <a:pt x="182765" y="301062"/>
                    <a:pt x="182765" y="295743"/>
                  </a:cubicBezTo>
                  <a:cubicBezTo>
                    <a:pt x="182765" y="289966"/>
                    <a:pt x="186093" y="284995"/>
                    <a:pt x="192303" y="284995"/>
                  </a:cubicBezTo>
                  <a:cubicBezTo>
                    <a:pt x="194600" y="284995"/>
                    <a:pt x="196706" y="285612"/>
                    <a:pt x="198667" y="286784"/>
                  </a:cubicBezTo>
                  <a:lnTo>
                    <a:pt x="198667" y="293795"/>
                  </a:lnTo>
                  <a:cubicBezTo>
                    <a:pt x="197219" y="292543"/>
                    <a:pt x="195430" y="291480"/>
                    <a:pt x="193464" y="291480"/>
                  </a:cubicBezTo>
                  <a:cubicBezTo>
                    <a:pt x="191223" y="291480"/>
                    <a:pt x="189830" y="292830"/>
                    <a:pt x="189830" y="295053"/>
                  </a:cubicBezTo>
                  <a:cubicBezTo>
                    <a:pt x="189830" y="301062"/>
                    <a:pt x="200810" y="301392"/>
                    <a:pt x="200810" y="311260"/>
                  </a:cubicBezTo>
                  <a:cubicBezTo>
                    <a:pt x="200810" y="317740"/>
                    <a:pt x="197085" y="322625"/>
                    <a:pt x="190319" y="322625"/>
                  </a:cubicBezTo>
                  <a:close/>
                  <a:moveTo>
                    <a:pt x="154459" y="292341"/>
                  </a:moveTo>
                  <a:lnTo>
                    <a:pt x="148762" y="292341"/>
                  </a:lnTo>
                  <a:lnTo>
                    <a:pt x="148762" y="322045"/>
                  </a:lnTo>
                  <a:lnTo>
                    <a:pt x="141519" y="322045"/>
                  </a:lnTo>
                  <a:lnTo>
                    <a:pt x="141519" y="292341"/>
                  </a:lnTo>
                  <a:lnTo>
                    <a:pt x="135882" y="292341"/>
                  </a:lnTo>
                  <a:lnTo>
                    <a:pt x="135882" y="285569"/>
                  </a:lnTo>
                  <a:lnTo>
                    <a:pt x="154459" y="285569"/>
                  </a:lnTo>
                  <a:close/>
                  <a:moveTo>
                    <a:pt x="118453" y="199029"/>
                  </a:moveTo>
                  <a:lnTo>
                    <a:pt x="118453" y="352512"/>
                  </a:lnTo>
                  <a:lnTo>
                    <a:pt x="194477" y="352512"/>
                  </a:lnTo>
                  <a:cubicBezTo>
                    <a:pt x="203100" y="352744"/>
                    <a:pt x="211925" y="359480"/>
                    <a:pt x="211925" y="359480"/>
                  </a:cubicBezTo>
                  <a:lnTo>
                    <a:pt x="211925" y="236702"/>
                  </a:lnTo>
                  <a:cubicBezTo>
                    <a:pt x="165885" y="235694"/>
                    <a:pt x="156603" y="199029"/>
                    <a:pt x="156603" y="199029"/>
                  </a:cubicBezTo>
                  <a:close/>
                  <a:moveTo>
                    <a:pt x="294966" y="119713"/>
                  </a:moveTo>
                  <a:lnTo>
                    <a:pt x="272169" y="144525"/>
                  </a:lnTo>
                  <a:lnTo>
                    <a:pt x="272401" y="184140"/>
                  </a:lnTo>
                  <a:cubicBezTo>
                    <a:pt x="272401" y="184140"/>
                    <a:pt x="271705" y="190662"/>
                    <a:pt x="270325" y="193893"/>
                  </a:cubicBezTo>
                  <a:lnTo>
                    <a:pt x="284957" y="193893"/>
                  </a:lnTo>
                  <a:lnTo>
                    <a:pt x="326813" y="152036"/>
                  </a:lnTo>
                  <a:close/>
                  <a:moveTo>
                    <a:pt x="100768" y="309496"/>
                  </a:moveTo>
                  <a:lnTo>
                    <a:pt x="86826" y="309496"/>
                  </a:lnTo>
                  <a:lnTo>
                    <a:pt x="86826" y="327157"/>
                  </a:lnTo>
                  <a:lnTo>
                    <a:pt x="100768" y="327157"/>
                  </a:lnTo>
                  <a:close/>
                  <a:moveTo>
                    <a:pt x="123559" y="138100"/>
                  </a:moveTo>
                  <a:lnTo>
                    <a:pt x="152878" y="166925"/>
                  </a:lnTo>
                  <a:lnTo>
                    <a:pt x="152878" y="144610"/>
                  </a:lnTo>
                  <a:lnTo>
                    <a:pt x="123559" y="115310"/>
                  </a:lnTo>
                  <a:close/>
                  <a:moveTo>
                    <a:pt x="100456" y="385159"/>
                  </a:moveTo>
                  <a:cubicBezTo>
                    <a:pt x="102282" y="385159"/>
                    <a:pt x="103772" y="383675"/>
                    <a:pt x="103772" y="381843"/>
                  </a:cubicBezTo>
                  <a:cubicBezTo>
                    <a:pt x="103772" y="380005"/>
                    <a:pt x="102282" y="378527"/>
                    <a:pt x="100456" y="378527"/>
                  </a:cubicBezTo>
                  <a:cubicBezTo>
                    <a:pt x="98630" y="378527"/>
                    <a:pt x="97140" y="380005"/>
                    <a:pt x="97140" y="381843"/>
                  </a:cubicBezTo>
                  <a:cubicBezTo>
                    <a:pt x="97140" y="383675"/>
                    <a:pt x="98630" y="385159"/>
                    <a:pt x="100456" y="385159"/>
                  </a:cubicBezTo>
                  <a:close/>
                  <a:moveTo>
                    <a:pt x="47369" y="148995"/>
                  </a:moveTo>
                  <a:cubicBezTo>
                    <a:pt x="47369" y="150821"/>
                    <a:pt x="48866" y="152311"/>
                    <a:pt x="50685" y="152311"/>
                  </a:cubicBezTo>
                  <a:cubicBezTo>
                    <a:pt x="52505" y="152311"/>
                    <a:pt x="53995" y="150821"/>
                    <a:pt x="53995" y="148995"/>
                  </a:cubicBezTo>
                  <a:cubicBezTo>
                    <a:pt x="53995" y="147169"/>
                    <a:pt x="52505" y="145673"/>
                    <a:pt x="50685" y="145673"/>
                  </a:cubicBezTo>
                  <a:cubicBezTo>
                    <a:pt x="48866" y="145673"/>
                    <a:pt x="47369" y="147169"/>
                    <a:pt x="47369" y="148995"/>
                  </a:cubicBezTo>
                  <a:close/>
                  <a:moveTo>
                    <a:pt x="100633" y="360982"/>
                  </a:moveTo>
                  <a:cubicBezTo>
                    <a:pt x="100768" y="362491"/>
                    <a:pt x="101061" y="360647"/>
                    <a:pt x="101061" y="360647"/>
                  </a:cubicBezTo>
                  <a:lnTo>
                    <a:pt x="101061" y="339089"/>
                  </a:lnTo>
                  <a:lnTo>
                    <a:pt x="97507" y="343040"/>
                  </a:lnTo>
                  <a:cubicBezTo>
                    <a:pt x="99522" y="348475"/>
                    <a:pt x="100224" y="356292"/>
                    <a:pt x="100633" y="360982"/>
                  </a:cubicBezTo>
                  <a:close/>
                  <a:moveTo>
                    <a:pt x="152878" y="177978"/>
                  </a:moveTo>
                  <a:lnTo>
                    <a:pt x="152878" y="173447"/>
                  </a:lnTo>
                  <a:lnTo>
                    <a:pt x="131241" y="151816"/>
                  </a:lnTo>
                  <a:lnTo>
                    <a:pt x="80554" y="151816"/>
                  </a:lnTo>
                  <a:lnTo>
                    <a:pt x="109183" y="177978"/>
                  </a:lnTo>
                  <a:close/>
                  <a:moveTo>
                    <a:pt x="42918" y="116409"/>
                  </a:moveTo>
                  <a:cubicBezTo>
                    <a:pt x="42918" y="116409"/>
                    <a:pt x="41006" y="104604"/>
                    <a:pt x="53330" y="86919"/>
                  </a:cubicBezTo>
                  <a:lnTo>
                    <a:pt x="11705" y="86919"/>
                  </a:lnTo>
                  <a:cubicBezTo>
                    <a:pt x="11705" y="86919"/>
                    <a:pt x="13464" y="91749"/>
                    <a:pt x="42918" y="116409"/>
                  </a:cubicBezTo>
                  <a:close/>
                  <a:moveTo>
                    <a:pt x="6814" y="181343"/>
                  </a:moveTo>
                  <a:cubicBezTo>
                    <a:pt x="-618" y="213911"/>
                    <a:pt x="26826" y="237178"/>
                    <a:pt x="26826" y="237178"/>
                  </a:cubicBezTo>
                  <a:cubicBezTo>
                    <a:pt x="58453" y="216232"/>
                    <a:pt x="57965" y="196690"/>
                    <a:pt x="57965" y="196690"/>
                  </a:cubicBezTo>
                  <a:cubicBezTo>
                    <a:pt x="36585" y="202277"/>
                    <a:pt x="27290" y="228793"/>
                    <a:pt x="27290" y="228793"/>
                  </a:cubicBezTo>
                  <a:cubicBezTo>
                    <a:pt x="28689" y="199493"/>
                    <a:pt x="6814" y="181343"/>
                    <a:pt x="6814" y="181343"/>
                  </a:cubicBezTo>
                  <a:close/>
                  <a:moveTo>
                    <a:pt x="31345" y="196427"/>
                  </a:moveTo>
                  <a:cubicBezTo>
                    <a:pt x="37800" y="167810"/>
                    <a:pt x="19412" y="146149"/>
                    <a:pt x="19412" y="146149"/>
                  </a:cubicBezTo>
                  <a:cubicBezTo>
                    <a:pt x="6435" y="176928"/>
                    <a:pt x="29440" y="204598"/>
                    <a:pt x="29440" y="204598"/>
                  </a:cubicBezTo>
                  <a:cubicBezTo>
                    <a:pt x="64212" y="189477"/>
                    <a:pt x="67143" y="170161"/>
                    <a:pt x="67143" y="170161"/>
                  </a:cubicBezTo>
                  <a:cubicBezTo>
                    <a:pt x="45122" y="171932"/>
                    <a:pt x="31345" y="196427"/>
                    <a:pt x="31345" y="196427"/>
                  </a:cubicBezTo>
                  <a:close/>
                  <a:moveTo>
                    <a:pt x="34258" y="210076"/>
                  </a:moveTo>
                  <a:cubicBezTo>
                    <a:pt x="34258" y="208244"/>
                    <a:pt x="32780" y="206760"/>
                    <a:pt x="30960" y="206760"/>
                  </a:cubicBezTo>
                  <a:cubicBezTo>
                    <a:pt x="29128" y="206760"/>
                    <a:pt x="27656" y="208244"/>
                    <a:pt x="27656" y="210076"/>
                  </a:cubicBezTo>
                  <a:cubicBezTo>
                    <a:pt x="27656" y="211914"/>
                    <a:pt x="29128" y="213392"/>
                    <a:pt x="30960" y="213392"/>
                  </a:cubicBezTo>
                  <a:cubicBezTo>
                    <a:pt x="32780" y="213392"/>
                    <a:pt x="34258" y="211914"/>
                    <a:pt x="34258" y="210076"/>
                  </a:cubicBezTo>
                  <a:close/>
                  <a:moveTo>
                    <a:pt x="203821" y="377880"/>
                  </a:moveTo>
                  <a:lnTo>
                    <a:pt x="225647" y="377880"/>
                  </a:lnTo>
                  <a:cubicBezTo>
                    <a:pt x="225647" y="377880"/>
                    <a:pt x="227088" y="368402"/>
                    <a:pt x="233256" y="368402"/>
                  </a:cubicBezTo>
                  <a:lnTo>
                    <a:pt x="323857" y="368402"/>
                  </a:lnTo>
                  <a:lnTo>
                    <a:pt x="323857" y="208989"/>
                  </a:lnTo>
                  <a:lnTo>
                    <a:pt x="314850" y="199499"/>
                  </a:lnTo>
                  <a:lnTo>
                    <a:pt x="314850" y="357477"/>
                  </a:lnTo>
                  <a:lnTo>
                    <a:pt x="233702" y="357477"/>
                  </a:lnTo>
                  <a:cubicBezTo>
                    <a:pt x="233702" y="357477"/>
                    <a:pt x="222807" y="358424"/>
                    <a:pt x="214264" y="368854"/>
                  </a:cubicBezTo>
                  <a:cubicBezTo>
                    <a:pt x="214264" y="368854"/>
                    <a:pt x="207613" y="358912"/>
                    <a:pt x="193390" y="357959"/>
                  </a:cubicBezTo>
                  <a:lnTo>
                    <a:pt x="114160" y="357959"/>
                  </a:lnTo>
                  <a:lnTo>
                    <a:pt x="114160" y="200922"/>
                  </a:lnTo>
                  <a:lnTo>
                    <a:pt x="104438" y="210644"/>
                  </a:lnTo>
                  <a:lnTo>
                    <a:pt x="104438" y="368402"/>
                  </a:lnTo>
                  <a:lnTo>
                    <a:pt x="192914" y="368402"/>
                  </a:lnTo>
                  <a:cubicBezTo>
                    <a:pt x="192914" y="368402"/>
                    <a:pt x="203821" y="368854"/>
                    <a:pt x="203821" y="377880"/>
                  </a:cubicBezTo>
                  <a:close/>
                  <a:moveTo>
                    <a:pt x="61837" y="84922"/>
                  </a:moveTo>
                  <a:cubicBezTo>
                    <a:pt x="39119" y="109398"/>
                    <a:pt x="51247" y="143255"/>
                    <a:pt x="51247" y="143255"/>
                  </a:cubicBezTo>
                  <a:cubicBezTo>
                    <a:pt x="89098" y="140946"/>
                    <a:pt x="98459" y="123804"/>
                    <a:pt x="98459" y="123804"/>
                  </a:cubicBezTo>
                  <a:cubicBezTo>
                    <a:pt x="77134" y="117936"/>
                    <a:pt x="55821" y="136244"/>
                    <a:pt x="55821" y="136244"/>
                  </a:cubicBezTo>
                  <a:cubicBezTo>
                    <a:pt x="71687" y="111554"/>
                    <a:pt x="61837" y="84922"/>
                    <a:pt x="61837" y="84922"/>
                  </a:cubicBezTo>
                  <a:close/>
                  <a:moveTo>
                    <a:pt x="168627" y="300476"/>
                  </a:moveTo>
                  <a:lnTo>
                    <a:pt x="167809" y="294943"/>
                  </a:lnTo>
                  <a:lnTo>
                    <a:pt x="167717" y="294943"/>
                  </a:lnTo>
                  <a:lnTo>
                    <a:pt x="166936" y="300476"/>
                  </a:lnTo>
                  <a:lnTo>
                    <a:pt x="165397" y="310186"/>
                  </a:lnTo>
                  <a:lnTo>
                    <a:pt x="170478" y="310186"/>
                  </a:lnTo>
                  <a:close/>
                  <a:moveTo>
                    <a:pt x="377982" y="369080"/>
                  </a:moveTo>
                  <a:cubicBezTo>
                    <a:pt x="383491" y="365654"/>
                    <a:pt x="388749" y="360995"/>
                    <a:pt x="393079" y="354607"/>
                  </a:cubicBezTo>
                  <a:cubicBezTo>
                    <a:pt x="393079" y="354607"/>
                    <a:pt x="381109" y="353056"/>
                    <a:pt x="367076" y="357788"/>
                  </a:cubicBezTo>
                  <a:close/>
                  <a:moveTo>
                    <a:pt x="401024" y="224415"/>
                  </a:moveTo>
                  <a:cubicBezTo>
                    <a:pt x="401024" y="224415"/>
                    <a:pt x="391118" y="198125"/>
                    <a:pt x="369598" y="193044"/>
                  </a:cubicBezTo>
                  <a:cubicBezTo>
                    <a:pt x="369598" y="193044"/>
                    <a:pt x="369598" y="212586"/>
                    <a:pt x="401701" y="232775"/>
                  </a:cubicBezTo>
                  <a:cubicBezTo>
                    <a:pt x="401701" y="232775"/>
                    <a:pt x="428565" y="208873"/>
                    <a:pt x="420370" y="176488"/>
                  </a:cubicBezTo>
                  <a:cubicBezTo>
                    <a:pt x="420370" y="176488"/>
                    <a:pt x="398959" y="195157"/>
                    <a:pt x="401024" y="224415"/>
                  </a:cubicBezTo>
                  <a:close/>
                  <a:moveTo>
                    <a:pt x="360700" y="302870"/>
                  </a:moveTo>
                  <a:cubicBezTo>
                    <a:pt x="360700" y="302870"/>
                    <a:pt x="348163" y="317844"/>
                    <a:pt x="359772" y="353935"/>
                  </a:cubicBezTo>
                  <a:cubicBezTo>
                    <a:pt x="359772" y="353935"/>
                    <a:pt x="395717" y="352915"/>
                    <a:pt x="410245" y="322863"/>
                  </a:cubicBezTo>
                  <a:cubicBezTo>
                    <a:pt x="410245" y="322863"/>
                    <a:pt x="381860" y="323364"/>
                    <a:pt x="364627" y="347114"/>
                  </a:cubicBezTo>
                  <a:cubicBezTo>
                    <a:pt x="364627" y="347114"/>
                    <a:pt x="373915" y="320610"/>
                    <a:pt x="360700" y="302870"/>
                  </a:cubicBezTo>
                  <a:close/>
                  <a:moveTo>
                    <a:pt x="400144" y="257013"/>
                  </a:moveTo>
                  <a:cubicBezTo>
                    <a:pt x="400144" y="257013"/>
                    <a:pt x="394947" y="229386"/>
                    <a:pt x="374654" y="220659"/>
                  </a:cubicBezTo>
                  <a:cubicBezTo>
                    <a:pt x="374654" y="220659"/>
                    <a:pt x="371228" y="239914"/>
                    <a:pt x="399369" y="265349"/>
                  </a:cubicBezTo>
                  <a:cubicBezTo>
                    <a:pt x="399369" y="265349"/>
                    <a:pt x="430007" y="246497"/>
                    <a:pt x="427540" y="213190"/>
                  </a:cubicBezTo>
                  <a:cubicBezTo>
                    <a:pt x="427540" y="213190"/>
                    <a:pt x="403210" y="227835"/>
                    <a:pt x="400144" y="257013"/>
                  </a:cubicBezTo>
                  <a:close/>
                  <a:moveTo>
                    <a:pt x="374831" y="248720"/>
                  </a:moveTo>
                  <a:cubicBezTo>
                    <a:pt x="374831" y="248720"/>
                    <a:pt x="368150" y="267089"/>
                    <a:pt x="391411" y="297044"/>
                  </a:cubicBezTo>
                  <a:cubicBezTo>
                    <a:pt x="391411" y="297044"/>
                    <a:pt x="424853" y="283798"/>
                    <a:pt x="428224" y="250564"/>
                  </a:cubicBezTo>
                  <a:cubicBezTo>
                    <a:pt x="428224" y="250564"/>
                    <a:pt x="401701" y="260757"/>
                    <a:pt x="393665" y="288964"/>
                  </a:cubicBezTo>
                  <a:cubicBezTo>
                    <a:pt x="393665" y="288964"/>
                    <a:pt x="393323" y="260873"/>
                    <a:pt x="374831" y="248720"/>
                  </a:cubicBezTo>
                  <a:close/>
                  <a:moveTo>
                    <a:pt x="396114" y="273392"/>
                  </a:moveTo>
                  <a:cubicBezTo>
                    <a:pt x="397946" y="273392"/>
                    <a:pt x="399417" y="271908"/>
                    <a:pt x="399417" y="270076"/>
                  </a:cubicBezTo>
                  <a:cubicBezTo>
                    <a:pt x="399417" y="268250"/>
                    <a:pt x="397946" y="266760"/>
                    <a:pt x="396114" y="266760"/>
                  </a:cubicBezTo>
                  <a:cubicBezTo>
                    <a:pt x="394276" y="266760"/>
                    <a:pt x="392810" y="268250"/>
                    <a:pt x="392810" y="270076"/>
                  </a:cubicBezTo>
                  <a:cubicBezTo>
                    <a:pt x="392810" y="271908"/>
                    <a:pt x="394276" y="273392"/>
                    <a:pt x="396114" y="273392"/>
                  </a:cubicBezTo>
                  <a:close/>
                  <a:moveTo>
                    <a:pt x="376731" y="330100"/>
                  </a:moveTo>
                  <a:cubicBezTo>
                    <a:pt x="376731" y="328280"/>
                    <a:pt x="375247" y="326778"/>
                    <a:pt x="373427" y="326778"/>
                  </a:cubicBezTo>
                  <a:cubicBezTo>
                    <a:pt x="371588" y="326778"/>
                    <a:pt x="370111" y="328280"/>
                    <a:pt x="370111" y="330100"/>
                  </a:cubicBezTo>
                  <a:cubicBezTo>
                    <a:pt x="370111" y="331932"/>
                    <a:pt x="371588" y="333422"/>
                    <a:pt x="373427" y="333422"/>
                  </a:cubicBezTo>
                  <a:cubicBezTo>
                    <a:pt x="375247" y="333422"/>
                    <a:pt x="376731" y="331932"/>
                    <a:pt x="376731" y="330100"/>
                  </a:cubicBezTo>
                  <a:close/>
                  <a:moveTo>
                    <a:pt x="96591" y="132671"/>
                  </a:moveTo>
                  <a:lnTo>
                    <a:pt x="96627" y="132671"/>
                  </a:lnTo>
                  <a:cubicBezTo>
                    <a:pt x="95290" y="133703"/>
                    <a:pt x="86069" y="142125"/>
                    <a:pt x="72053" y="143841"/>
                  </a:cubicBezTo>
                  <a:lnTo>
                    <a:pt x="76847" y="148323"/>
                  </a:lnTo>
                  <a:lnTo>
                    <a:pt x="127052" y="148104"/>
                  </a:lnTo>
                  <a:lnTo>
                    <a:pt x="111473" y="132513"/>
                  </a:lnTo>
                  <a:lnTo>
                    <a:pt x="111461" y="132513"/>
                  </a:lnTo>
                  <a:lnTo>
                    <a:pt x="103552" y="124610"/>
                  </a:lnTo>
                  <a:cubicBezTo>
                    <a:pt x="103552" y="124610"/>
                    <a:pt x="97983" y="131749"/>
                    <a:pt x="96591" y="132671"/>
                  </a:cubicBezTo>
                  <a:close/>
                  <a:moveTo>
                    <a:pt x="290758" y="295193"/>
                  </a:moveTo>
                  <a:lnTo>
                    <a:pt x="290673" y="295193"/>
                  </a:lnTo>
                  <a:lnTo>
                    <a:pt x="289897" y="300695"/>
                  </a:lnTo>
                  <a:lnTo>
                    <a:pt x="288346" y="310424"/>
                  </a:lnTo>
                  <a:lnTo>
                    <a:pt x="293409" y="310424"/>
                  </a:lnTo>
                  <a:lnTo>
                    <a:pt x="291564" y="300695"/>
                  </a:lnTo>
                  <a:close/>
                  <a:moveTo>
                    <a:pt x="186038" y="251670"/>
                  </a:moveTo>
                  <a:cubicBezTo>
                    <a:pt x="186038" y="249032"/>
                    <a:pt x="184816" y="246912"/>
                    <a:pt x="181171" y="247102"/>
                  </a:cubicBezTo>
                  <a:lnTo>
                    <a:pt x="180194" y="247102"/>
                  </a:lnTo>
                  <a:lnTo>
                    <a:pt x="180194" y="256830"/>
                  </a:lnTo>
                  <a:lnTo>
                    <a:pt x="181464" y="256873"/>
                  </a:lnTo>
                  <a:cubicBezTo>
                    <a:pt x="184743" y="256873"/>
                    <a:pt x="186038" y="254650"/>
                    <a:pt x="186038" y="251670"/>
                  </a:cubicBezTo>
                  <a:close/>
                  <a:moveTo>
                    <a:pt x="257305" y="271908"/>
                  </a:moveTo>
                  <a:cubicBezTo>
                    <a:pt x="260816" y="271908"/>
                    <a:pt x="260816" y="269239"/>
                    <a:pt x="260877" y="266528"/>
                  </a:cubicBezTo>
                  <a:lnTo>
                    <a:pt x="260877" y="241392"/>
                  </a:lnTo>
                  <a:lnTo>
                    <a:pt x="268083" y="241392"/>
                  </a:lnTo>
                  <a:lnTo>
                    <a:pt x="268083" y="267999"/>
                  </a:lnTo>
                  <a:cubicBezTo>
                    <a:pt x="268083" y="271859"/>
                    <a:pt x="267644" y="278436"/>
                    <a:pt x="257244" y="278436"/>
                  </a:cubicBezTo>
                  <a:cubicBezTo>
                    <a:pt x="250520" y="278436"/>
                    <a:pt x="246508" y="275303"/>
                    <a:pt x="246508" y="268476"/>
                  </a:cubicBezTo>
                  <a:lnTo>
                    <a:pt x="246508" y="241392"/>
                  </a:lnTo>
                  <a:lnTo>
                    <a:pt x="253720" y="241392"/>
                  </a:lnTo>
                  <a:lnTo>
                    <a:pt x="253720" y="264995"/>
                  </a:lnTo>
                  <a:cubicBezTo>
                    <a:pt x="253720" y="267761"/>
                    <a:pt x="253384" y="271908"/>
                    <a:pt x="257305" y="271908"/>
                  </a:cubicBezTo>
                  <a:close/>
                  <a:moveTo>
                    <a:pt x="275857" y="285807"/>
                  </a:moveTo>
                  <a:lnTo>
                    <a:pt x="275857" y="292579"/>
                  </a:lnTo>
                  <a:lnTo>
                    <a:pt x="268572" y="292579"/>
                  </a:lnTo>
                  <a:lnTo>
                    <a:pt x="268572" y="300500"/>
                  </a:lnTo>
                  <a:lnTo>
                    <a:pt x="275002" y="300500"/>
                  </a:lnTo>
                  <a:lnTo>
                    <a:pt x="275002" y="307285"/>
                  </a:lnTo>
                  <a:lnTo>
                    <a:pt x="268572" y="307285"/>
                  </a:lnTo>
                  <a:lnTo>
                    <a:pt x="268572" y="315511"/>
                  </a:lnTo>
                  <a:lnTo>
                    <a:pt x="275955" y="315511"/>
                  </a:lnTo>
                  <a:lnTo>
                    <a:pt x="275955" y="322295"/>
                  </a:lnTo>
                  <a:lnTo>
                    <a:pt x="261354" y="322295"/>
                  </a:lnTo>
                  <a:lnTo>
                    <a:pt x="261354" y="285807"/>
                  </a:lnTo>
                  <a:close/>
                  <a:moveTo>
                    <a:pt x="273891" y="241392"/>
                  </a:moveTo>
                  <a:lnTo>
                    <a:pt x="282001" y="241392"/>
                  </a:lnTo>
                  <a:lnTo>
                    <a:pt x="284089" y="246473"/>
                  </a:lnTo>
                  <a:cubicBezTo>
                    <a:pt x="284712" y="248256"/>
                    <a:pt x="285451" y="250143"/>
                    <a:pt x="285842" y="252030"/>
                  </a:cubicBezTo>
                  <a:lnTo>
                    <a:pt x="285940" y="252030"/>
                  </a:lnTo>
                  <a:cubicBezTo>
                    <a:pt x="286306" y="250143"/>
                    <a:pt x="286905" y="248305"/>
                    <a:pt x="287577" y="246473"/>
                  </a:cubicBezTo>
                  <a:lnTo>
                    <a:pt x="289732" y="241392"/>
                  </a:lnTo>
                  <a:lnTo>
                    <a:pt x="297543" y="241392"/>
                  </a:lnTo>
                  <a:lnTo>
                    <a:pt x="289732" y="259041"/>
                  </a:lnTo>
                  <a:lnTo>
                    <a:pt x="298105" y="277862"/>
                  </a:lnTo>
                  <a:lnTo>
                    <a:pt x="289732" y="277862"/>
                  </a:lnTo>
                  <a:lnTo>
                    <a:pt x="287430" y="272067"/>
                  </a:lnTo>
                  <a:cubicBezTo>
                    <a:pt x="286746" y="270216"/>
                    <a:pt x="286306" y="268433"/>
                    <a:pt x="285842" y="266589"/>
                  </a:cubicBezTo>
                  <a:lnTo>
                    <a:pt x="285732" y="266589"/>
                  </a:lnTo>
                  <a:cubicBezTo>
                    <a:pt x="285207" y="268433"/>
                    <a:pt x="284780" y="270216"/>
                    <a:pt x="284151" y="272067"/>
                  </a:cubicBezTo>
                  <a:lnTo>
                    <a:pt x="282001" y="277862"/>
                  </a:lnTo>
                  <a:lnTo>
                    <a:pt x="273891" y="277862"/>
                  </a:lnTo>
                  <a:lnTo>
                    <a:pt x="281610" y="259041"/>
                  </a:lnTo>
                  <a:close/>
                  <a:moveTo>
                    <a:pt x="295851" y="322295"/>
                  </a:moveTo>
                  <a:lnTo>
                    <a:pt x="294489" y="316134"/>
                  </a:lnTo>
                  <a:lnTo>
                    <a:pt x="287192" y="316134"/>
                  </a:lnTo>
                  <a:lnTo>
                    <a:pt x="285867" y="322295"/>
                  </a:lnTo>
                  <a:lnTo>
                    <a:pt x="278722" y="322295"/>
                  </a:lnTo>
                  <a:lnTo>
                    <a:pt x="287192" y="285807"/>
                  </a:lnTo>
                  <a:lnTo>
                    <a:pt x="294795" y="285807"/>
                  </a:lnTo>
                  <a:lnTo>
                    <a:pt x="303552" y="322295"/>
                  </a:lnTo>
                  <a:close/>
                  <a:moveTo>
                    <a:pt x="249690" y="322295"/>
                  </a:moveTo>
                  <a:lnTo>
                    <a:pt x="247949" y="296005"/>
                  </a:lnTo>
                  <a:lnTo>
                    <a:pt x="247851" y="296005"/>
                  </a:lnTo>
                  <a:lnTo>
                    <a:pt x="246679" y="305013"/>
                  </a:lnTo>
                  <a:lnTo>
                    <a:pt x="243595" y="322295"/>
                  </a:lnTo>
                  <a:lnTo>
                    <a:pt x="238032" y="322295"/>
                  </a:lnTo>
                  <a:lnTo>
                    <a:pt x="234496" y="304818"/>
                  </a:lnTo>
                  <a:lnTo>
                    <a:pt x="233280" y="296683"/>
                  </a:lnTo>
                  <a:lnTo>
                    <a:pt x="233280" y="296005"/>
                  </a:lnTo>
                  <a:lnTo>
                    <a:pt x="233201" y="296005"/>
                  </a:lnTo>
                  <a:lnTo>
                    <a:pt x="232120" y="322295"/>
                  </a:lnTo>
                  <a:lnTo>
                    <a:pt x="224383" y="322295"/>
                  </a:lnTo>
                  <a:lnTo>
                    <a:pt x="227577" y="285807"/>
                  </a:lnTo>
                  <a:lnTo>
                    <a:pt x="237079" y="285807"/>
                  </a:lnTo>
                  <a:lnTo>
                    <a:pt x="240603" y="307340"/>
                  </a:lnTo>
                  <a:lnTo>
                    <a:pt x="240682" y="307340"/>
                  </a:lnTo>
                  <a:lnTo>
                    <a:pt x="243595" y="285807"/>
                  </a:lnTo>
                  <a:lnTo>
                    <a:pt x="253256" y="285807"/>
                  </a:lnTo>
                  <a:lnTo>
                    <a:pt x="257097" y="322295"/>
                  </a:lnTo>
                  <a:close/>
                  <a:moveTo>
                    <a:pt x="226313" y="241392"/>
                  </a:moveTo>
                  <a:lnTo>
                    <a:pt x="233519" y="241392"/>
                  </a:lnTo>
                  <a:lnTo>
                    <a:pt x="233519" y="271096"/>
                  </a:lnTo>
                  <a:lnTo>
                    <a:pt x="241054" y="271096"/>
                  </a:lnTo>
                  <a:lnTo>
                    <a:pt x="241054" y="277862"/>
                  </a:lnTo>
                  <a:lnTo>
                    <a:pt x="226313" y="277862"/>
                  </a:lnTo>
                  <a:close/>
                  <a:moveTo>
                    <a:pt x="217067" y="235767"/>
                  </a:moveTo>
                  <a:lnTo>
                    <a:pt x="217067" y="359480"/>
                  </a:lnTo>
                  <a:cubicBezTo>
                    <a:pt x="217067" y="359480"/>
                    <a:pt x="224029" y="352512"/>
                    <a:pt x="233793" y="352512"/>
                  </a:cubicBezTo>
                  <a:lnTo>
                    <a:pt x="310544" y="352512"/>
                  </a:lnTo>
                  <a:lnTo>
                    <a:pt x="310544" y="199029"/>
                  </a:lnTo>
                  <a:lnTo>
                    <a:pt x="269134" y="199029"/>
                  </a:lnTo>
                  <a:cubicBezTo>
                    <a:pt x="269134" y="199029"/>
                    <a:pt x="257396" y="235230"/>
                    <a:pt x="217067" y="235767"/>
                  </a:cubicBezTo>
                  <a:close/>
                  <a:moveTo>
                    <a:pt x="119039" y="111236"/>
                  </a:moveTo>
                  <a:cubicBezTo>
                    <a:pt x="119039" y="111236"/>
                    <a:pt x="115760" y="115994"/>
                    <a:pt x="103339" y="118668"/>
                  </a:cubicBezTo>
                  <a:lnTo>
                    <a:pt x="119039" y="133203"/>
                  </a:lnTo>
                  <a:close/>
                  <a:moveTo>
                    <a:pt x="184945" y="96751"/>
                  </a:moveTo>
                  <a:lnTo>
                    <a:pt x="184945" y="80476"/>
                  </a:lnTo>
                  <a:lnTo>
                    <a:pt x="235662" y="80476"/>
                  </a:lnTo>
                  <a:lnTo>
                    <a:pt x="235662" y="103731"/>
                  </a:lnTo>
                  <a:lnTo>
                    <a:pt x="252377" y="103731"/>
                  </a:lnTo>
                  <a:lnTo>
                    <a:pt x="252377" y="120476"/>
                  </a:lnTo>
                  <a:lnTo>
                    <a:pt x="236132" y="120476"/>
                  </a:lnTo>
                  <a:lnTo>
                    <a:pt x="236132" y="127920"/>
                  </a:lnTo>
                  <a:lnTo>
                    <a:pt x="252377" y="127920"/>
                  </a:lnTo>
                  <a:lnTo>
                    <a:pt x="252377" y="146058"/>
                  </a:lnTo>
                  <a:lnTo>
                    <a:pt x="236132" y="146058"/>
                  </a:lnTo>
                  <a:lnTo>
                    <a:pt x="236132" y="200482"/>
                  </a:lnTo>
                  <a:lnTo>
                    <a:pt x="222166" y="200482"/>
                  </a:lnTo>
                  <a:lnTo>
                    <a:pt x="202856" y="181166"/>
                  </a:lnTo>
                  <a:lnTo>
                    <a:pt x="185201" y="198845"/>
                  </a:lnTo>
                  <a:lnTo>
                    <a:pt x="172389" y="186064"/>
                  </a:lnTo>
                  <a:lnTo>
                    <a:pt x="201696" y="156763"/>
                  </a:lnTo>
                  <a:lnTo>
                    <a:pt x="216810" y="171871"/>
                  </a:lnTo>
                  <a:lnTo>
                    <a:pt x="216810" y="96751"/>
                  </a:lnTo>
                  <a:close/>
                  <a:moveTo>
                    <a:pt x="158887" y="174742"/>
                  </a:moveTo>
                  <a:cubicBezTo>
                    <a:pt x="158887" y="213355"/>
                    <a:pt x="183082" y="231175"/>
                    <a:pt x="212945" y="231175"/>
                  </a:cubicBezTo>
                  <a:cubicBezTo>
                    <a:pt x="242813" y="231175"/>
                    <a:pt x="267057" y="213404"/>
                    <a:pt x="267057" y="174742"/>
                  </a:cubicBezTo>
                  <a:cubicBezTo>
                    <a:pt x="267057" y="136091"/>
                    <a:pt x="267057" y="64672"/>
                    <a:pt x="267057" y="64672"/>
                  </a:cubicBezTo>
                  <a:lnTo>
                    <a:pt x="158911" y="64672"/>
                  </a:lnTo>
                  <a:cubicBezTo>
                    <a:pt x="158911" y="64672"/>
                    <a:pt x="158887" y="136165"/>
                    <a:pt x="158887" y="174742"/>
                  </a:cubicBezTo>
                  <a:close/>
                  <a:moveTo>
                    <a:pt x="112701" y="182045"/>
                  </a:moveTo>
                  <a:lnTo>
                    <a:pt x="125610" y="193441"/>
                  </a:lnTo>
                  <a:lnTo>
                    <a:pt x="154728" y="193441"/>
                  </a:lnTo>
                  <a:cubicBezTo>
                    <a:pt x="153342" y="191120"/>
                    <a:pt x="153787" y="182284"/>
                    <a:pt x="153787" y="182284"/>
                  </a:cubicBezTo>
                  <a:close/>
                  <a:moveTo>
                    <a:pt x="347039" y="327560"/>
                  </a:moveTo>
                  <a:cubicBezTo>
                    <a:pt x="347039" y="327560"/>
                    <a:pt x="344682" y="330033"/>
                    <a:pt x="343912" y="333795"/>
                  </a:cubicBezTo>
                  <a:lnTo>
                    <a:pt x="350905" y="341056"/>
                  </a:lnTo>
                  <a:cubicBezTo>
                    <a:pt x="350514" y="336518"/>
                    <a:pt x="349366" y="331902"/>
                    <a:pt x="347039" y="327560"/>
                  </a:cubicBezTo>
                  <a:close/>
                  <a:moveTo>
                    <a:pt x="71589" y="357324"/>
                  </a:moveTo>
                  <a:cubicBezTo>
                    <a:pt x="82349" y="320952"/>
                    <a:pt x="69427" y="306308"/>
                    <a:pt x="69427" y="306308"/>
                  </a:cubicBezTo>
                  <a:cubicBezTo>
                    <a:pt x="56634" y="324317"/>
                    <a:pt x="66545" y="350607"/>
                    <a:pt x="66545" y="350607"/>
                  </a:cubicBezTo>
                  <a:cubicBezTo>
                    <a:pt x="48792" y="327279"/>
                    <a:pt x="20389" y="327419"/>
                    <a:pt x="20389" y="327419"/>
                  </a:cubicBezTo>
                  <a:cubicBezTo>
                    <a:pt x="35601" y="357141"/>
                    <a:pt x="71589" y="357324"/>
                    <a:pt x="71589" y="357324"/>
                  </a:cubicBezTo>
                  <a:close/>
                  <a:moveTo>
                    <a:pt x="69788" y="116360"/>
                  </a:moveTo>
                  <a:cubicBezTo>
                    <a:pt x="107455" y="120659"/>
                    <a:pt x="119668" y="105398"/>
                    <a:pt x="119668" y="105398"/>
                  </a:cubicBezTo>
                  <a:cubicBezTo>
                    <a:pt x="99693" y="95908"/>
                    <a:pt x="75528" y="110235"/>
                    <a:pt x="75528" y="110235"/>
                  </a:cubicBezTo>
                  <a:cubicBezTo>
                    <a:pt x="95430" y="88690"/>
                    <a:pt x="90325" y="60745"/>
                    <a:pt x="90325" y="60745"/>
                  </a:cubicBezTo>
                  <a:cubicBezTo>
                    <a:pt x="63711" y="80898"/>
                    <a:pt x="69788" y="116360"/>
                    <a:pt x="69788" y="116360"/>
                  </a:cubicBezTo>
                  <a:close/>
                  <a:moveTo>
                    <a:pt x="148652" y="382869"/>
                  </a:moveTo>
                  <a:cubicBezTo>
                    <a:pt x="150453" y="404921"/>
                    <a:pt x="174936" y="418674"/>
                    <a:pt x="174936" y="418674"/>
                  </a:cubicBezTo>
                  <a:cubicBezTo>
                    <a:pt x="146313" y="412225"/>
                    <a:pt x="124646" y="430600"/>
                    <a:pt x="124646" y="430600"/>
                  </a:cubicBezTo>
                  <a:cubicBezTo>
                    <a:pt x="155418" y="443584"/>
                    <a:pt x="183082" y="420598"/>
                    <a:pt x="183082" y="420598"/>
                  </a:cubicBezTo>
                  <a:cubicBezTo>
                    <a:pt x="167961" y="385825"/>
                    <a:pt x="148652" y="382869"/>
                    <a:pt x="148652" y="382869"/>
                  </a:cubicBezTo>
                  <a:close/>
                  <a:moveTo>
                    <a:pt x="52633" y="330692"/>
                  </a:moveTo>
                  <a:cubicBezTo>
                    <a:pt x="69556" y="296763"/>
                    <a:pt x="59406" y="280079"/>
                    <a:pt x="59406" y="280079"/>
                  </a:cubicBezTo>
                  <a:cubicBezTo>
                    <a:pt x="43656" y="295596"/>
                    <a:pt x="48866" y="323212"/>
                    <a:pt x="48866" y="323212"/>
                  </a:cubicBezTo>
                  <a:cubicBezTo>
                    <a:pt x="35412" y="297135"/>
                    <a:pt x="7400" y="292366"/>
                    <a:pt x="7400" y="292366"/>
                  </a:cubicBezTo>
                  <a:cubicBezTo>
                    <a:pt x="17263" y="324268"/>
                    <a:pt x="52633" y="330692"/>
                    <a:pt x="52633" y="330692"/>
                  </a:cubicBezTo>
                  <a:close/>
                  <a:moveTo>
                    <a:pt x="128682" y="371846"/>
                  </a:moveTo>
                  <a:lnTo>
                    <a:pt x="123955" y="371816"/>
                  </a:lnTo>
                  <a:cubicBezTo>
                    <a:pt x="123711" y="392646"/>
                    <a:pt x="143760" y="409074"/>
                    <a:pt x="143760" y="409074"/>
                  </a:cubicBezTo>
                  <a:cubicBezTo>
                    <a:pt x="116719" y="397746"/>
                    <a:pt x="92200" y="412066"/>
                    <a:pt x="92200" y="412066"/>
                  </a:cubicBezTo>
                  <a:cubicBezTo>
                    <a:pt x="120230" y="430210"/>
                    <a:pt x="151467" y="412378"/>
                    <a:pt x="151467" y="412378"/>
                  </a:cubicBezTo>
                  <a:cubicBezTo>
                    <a:pt x="145384" y="387034"/>
                    <a:pt x="134746" y="376170"/>
                    <a:pt x="128682" y="371846"/>
                  </a:cubicBezTo>
                  <a:close/>
                  <a:moveTo>
                    <a:pt x="58838" y="387572"/>
                  </a:moveTo>
                  <a:cubicBezTo>
                    <a:pt x="58838" y="387572"/>
                    <a:pt x="64004" y="384506"/>
                    <a:pt x="71516" y="383395"/>
                  </a:cubicBezTo>
                  <a:lnTo>
                    <a:pt x="63168" y="381428"/>
                  </a:lnTo>
                  <a:lnTo>
                    <a:pt x="62404" y="382472"/>
                  </a:lnTo>
                  <a:cubicBezTo>
                    <a:pt x="62856" y="381819"/>
                    <a:pt x="63168" y="381428"/>
                    <a:pt x="63168" y="381428"/>
                  </a:cubicBezTo>
                  <a:lnTo>
                    <a:pt x="26362" y="420176"/>
                  </a:lnTo>
                  <a:cubicBezTo>
                    <a:pt x="26362" y="420176"/>
                    <a:pt x="22172" y="426234"/>
                    <a:pt x="26142" y="430191"/>
                  </a:cubicBezTo>
                  <a:cubicBezTo>
                    <a:pt x="26142" y="430191"/>
                    <a:pt x="29843" y="433208"/>
                    <a:pt x="34973" y="429733"/>
                  </a:cubicBezTo>
                  <a:lnTo>
                    <a:pt x="70838" y="398356"/>
                  </a:lnTo>
                  <a:cubicBezTo>
                    <a:pt x="67186" y="396488"/>
                    <a:pt x="59266" y="389886"/>
                    <a:pt x="58838" y="387572"/>
                  </a:cubicBezTo>
                  <a:close/>
                  <a:moveTo>
                    <a:pt x="38600" y="301178"/>
                  </a:moveTo>
                  <a:cubicBezTo>
                    <a:pt x="61165" y="270693"/>
                    <a:pt x="54050" y="252494"/>
                    <a:pt x="54050" y="252494"/>
                  </a:cubicBezTo>
                  <a:cubicBezTo>
                    <a:pt x="35864" y="265068"/>
                    <a:pt x="36176" y="293166"/>
                    <a:pt x="36176" y="293166"/>
                  </a:cubicBezTo>
                  <a:cubicBezTo>
                    <a:pt x="27467" y="265147"/>
                    <a:pt x="725" y="255572"/>
                    <a:pt x="725" y="255572"/>
                  </a:cubicBezTo>
                  <a:cubicBezTo>
                    <a:pt x="4866" y="288714"/>
                    <a:pt x="38600" y="301178"/>
                    <a:pt x="38600" y="301178"/>
                  </a:cubicBezTo>
                  <a:close/>
                  <a:moveTo>
                    <a:pt x="57507" y="82980"/>
                  </a:moveTo>
                  <a:lnTo>
                    <a:pt x="13934" y="39371"/>
                  </a:lnTo>
                  <a:cubicBezTo>
                    <a:pt x="13934" y="39371"/>
                    <a:pt x="-4331" y="52452"/>
                    <a:pt x="9849" y="82980"/>
                  </a:cubicBezTo>
                  <a:close/>
                  <a:moveTo>
                    <a:pt x="77238" y="67108"/>
                  </a:moveTo>
                  <a:lnTo>
                    <a:pt x="51601" y="41234"/>
                  </a:lnTo>
                  <a:cubicBezTo>
                    <a:pt x="35724" y="25356"/>
                    <a:pt x="16890" y="35817"/>
                    <a:pt x="16890" y="35817"/>
                  </a:cubicBezTo>
                  <a:lnTo>
                    <a:pt x="67388" y="86119"/>
                  </a:lnTo>
                  <a:cubicBezTo>
                    <a:pt x="70777" y="73209"/>
                    <a:pt x="77238" y="67108"/>
                    <a:pt x="77238" y="67108"/>
                  </a:cubicBezTo>
                  <a:close/>
                  <a:moveTo>
                    <a:pt x="30002" y="274296"/>
                  </a:moveTo>
                  <a:cubicBezTo>
                    <a:pt x="30002" y="276121"/>
                    <a:pt x="31485" y="277612"/>
                    <a:pt x="33299" y="277612"/>
                  </a:cubicBezTo>
                  <a:cubicBezTo>
                    <a:pt x="35137" y="277612"/>
                    <a:pt x="36603" y="276121"/>
                    <a:pt x="36603" y="274296"/>
                  </a:cubicBezTo>
                  <a:cubicBezTo>
                    <a:pt x="36603" y="272457"/>
                    <a:pt x="35137" y="270973"/>
                    <a:pt x="33299" y="270973"/>
                  </a:cubicBezTo>
                  <a:cubicBezTo>
                    <a:pt x="31485" y="270973"/>
                    <a:pt x="30002" y="272457"/>
                    <a:pt x="30002" y="274296"/>
                  </a:cubicBezTo>
                  <a:close/>
                  <a:moveTo>
                    <a:pt x="29916" y="269703"/>
                  </a:moveTo>
                  <a:cubicBezTo>
                    <a:pt x="57427" y="243584"/>
                    <a:pt x="53574" y="224427"/>
                    <a:pt x="53574" y="224427"/>
                  </a:cubicBezTo>
                  <a:cubicBezTo>
                    <a:pt x="33482" y="233636"/>
                    <a:pt x="28914" y="261367"/>
                    <a:pt x="28914" y="261367"/>
                  </a:cubicBezTo>
                  <a:cubicBezTo>
                    <a:pt x="25208" y="232274"/>
                    <a:pt x="524" y="218186"/>
                    <a:pt x="524" y="218186"/>
                  </a:cubicBezTo>
                  <a:cubicBezTo>
                    <a:pt x="-1156" y="251554"/>
                    <a:pt x="29916" y="269703"/>
                    <a:pt x="29916" y="269703"/>
                  </a:cubicBezTo>
                  <a:close/>
                  <a:moveTo>
                    <a:pt x="54063" y="333905"/>
                  </a:moveTo>
                  <a:cubicBezTo>
                    <a:pt x="54063" y="335737"/>
                    <a:pt x="55540" y="337227"/>
                    <a:pt x="57385" y="337227"/>
                  </a:cubicBezTo>
                  <a:cubicBezTo>
                    <a:pt x="59211" y="337227"/>
                    <a:pt x="60701" y="335737"/>
                    <a:pt x="60701" y="333905"/>
                  </a:cubicBezTo>
                  <a:cubicBezTo>
                    <a:pt x="60701" y="332073"/>
                    <a:pt x="59211" y="330595"/>
                    <a:pt x="57385" y="330595"/>
                  </a:cubicBezTo>
                  <a:cubicBezTo>
                    <a:pt x="55540" y="330595"/>
                    <a:pt x="54063" y="332073"/>
                    <a:pt x="54063" y="333905"/>
                  </a:cubicBezTo>
                  <a:close/>
                  <a:moveTo>
                    <a:pt x="331460" y="382283"/>
                  </a:moveTo>
                  <a:cubicBezTo>
                    <a:pt x="333286" y="382283"/>
                    <a:pt x="334764" y="380805"/>
                    <a:pt x="334764" y="378967"/>
                  </a:cubicBezTo>
                  <a:cubicBezTo>
                    <a:pt x="334764" y="377135"/>
                    <a:pt x="333286" y="375657"/>
                    <a:pt x="331460" y="375657"/>
                  </a:cubicBezTo>
                  <a:cubicBezTo>
                    <a:pt x="329628" y="375657"/>
                    <a:pt x="328163" y="377135"/>
                    <a:pt x="328163" y="378967"/>
                  </a:cubicBezTo>
                  <a:cubicBezTo>
                    <a:pt x="328163" y="380805"/>
                    <a:pt x="329628" y="382283"/>
                    <a:pt x="331460" y="382283"/>
                  </a:cubicBezTo>
                  <a:close/>
                  <a:moveTo>
                    <a:pt x="349073" y="377990"/>
                  </a:moveTo>
                  <a:lnTo>
                    <a:pt x="337415" y="368482"/>
                  </a:lnTo>
                  <a:cubicBezTo>
                    <a:pt x="337671" y="371443"/>
                    <a:pt x="338037" y="374595"/>
                    <a:pt x="338605" y="377941"/>
                  </a:cubicBezTo>
                  <a:cubicBezTo>
                    <a:pt x="338605" y="377941"/>
                    <a:pt x="342782" y="378442"/>
                    <a:pt x="349073" y="377990"/>
                  </a:cubicBezTo>
                  <a:close/>
                  <a:moveTo>
                    <a:pt x="381677" y="319309"/>
                  </a:moveTo>
                  <a:cubicBezTo>
                    <a:pt x="381677" y="319309"/>
                    <a:pt x="386239" y="291578"/>
                    <a:pt x="370160" y="276427"/>
                  </a:cubicBezTo>
                  <a:cubicBezTo>
                    <a:pt x="370160" y="276427"/>
                    <a:pt x="360352" y="293349"/>
                    <a:pt x="378062" y="326876"/>
                  </a:cubicBezTo>
                  <a:cubicBezTo>
                    <a:pt x="378062" y="326876"/>
                    <a:pt x="413311" y="319633"/>
                    <a:pt x="422404" y="287499"/>
                  </a:cubicBezTo>
                  <a:cubicBezTo>
                    <a:pt x="422404" y="287499"/>
                    <a:pt x="394508" y="292934"/>
                    <a:pt x="381677" y="319309"/>
                  </a:cubicBezTo>
                  <a:close/>
                  <a:moveTo>
                    <a:pt x="160603" y="411822"/>
                  </a:moveTo>
                  <a:cubicBezTo>
                    <a:pt x="160603" y="409996"/>
                    <a:pt x="159113" y="408506"/>
                    <a:pt x="157287" y="408506"/>
                  </a:cubicBezTo>
                  <a:cubicBezTo>
                    <a:pt x="155461" y="408506"/>
                    <a:pt x="153971" y="409996"/>
                    <a:pt x="153971" y="411822"/>
                  </a:cubicBezTo>
                  <a:cubicBezTo>
                    <a:pt x="153971" y="413654"/>
                    <a:pt x="155461" y="415132"/>
                    <a:pt x="157287" y="415132"/>
                  </a:cubicBezTo>
                  <a:cubicBezTo>
                    <a:pt x="159113" y="415132"/>
                    <a:pt x="160603" y="413654"/>
                    <a:pt x="160603" y="411822"/>
                  </a:cubicBezTo>
                  <a:close/>
                  <a:moveTo>
                    <a:pt x="317494" y="391822"/>
                  </a:moveTo>
                  <a:cubicBezTo>
                    <a:pt x="317494" y="391822"/>
                    <a:pt x="324657" y="383230"/>
                    <a:pt x="328218" y="371120"/>
                  </a:cubicBezTo>
                  <a:lnTo>
                    <a:pt x="314728" y="370900"/>
                  </a:lnTo>
                  <a:cubicBezTo>
                    <a:pt x="312602" y="377514"/>
                    <a:pt x="310984" y="385923"/>
                    <a:pt x="310569" y="396573"/>
                  </a:cubicBezTo>
                  <a:cubicBezTo>
                    <a:pt x="310569" y="396573"/>
                    <a:pt x="339705" y="406259"/>
                    <a:pt x="363015" y="389373"/>
                  </a:cubicBezTo>
                  <a:lnTo>
                    <a:pt x="354037" y="382143"/>
                  </a:lnTo>
                  <a:cubicBezTo>
                    <a:pt x="344083" y="381605"/>
                    <a:pt x="330434" y="383071"/>
                    <a:pt x="317494" y="391822"/>
                  </a:cubicBezTo>
                  <a:close/>
                  <a:moveTo>
                    <a:pt x="327302" y="338094"/>
                  </a:moveTo>
                  <a:lnTo>
                    <a:pt x="327302" y="355767"/>
                  </a:lnTo>
                  <a:lnTo>
                    <a:pt x="406355" y="421349"/>
                  </a:lnTo>
                  <a:lnTo>
                    <a:pt x="422172" y="421349"/>
                  </a:lnTo>
                  <a:lnTo>
                    <a:pt x="341689" y="338094"/>
                  </a:lnTo>
                  <a:close/>
                  <a:moveTo>
                    <a:pt x="211479" y="414369"/>
                  </a:moveTo>
                  <a:lnTo>
                    <a:pt x="211479" y="422643"/>
                  </a:lnTo>
                  <a:cubicBezTo>
                    <a:pt x="207662" y="416622"/>
                    <a:pt x="192768" y="394821"/>
                    <a:pt x="175925" y="393758"/>
                  </a:cubicBezTo>
                  <a:cubicBezTo>
                    <a:pt x="175925" y="393758"/>
                    <a:pt x="181635" y="413245"/>
                    <a:pt x="206856" y="424677"/>
                  </a:cubicBezTo>
                  <a:cubicBezTo>
                    <a:pt x="206856" y="424677"/>
                    <a:pt x="175241" y="426784"/>
                    <a:pt x="162331" y="444084"/>
                  </a:cubicBezTo>
                  <a:cubicBezTo>
                    <a:pt x="162331" y="444084"/>
                    <a:pt x="189891" y="446570"/>
                    <a:pt x="211479" y="425117"/>
                  </a:cubicBezTo>
                  <a:lnTo>
                    <a:pt x="211479" y="438564"/>
                  </a:lnTo>
                  <a:lnTo>
                    <a:pt x="219845" y="438564"/>
                  </a:lnTo>
                  <a:lnTo>
                    <a:pt x="219845" y="424146"/>
                  </a:lnTo>
                  <a:lnTo>
                    <a:pt x="219845" y="414369"/>
                  </a:lnTo>
                  <a:close/>
                  <a:moveTo>
                    <a:pt x="225445" y="424604"/>
                  </a:moveTo>
                  <a:cubicBezTo>
                    <a:pt x="250557" y="412976"/>
                    <a:pt x="256120" y="393453"/>
                    <a:pt x="256120" y="393453"/>
                  </a:cubicBezTo>
                  <a:cubicBezTo>
                    <a:pt x="236590" y="394833"/>
                    <a:pt x="219845" y="424146"/>
                    <a:pt x="219845" y="424146"/>
                  </a:cubicBezTo>
                  <a:cubicBezTo>
                    <a:pt x="241708" y="446460"/>
                    <a:pt x="270074" y="443681"/>
                    <a:pt x="270074" y="443681"/>
                  </a:cubicBezTo>
                  <a:cubicBezTo>
                    <a:pt x="257061" y="426466"/>
                    <a:pt x="225445" y="424604"/>
                    <a:pt x="225445" y="424604"/>
                  </a:cubicBezTo>
                  <a:close/>
                  <a:moveTo>
                    <a:pt x="257885" y="417709"/>
                  </a:moveTo>
                  <a:cubicBezTo>
                    <a:pt x="257885" y="417709"/>
                    <a:pt x="282050" y="403376"/>
                    <a:pt x="283296" y="381300"/>
                  </a:cubicBezTo>
                  <a:cubicBezTo>
                    <a:pt x="283296" y="381300"/>
                    <a:pt x="264059" y="384683"/>
                    <a:pt x="249787" y="419816"/>
                  </a:cubicBezTo>
                  <a:cubicBezTo>
                    <a:pt x="249787" y="419816"/>
                    <a:pt x="277952" y="442143"/>
                    <a:pt x="308444" y="428451"/>
                  </a:cubicBezTo>
                  <a:cubicBezTo>
                    <a:pt x="308444" y="428451"/>
                    <a:pt x="286343" y="410582"/>
                    <a:pt x="257885" y="417709"/>
                  </a:cubicBezTo>
                  <a:close/>
                  <a:moveTo>
                    <a:pt x="288822" y="407370"/>
                  </a:moveTo>
                  <a:cubicBezTo>
                    <a:pt x="288822" y="407370"/>
                    <a:pt x="307576" y="391242"/>
                    <a:pt x="307741" y="371126"/>
                  </a:cubicBezTo>
                  <a:lnTo>
                    <a:pt x="301054" y="371382"/>
                  </a:lnTo>
                  <a:cubicBezTo>
                    <a:pt x="294978" y="376701"/>
                    <a:pt x="286111" y="388011"/>
                    <a:pt x="281189" y="410857"/>
                  </a:cubicBezTo>
                  <a:cubicBezTo>
                    <a:pt x="281189" y="410857"/>
                    <a:pt x="312847" y="427962"/>
                    <a:pt x="340456" y="409190"/>
                  </a:cubicBezTo>
                  <a:cubicBezTo>
                    <a:pt x="340456" y="409190"/>
                    <a:pt x="315589" y="395407"/>
                    <a:pt x="288822" y="407370"/>
                  </a:cubicBezTo>
                  <a:close/>
                  <a:moveTo>
                    <a:pt x="272193" y="410552"/>
                  </a:moveTo>
                  <a:cubicBezTo>
                    <a:pt x="272193" y="412378"/>
                    <a:pt x="273659" y="413868"/>
                    <a:pt x="275522" y="413868"/>
                  </a:cubicBezTo>
                  <a:cubicBezTo>
                    <a:pt x="277335" y="413868"/>
                    <a:pt x="278819" y="412378"/>
                    <a:pt x="278819" y="410552"/>
                  </a:cubicBezTo>
                  <a:cubicBezTo>
                    <a:pt x="278819" y="408720"/>
                    <a:pt x="277335" y="407230"/>
                    <a:pt x="275522" y="407230"/>
                  </a:cubicBezTo>
                  <a:cubicBezTo>
                    <a:pt x="273659" y="407230"/>
                    <a:pt x="272193" y="408720"/>
                    <a:pt x="272193" y="410552"/>
                  </a:cubicBezTo>
                  <a:close/>
                  <a:moveTo>
                    <a:pt x="389359" y="168842"/>
                  </a:moveTo>
                  <a:cubicBezTo>
                    <a:pt x="389359" y="168842"/>
                    <a:pt x="406459" y="137203"/>
                    <a:pt x="387674" y="109569"/>
                  </a:cubicBezTo>
                  <a:cubicBezTo>
                    <a:pt x="387674" y="109569"/>
                    <a:pt x="373915" y="134436"/>
                    <a:pt x="385879" y="161215"/>
                  </a:cubicBezTo>
                  <a:cubicBezTo>
                    <a:pt x="385879" y="161215"/>
                    <a:pt x="367564" y="139920"/>
                    <a:pt x="345622" y="142503"/>
                  </a:cubicBezTo>
                  <a:cubicBezTo>
                    <a:pt x="345622" y="142503"/>
                    <a:pt x="352279" y="160867"/>
                    <a:pt x="389359" y="168842"/>
                  </a:cubicBezTo>
                  <a:close/>
                  <a:moveTo>
                    <a:pt x="308908" y="94858"/>
                  </a:moveTo>
                  <a:lnTo>
                    <a:pt x="318954" y="84476"/>
                  </a:lnTo>
                  <a:cubicBezTo>
                    <a:pt x="310398" y="82497"/>
                    <a:pt x="294355" y="79646"/>
                    <a:pt x="281366" y="89319"/>
                  </a:cubicBezTo>
                  <a:cubicBezTo>
                    <a:pt x="281366" y="89319"/>
                    <a:pt x="288041" y="96885"/>
                    <a:pt x="308908" y="94858"/>
                  </a:cubicBezTo>
                  <a:close/>
                  <a:moveTo>
                    <a:pt x="375674" y="148537"/>
                  </a:moveTo>
                  <a:cubicBezTo>
                    <a:pt x="377494" y="148537"/>
                    <a:pt x="378984" y="147053"/>
                    <a:pt x="378984" y="145227"/>
                  </a:cubicBezTo>
                  <a:cubicBezTo>
                    <a:pt x="378984" y="143395"/>
                    <a:pt x="377494" y="141899"/>
                    <a:pt x="375674" y="141899"/>
                  </a:cubicBezTo>
                  <a:cubicBezTo>
                    <a:pt x="373854" y="141899"/>
                    <a:pt x="372358" y="143395"/>
                    <a:pt x="372358" y="145227"/>
                  </a:cubicBezTo>
                  <a:cubicBezTo>
                    <a:pt x="372358" y="147053"/>
                    <a:pt x="373854" y="148537"/>
                    <a:pt x="375674" y="148537"/>
                  </a:cubicBezTo>
                  <a:close/>
                  <a:moveTo>
                    <a:pt x="398324" y="200274"/>
                  </a:moveTo>
                  <a:cubicBezTo>
                    <a:pt x="398324" y="200274"/>
                    <a:pt x="420669" y="172073"/>
                    <a:pt x="406947" y="141600"/>
                  </a:cubicBezTo>
                  <a:cubicBezTo>
                    <a:pt x="406947" y="141600"/>
                    <a:pt x="389085" y="163688"/>
                    <a:pt x="396205" y="192152"/>
                  </a:cubicBezTo>
                  <a:cubicBezTo>
                    <a:pt x="396205" y="192152"/>
                    <a:pt x="381897" y="167993"/>
                    <a:pt x="359808" y="166723"/>
                  </a:cubicBezTo>
                  <a:cubicBezTo>
                    <a:pt x="359808" y="166723"/>
                    <a:pt x="363210" y="185960"/>
                    <a:pt x="398324" y="200274"/>
                  </a:cubicBezTo>
                  <a:close/>
                  <a:moveTo>
                    <a:pt x="350062" y="41447"/>
                  </a:moveTo>
                  <a:cubicBezTo>
                    <a:pt x="360517" y="46638"/>
                    <a:pt x="368932" y="41191"/>
                    <a:pt x="368932" y="41191"/>
                  </a:cubicBezTo>
                  <a:cubicBezTo>
                    <a:pt x="380553" y="35493"/>
                    <a:pt x="388993" y="43401"/>
                    <a:pt x="388993" y="43401"/>
                  </a:cubicBezTo>
                  <a:cubicBezTo>
                    <a:pt x="397115" y="49746"/>
                    <a:pt x="395766" y="58101"/>
                    <a:pt x="395766" y="58101"/>
                  </a:cubicBezTo>
                  <a:cubicBezTo>
                    <a:pt x="395766" y="64482"/>
                    <a:pt x="393934" y="64928"/>
                    <a:pt x="393934" y="64928"/>
                  </a:cubicBezTo>
                  <a:cubicBezTo>
                    <a:pt x="390050" y="67591"/>
                    <a:pt x="391021" y="63096"/>
                    <a:pt x="391021" y="63096"/>
                  </a:cubicBezTo>
                  <a:cubicBezTo>
                    <a:pt x="391143" y="63035"/>
                    <a:pt x="391900" y="59927"/>
                    <a:pt x="391900" y="59927"/>
                  </a:cubicBezTo>
                  <a:cubicBezTo>
                    <a:pt x="393427" y="45496"/>
                    <a:pt x="380456" y="43414"/>
                    <a:pt x="380456" y="43414"/>
                  </a:cubicBezTo>
                  <a:cubicBezTo>
                    <a:pt x="366721" y="41007"/>
                    <a:pt x="363289" y="53722"/>
                    <a:pt x="363289" y="53722"/>
                  </a:cubicBezTo>
                  <a:cubicBezTo>
                    <a:pt x="362404" y="57215"/>
                    <a:pt x="362343" y="60330"/>
                    <a:pt x="362721" y="63059"/>
                  </a:cubicBezTo>
                  <a:lnTo>
                    <a:pt x="345561" y="45887"/>
                  </a:lnTo>
                  <a:lnTo>
                    <a:pt x="346367" y="60409"/>
                  </a:lnTo>
                  <a:lnTo>
                    <a:pt x="384730" y="98785"/>
                  </a:lnTo>
                  <a:lnTo>
                    <a:pt x="398459" y="98785"/>
                  </a:lnTo>
                  <a:lnTo>
                    <a:pt x="384517" y="84849"/>
                  </a:lnTo>
                  <a:cubicBezTo>
                    <a:pt x="391876" y="87163"/>
                    <a:pt x="398337" y="87401"/>
                    <a:pt x="398337" y="87401"/>
                  </a:cubicBezTo>
                  <a:cubicBezTo>
                    <a:pt x="417927" y="86198"/>
                    <a:pt x="419985" y="67475"/>
                    <a:pt x="419985" y="67475"/>
                  </a:cubicBezTo>
                  <a:cubicBezTo>
                    <a:pt x="425164" y="47884"/>
                    <a:pt x="406593" y="32073"/>
                    <a:pt x="406593" y="32073"/>
                  </a:cubicBezTo>
                  <a:cubicBezTo>
                    <a:pt x="394202" y="21423"/>
                    <a:pt x="375479" y="20562"/>
                    <a:pt x="375479" y="20562"/>
                  </a:cubicBezTo>
                  <a:cubicBezTo>
                    <a:pt x="348853" y="17484"/>
                    <a:pt x="339405" y="458"/>
                    <a:pt x="339405" y="458"/>
                  </a:cubicBezTo>
                  <a:cubicBezTo>
                    <a:pt x="336285" y="8208"/>
                    <a:pt x="337085" y="19676"/>
                    <a:pt x="337085" y="19676"/>
                  </a:cubicBezTo>
                  <a:cubicBezTo>
                    <a:pt x="338862" y="37319"/>
                    <a:pt x="350062" y="41447"/>
                    <a:pt x="350062" y="41447"/>
                  </a:cubicBezTo>
                  <a:close/>
                  <a:moveTo>
                    <a:pt x="393616" y="205697"/>
                  </a:moveTo>
                  <a:cubicBezTo>
                    <a:pt x="393616" y="207535"/>
                    <a:pt x="395088" y="209013"/>
                    <a:pt x="396914" y="209013"/>
                  </a:cubicBezTo>
                  <a:cubicBezTo>
                    <a:pt x="398764" y="209013"/>
                    <a:pt x="400242" y="207535"/>
                    <a:pt x="400242" y="205697"/>
                  </a:cubicBezTo>
                  <a:cubicBezTo>
                    <a:pt x="400242" y="203871"/>
                    <a:pt x="398764" y="202381"/>
                    <a:pt x="396914" y="202381"/>
                  </a:cubicBezTo>
                  <a:cubicBezTo>
                    <a:pt x="395088" y="202381"/>
                    <a:pt x="393616" y="203871"/>
                    <a:pt x="393616" y="205697"/>
                  </a:cubicBezTo>
                  <a:close/>
                  <a:moveTo>
                    <a:pt x="320920" y="81930"/>
                  </a:moveTo>
                  <a:lnTo>
                    <a:pt x="329024" y="73710"/>
                  </a:lnTo>
                  <a:cubicBezTo>
                    <a:pt x="325592" y="62113"/>
                    <a:pt x="318618" y="48122"/>
                    <a:pt x="301348" y="39786"/>
                  </a:cubicBezTo>
                  <a:cubicBezTo>
                    <a:pt x="301348" y="39786"/>
                    <a:pt x="300639" y="64598"/>
                    <a:pt x="320920" y="81930"/>
                  </a:cubicBezTo>
                  <a:close/>
                  <a:moveTo>
                    <a:pt x="341244" y="311114"/>
                  </a:moveTo>
                  <a:lnTo>
                    <a:pt x="327302" y="311114"/>
                  </a:lnTo>
                  <a:lnTo>
                    <a:pt x="327302" y="328793"/>
                  </a:lnTo>
                  <a:lnTo>
                    <a:pt x="341244" y="328793"/>
                  </a:lnTo>
                  <a:close/>
                  <a:moveTo>
                    <a:pt x="352108" y="136012"/>
                  </a:moveTo>
                  <a:cubicBezTo>
                    <a:pt x="358251" y="137759"/>
                    <a:pt x="365830" y="139071"/>
                    <a:pt x="375094" y="139456"/>
                  </a:cubicBezTo>
                  <a:cubicBezTo>
                    <a:pt x="375094" y="139456"/>
                    <a:pt x="379295" y="126955"/>
                    <a:pt x="377445" y="111749"/>
                  </a:cubicBezTo>
                  <a:lnTo>
                    <a:pt x="365359" y="123316"/>
                  </a:lnTo>
                  <a:cubicBezTo>
                    <a:pt x="366660" y="126394"/>
                    <a:pt x="368321" y="129484"/>
                    <a:pt x="370355" y="132537"/>
                  </a:cubicBezTo>
                  <a:cubicBezTo>
                    <a:pt x="370355" y="132537"/>
                    <a:pt x="367039" y="129777"/>
                    <a:pt x="361708" y="126815"/>
                  </a:cubicBezTo>
                  <a:close/>
                  <a:moveTo>
                    <a:pt x="87021" y="98296"/>
                  </a:moveTo>
                  <a:cubicBezTo>
                    <a:pt x="87021" y="100116"/>
                    <a:pt x="88505" y="101600"/>
                    <a:pt x="90325" y="101600"/>
                  </a:cubicBezTo>
                  <a:cubicBezTo>
                    <a:pt x="92157" y="101600"/>
                    <a:pt x="93653" y="100116"/>
                    <a:pt x="93653" y="98296"/>
                  </a:cubicBezTo>
                  <a:cubicBezTo>
                    <a:pt x="93653" y="96452"/>
                    <a:pt x="92157" y="94980"/>
                    <a:pt x="90325" y="94980"/>
                  </a:cubicBezTo>
                  <a:cubicBezTo>
                    <a:pt x="88505" y="94980"/>
                    <a:pt x="87021" y="96452"/>
                    <a:pt x="87021" y="98296"/>
                  </a:cubicBezTo>
                  <a:close/>
                  <a:moveTo>
                    <a:pt x="378911" y="102272"/>
                  </a:moveTo>
                  <a:lnTo>
                    <a:pt x="343106" y="66467"/>
                  </a:lnTo>
                  <a:lnTo>
                    <a:pt x="310996" y="101343"/>
                  </a:lnTo>
                  <a:lnTo>
                    <a:pt x="345445" y="135304"/>
                  </a:lnTo>
                  <a:close/>
                  <a:moveTo>
                    <a:pt x="302862" y="103444"/>
                  </a:moveTo>
                  <a:lnTo>
                    <a:pt x="295668" y="112055"/>
                  </a:lnTo>
                  <a:lnTo>
                    <a:pt x="334728" y="151126"/>
                  </a:lnTo>
                  <a:lnTo>
                    <a:pt x="342642" y="143206"/>
                  </a:lnTo>
                  <a:close/>
                  <a:moveTo>
                    <a:pt x="340547" y="224604"/>
                  </a:moveTo>
                  <a:lnTo>
                    <a:pt x="326605" y="224604"/>
                  </a:lnTo>
                  <a:lnTo>
                    <a:pt x="326605" y="242283"/>
                  </a:lnTo>
                  <a:lnTo>
                    <a:pt x="340547" y="242283"/>
                  </a:lnTo>
                  <a:close/>
                  <a:moveTo>
                    <a:pt x="173366" y="55841"/>
                  </a:moveTo>
                  <a:cubicBezTo>
                    <a:pt x="173366" y="55841"/>
                    <a:pt x="184352" y="63108"/>
                    <a:pt x="203650" y="49808"/>
                  </a:cubicBezTo>
                  <a:cubicBezTo>
                    <a:pt x="203650" y="49808"/>
                    <a:pt x="179754" y="40006"/>
                    <a:pt x="173366" y="55841"/>
                  </a:cubicBezTo>
                  <a:close/>
                  <a:moveTo>
                    <a:pt x="297806" y="68354"/>
                  </a:moveTo>
                  <a:cubicBezTo>
                    <a:pt x="297806" y="68354"/>
                    <a:pt x="286966" y="65062"/>
                    <a:pt x="273268" y="69740"/>
                  </a:cubicBezTo>
                  <a:lnTo>
                    <a:pt x="273225" y="82229"/>
                  </a:lnTo>
                  <a:cubicBezTo>
                    <a:pt x="281586" y="82064"/>
                    <a:pt x="290044" y="80055"/>
                    <a:pt x="305372" y="71963"/>
                  </a:cubicBezTo>
                  <a:cubicBezTo>
                    <a:pt x="305372" y="71963"/>
                    <a:pt x="298117" y="36733"/>
                    <a:pt x="266007" y="27658"/>
                  </a:cubicBezTo>
                  <a:cubicBezTo>
                    <a:pt x="266007" y="27658"/>
                    <a:pt x="271436" y="55536"/>
                    <a:pt x="297806" y="68354"/>
                  </a:cubicBezTo>
                  <a:close/>
                  <a:moveTo>
                    <a:pt x="153787" y="83908"/>
                  </a:moveTo>
                  <a:lnTo>
                    <a:pt x="154032" y="71756"/>
                  </a:lnTo>
                  <a:cubicBezTo>
                    <a:pt x="140517" y="67780"/>
                    <a:pt x="126844" y="70345"/>
                    <a:pt x="126844" y="70345"/>
                  </a:cubicBezTo>
                  <a:cubicBezTo>
                    <a:pt x="152908" y="56916"/>
                    <a:pt x="157671" y="28910"/>
                    <a:pt x="157671" y="28910"/>
                  </a:cubicBezTo>
                  <a:cubicBezTo>
                    <a:pt x="125739" y="38748"/>
                    <a:pt x="119333" y="74137"/>
                    <a:pt x="119333" y="74137"/>
                  </a:cubicBezTo>
                  <a:cubicBezTo>
                    <a:pt x="134062" y="81478"/>
                    <a:pt x="145519" y="83719"/>
                    <a:pt x="153787" y="83908"/>
                  </a:cubicBezTo>
                  <a:close/>
                  <a:moveTo>
                    <a:pt x="143748" y="90943"/>
                  </a:moveTo>
                  <a:cubicBezTo>
                    <a:pt x="125714" y="78137"/>
                    <a:pt x="99430" y="88055"/>
                    <a:pt x="99430" y="88055"/>
                  </a:cubicBezTo>
                  <a:cubicBezTo>
                    <a:pt x="122759" y="70284"/>
                    <a:pt x="122612" y="41875"/>
                    <a:pt x="122612" y="41875"/>
                  </a:cubicBezTo>
                  <a:cubicBezTo>
                    <a:pt x="92890" y="57105"/>
                    <a:pt x="92725" y="93087"/>
                    <a:pt x="92725" y="93087"/>
                  </a:cubicBezTo>
                  <a:cubicBezTo>
                    <a:pt x="129067" y="103853"/>
                    <a:pt x="143748" y="90943"/>
                    <a:pt x="143748" y="90943"/>
                  </a:cubicBezTo>
                  <a:close/>
                  <a:moveTo>
                    <a:pt x="141696" y="64262"/>
                  </a:moveTo>
                  <a:cubicBezTo>
                    <a:pt x="141696" y="66088"/>
                    <a:pt x="143186" y="67578"/>
                    <a:pt x="145000" y="67578"/>
                  </a:cubicBezTo>
                  <a:cubicBezTo>
                    <a:pt x="146838" y="67578"/>
                    <a:pt x="148328" y="66088"/>
                    <a:pt x="148328" y="64262"/>
                  </a:cubicBezTo>
                  <a:cubicBezTo>
                    <a:pt x="148328" y="62436"/>
                    <a:pt x="146838" y="60946"/>
                    <a:pt x="145000" y="60946"/>
                  </a:cubicBezTo>
                  <a:cubicBezTo>
                    <a:pt x="143186" y="60946"/>
                    <a:pt x="141696" y="62436"/>
                    <a:pt x="141696" y="64262"/>
                  </a:cubicBezTo>
                  <a:close/>
                  <a:moveTo>
                    <a:pt x="149714" y="60769"/>
                  </a:moveTo>
                  <a:lnTo>
                    <a:pt x="174752" y="60409"/>
                  </a:lnTo>
                  <a:cubicBezTo>
                    <a:pt x="166984" y="55737"/>
                    <a:pt x="158471" y="55902"/>
                    <a:pt x="158471" y="55902"/>
                  </a:cubicBezTo>
                  <a:cubicBezTo>
                    <a:pt x="186459" y="47188"/>
                    <a:pt x="194453" y="22229"/>
                    <a:pt x="194453" y="22229"/>
                  </a:cubicBezTo>
                  <a:cubicBezTo>
                    <a:pt x="161305" y="26369"/>
                    <a:pt x="148829" y="60116"/>
                    <a:pt x="148829" y="60116"/>
                  </a:cubicBezTo>
                  <a:cubicBezTo>
                    <a:pt x="149275" y="60440"/>
                    <a:pt x="149299" y="60446"/>
                    <a:pt x="149714" y="60769"/>
                  </a:cubicBezTo>
                  <a:close/>
                  <a:moveTo>
                    <a:pt x="283283" y="62461"/>
                  </a:moveTo>
                  <a:cubicBezTo>
                    <a:pt x="283283" y="60629"/>
                    <a:pt x="281806" y="59145"/>
                    <a:pt x="279961" y="59145"/>
                  </a:cubicBezTo>
                  <a:cubicBezTo>
                    <a:pt x="278135" y="59145"/>
                    <a:pt x="276657" y="60629"/>
                    <a:pt x="276657" y="62461"/>
                  </a:cubicBezTo>
                  <a:cubicBezTo>
                    <a:pt x="276657" y="64281"/>
                    <a:pt x="278135" y="65777"/>
                    <a:pt x="279961" y="65777"/>
                  </a:cubicBezTo>
                  <a:cubicBezTo>
                    <a:pt x="281806" y="65777"/>
                    <a:pt x="283283" y="64281"/>
                    <a:pt x="283283" y="62461"/>
                  </a:cubicBezTo>
                  <a:close/>
                  <a:moveTo>
                    <a:pt x="265708" y="55902"/>
                  </a:moveTo>
                  <a:cubicBezTo>
                    <a:pt x="265708" y="55902"/>
                    <a:pt x="257195" y="55737"/>
                    <a:pt x="249439" y="60409"/>
                  </a:cubicBezTo>
                  <a:lnTo>
                    <a:pt x="274441" y="60769"/>
                  </a:lnTo>
                  <a:cubicBezTo>
                    <a:pt x="274893" y="60446"/>
                    <a:pt x="274893" y="60440"/>
                    <a:pt x="275332" y="60116"/>
                  </a:cubicBezTo>
                  <a:cubicBezTo>
                    <a:pt x="275332" y="60116"/>
                    <a:pt x="262868" y="26369"/>
                    <a:pt x="229726" y="22229"/>
                  </a:cubicBezTo>
                  <a:cubicBezTo>
                    <a:pt x="229726" y="22229"/>
                    <a:pt x="237714" y="47188"/>
                    <a:pt x="265708" y="55902"/>
                  </a:cubicBezTo>
                  <a:close/>
                  <a:moveTo>
                    <a:pt x="211925" y="52061"/>
                  </a:moveTo>
                  <a:cubicBezTo>
                    <a:pt x="214392" y="52061"/>
                    <a:pt x="216371" y="50070"/>
                    <a:pt x="216371" y="47621"/>
                  </a:cubicBezTo>
                  <a:cubicBezTo>
                    <a:pt x="216371" y="45172"/>
                    <a:pt x="214392" y="43188"/>
                    <a:pt x="211925" y="43188"/>
                  </a:cubicBezTo>
                  <a:cubicBezTo>
                    <a:pt x="209482" y="43188"/>
                    <a:pt x="207491" y="45172"/>
                    <a:pt x="207491" y="47621"/>
                  </a:cubicBezTo>
                  <a:cubicBezTo>
                    <a:pt x="207491" y="50070"/>
                    <a:pt x="209482" y="52061"/>
                    <a:pt x="211925" y="52061"/>
                  </a:cubicBezTo>
                  <a:close/>
                  <a:moveTo>
                    <a:pt x="250789" y="54375"/>
                  </a:moveTo>
                  <a:cubicBezTo>
                    <a:pt x="243790" y="38785"/>
                    <a:pt x="220316" y="49484"/>
                    <a:pt x="220316" y="49484"/>
                  </a:cubicBezTo>
                  <a:cubicBezTo>
                    <a:pt x="240077" y="62052"/>
                    <a:pt x="250789" y="54375"/>
                    <a:pt x="250789" y="54375"/>
                  </a:cubicBezTo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FBEB5D0-5A4A-4C7B-8F61-CE4FF4204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901" y="5176804"/>
            <a:ext cx="1395293" cy="1526773"/>
          </a:xfrm>
          <a:prstGeom prst="rect">
            <a:avLst/>
          </a:prstGeom>
        </p:spPr>
      </p:pic>
      <p:pic>
        <p:nvPicPr>
          <p:cNvPr id="11" name="그림 10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C80398-7808-4CA8-8FB0-4AE9DF8490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2" t="20241" r="20917" b="40723"/>
          <a:stretch/>
        </p:blipFill>
        <p:spPr>
          <a:xfrm>
            <a:off x="10168168" y="5277483"/>
            <a:ext cx="1875552" cy="127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8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16823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Physics informed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151913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0D17C5-ABDE-4CE4-8D3B-FFA38068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637785"/>
            <a:ext cx="1051706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26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80B7B6-FE12-42FD-A3D3-73ABDDA2A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675891"/>
            <a:ext cx="10402752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8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B81D79-C1BE-44C6-81BB-0A8A5A48E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799733"/>
            <a:ext cx="10574226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2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5A7911-4BDD-4F44-AD0D-51932B30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5" y="618733"/>
            <a:ext cx="1045991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6C359443-4661-44C8-BD78-CCD2E596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16823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Why do we care?</a:t>
            </a:r>
          </a:p>
        </p:txBody>
      </p:sp>
    </p:spTree>
    <p:extLst>
      <p:ext uri="{BB962C8B-B14F-4D97-AF65-F5344CB8AC3E}">
        <p14:creationId xmlns:p14="http://schemas.microsoft.com/office/powerpoint/2010/main" val="246537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16823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Generalization issues</a:t>
            </a:r>
            <a:r>
              <a:rPr lang="ko-KR" altLang="en-US" dirty="0">
                <a:latin typeface="Calibri" pitchFamily="34" charset="0"/>
                <a:ea typeface="굴림" pitchFamily="50" charset="-127"/>
                <a:cs typeface="Calibri" pitchFamily="34" charset="0"/>
              </a:rPr>
              <a:t> </a:t>
            </a: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in</a:t>
            </a:r>
            <a:r>
              <a:rPr lang="ko-KR" altLang="en-US" dirty="0">
                <a:latin typeface="Calibri" pitchFamily="34" charset="0"/>
                <a:ea typeface="굴림" pitchFamily="50" charset="-127"/>
                <a:cs typeface="Calibri" pitchFamily="34" charset="0"/>
              </a:rPr>
              <a:t> </a:t>
            </a: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deep</a:t>
            </a:r>
            <a:r>
              <a:rPr lang="ko-KR" altLang="en-US" dirty="0">
                <a:latin typeface="Calibri" pitchFamily="34" charset="0"/>
                <a:ea typeface="굴림" pitchFamily="50" charset="-127"/>
                <a:cs typeface="Calibri" pitchFamily="34" charset="0"/>
              </a:rPr>
              <a:t> </a:t>
            </a: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learning</a:t>
            </a:r>
          </a:p>
        </p:txBody>
      </p:sp>
    </p:spTree>
    <p:extLst>
      <p:ext uri="{BB962C8B-B14F-4D97-AF65-F5344CB8AC3E}">
        <p14:creationId xmlns:p14="http://schemas.microsoft.com/office/powerpoint/2010/main" val="32374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09" y="3658263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405" y="3655143"/>
            <a:ext cx="1781099" cy="1759919"/>
          </a:xfrm>
          <a:prstGeom prst="rect">
            <a:avLst/>
          </a:prstGeom>
        </p:spPr>
      </p:pic>
      <p:sp>
        <p:nvSpPr>
          <p:cNvPr id="65" name="직사각형 64"/>
          <p:cNvSpPr/>
          <p:nvPr/>
        </p:nvSpPr>
        <p:spPr>
          <a:xfrm>
            <a:off x="7925736" y="3580982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Calibri" pitchFamily="34" charset="0"/>
              </a:rPr>
              <a:t>Suscep</a:t>
            </a:r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 map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5" name="그림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0982" y="3648607"/>
            <a:ext cx="1769550" cy="1753677"/>
          </a:xfrm>
          <a:prstGeom prst="rect">
            <a:avLst/>
          </a:prstGeom>
        </p:spPr>
      </p:pic>
      <p:sp>
        <p:nvSpPr>
          <p:cNvPr id="76" name="직사각형 75"/>
          <p:cNvSpPr/>
          <p:nvPr/>
        </p:nvSpPr>
        <p:spPr>
          <a:xfrm>
            <a:off x="2429898" y="3574447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Local field map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485" y="1440216"/>
            <a:ext cx="1769550" cy="1753677"/>
          </a:xfrm>
          <a:prstGeom prst="rect">
            <a:avLst/>
          </a:prstGeom>
        </p:spPr>
      </p:pic>
      <p:pic>
        <p:nvPicPr>
          <p:cNvPr id="78" name="그림 7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069" y="1440216"/>
            <a:ext cx="1781099" cy="1759919"/>
          </a:xfrm>
          <a:prstGeom prst="rect">
            <a:avLst/>
          </a:prstGeom>
        </p:spPr>
      </p:pic>
      <p:sp>
        <p:nvSpPr>
          <p:cNvPr id="79" name="직사각형 78"/>
          <p:cNvSpPr/>
          <p:nvPr/>
        </p:nvSpPr>
        <p:spPr>
          <a:xfrm>
            <a:off x="3690853" y="3252344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Calibri" pitchFamily="34" charset="0"/>
              </a:rPr>
              <a:t>Deconvolution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7257009" y="2021546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/>
              <a:t>=</a:t>
            </a:r>
            <a:endParaRPr lang="ko-KR" altLang="en-US" sz="3200" dirty="0"/>
          </a:p>
        </p:txBody>
      </p:sp>
      <p:pic>
        <p:nvPicPr>
          <p:cNvPr id="81" name="Picture 2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775" y="1456958"/>
            <a:ext cx="1780634" cy="175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2" name="직선 화살표 연결선 81"/>
          <p:cNvCxnSpPr/>
          <p:nvPr/>
        </p:nvCxnSpPr>
        <p:spPr>
          <a:xfrm>
            <a:off x="4730550" y="1429545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3692236" y="1042544"/>
            <a:ext cx="20882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Calibri" pitchFamily="34" charset="0"/>
              </a:rPr>
              <a:t>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직사각형 83"/>
              <p:cNvSpPr/>
              <p:nvPr/>
            </p:nvSpPr>
            <p:spPr>
              <a:xfrm>
                <a:off x="4454235" y="2001610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000" i="1">
                          <a:latin typeface="Cambria Math"/>
                        </a:rPr>
                        <m:t>⊗</m:t>
                      </m:r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84" name="직사각형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235" y="2001610"/>
                <a:ext cx="509384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직사각형 84"/>
          <p:cNvSpPr/>
          <p:nvPr/>
        </p:nvSpPr>
        <p:spPr>
          <a:xfrm>
            <a:off x="5151760" y="1382682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Dipole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7931401" y="1366056"/>
            <a:ext cx="17806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Local field </a:t>
            </a:r>
            <a:r>
              <a:rPr lang="en-US" altLang="ko-KR" dirty="0" err="1">
                <a:solidFill>
                  <a:schemeClr val="bg1"/>
                </a:solidFill>
                <a:latin typeface="Calibri" pitchFamily="34" charset="0"/>
              </a:rPr>
              <a:t>distr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746979" y="4054545"/>
            <a:ext cx="3930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dirty="0">
                <a:latin typeface="Calibri" pitchFamily="34" charset="0"/>
              </a:rPr>
              <a:t>-1</a:t>
            </a:r>
            <a:endParaRPr lang="ko-KR" altLang="en-US" sz="2000" dirty="0">
              <a:latin typeface="Calibri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7255626" y="4226881"/>
            <a:ext cx="4716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dirty="0"/>
              <a:t>=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직사각형 88"/>
              <p:cNvSpPr/>
              <p:nvPr/>
            </p:nvSpPr>
            <p:spPr>
              <a:xfrm>
                <a:off x="4452852" y="4210793"/>
                <a:ext cx="50938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000" i="1">
                          <a:latin typeface="Cambria Math"/>
                        </a:rPr>
                        <m:t>⊗</m:t>
                      </m:r>
                    </m:oMath>
                  </m:oMathPara>
                </a14:m>
                <a:endParaRPr lang="ko-KR" altLang="en-US" sz="3000" dirty="0"/>
              </a:p>
            </p:txBody>
          </p:sp>
        </mc:Choice>
        <mc:Fallback xmlns="">
          <p:sp>
            <p:nvSpPr>
              <p:cNvPr id="89" name="직사각형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852" y="4210793"/>
                <a:ext cx="509384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직사각형 91"/>
          <p:cNvSpPr/>
          <p:nvPr/>
        </p:nvSpPr>
        <p:spPr>
          <a:xfrm>
            <a:off x="5160073" y="3574331"/>
            <a:ext cx="1994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Dipole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329461" y="1366055"/>
            <a:ext cx="2012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Calibri" pitchFamily="34" charset="0"/>
              </a:rPr>
              <a:t>Suscep</a:t>
            </a:r>
            <a:r>
              <a:rPr lang="en-US" altLang="ko-KR" dirty="0">
                <a:solidFill>
                  <a:schemeClr val="bg1"/>
                </a:solidFill>
                <a:latin typeface="Calibri" pitchFamily="34" charset="0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Calibri" pitchFamily="34" charset="0"/>
              </a:rPr>
              <a:t>distr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1853176" y="5523166"/>
            <a:ext cx="8480783" cy="503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itchFamily="34" charset="0"/>
                <a:cs typeface="Calibri" pitchFamily="34" charset="0"/>
              </a:rPr>
              <a:t>Susceptibility map is generated from local field map by dipole deconvolution</a:t>
            </a:r>
            <a:endParaRPr lang="ko-KR" altLang="en-US" sz="2000" dirty="0"/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4732713" y="3640709"/>
            <a:ext cx="0" cy="72000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79657C8-9B7F-467D-8B4B-9AFCC0EEB97A}"/>
              </a:ext>
            </a:extLst>
          </p:cNvPr>
          <p:cNvSpPr/>
          <p:nvPr/>
        </p:nvSpPr>
        <p:spPr>
          <a:xfrm>
            <a:off x="1855607" y="5925332"/>
            <a:ext cx="8258030" cy="5037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itchFamily="34" charset="0"/>
                <a:cs typeface="Calibri" pitchFamily="34" charset="0"/>
              </a:rPr>
              <a:t>Fourier transform suggests dipole deconvolution requires division by zeros</a:t>
            </a:r>
            <a:endParaRPr lang="ko-KR" altLang="en-US" sz="2000" dirty="0"/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id="{B0E25ADE-9294-4C99-8321-31151394BA0E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</a:t>
            </a:r>
            <a:endParaRPr lang="ko-KR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8331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679690" y="1245207"/>
            <a:ext cx="7449090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Multiple head orientation data</a:t>
            </a:r>
          </a:p>
          <a:p>
            <a:pPr marL="800100" lvl="1" indent="-342900" fontAlgn="base" latinLnBrk="0">
              <a:spcBef>
                <a:spcPct val="20000"/>
              </a:spcBef>
              <a:spcAft>
                <a:spcPct val="0"/>
              </a:spcAft>
              <a:buFontTx/>
              <a:buChar char="-"/>
            </a:pP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Remove zeros using three or more orientation data (COSMOS)</a:t>
            </a:r>
          </a:p>
          <a:p>
            <a:pPr marL="800100" lvl="1" indent="-342900" fontAlgn="base" latinLnBrk="0">
              <a:spcBef>
                <a:spcPct val="20000"/>
              </a:spcBef>
              <a:spcAft>
                <a:spcPct val="0"/>
              </a:spcAft>
              <a:buFontTx/>
              <a:buChar char="-"/>
            </a:pP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marL="800100" lvl="1" indent="-342900" fontAlgn="base" latinLnBrk="0">
              <a:spcBef>
                <a:spcPct val="20000"/>
              </a:spcBef>
              <a:spcAft>
                <a:spcPct val="0"/>
              </a:spcAft>
              <a:buFontTx/>
              <a:buChar char="-"/>
            </a:pP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marL="800100" lvl="1" indent="-342900" fontAlgn="base" latinLnBrk="0">
              <a:spcBef>
                <a:spcPct val="20000"/>
              </a:spcBef>
              <a:spcAft>
                <a:spcPct val="0"/>
              </a:spcAft>
              <a:buFontTx/>
              <a:buChar char="-"/>
            </a:pP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79690" y="4544485"/>
            <a:ext cx="8590751" cy="142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Single head orientation data</a:t>
            </a:r>
          </a:p>
          <a:p>
            <a:pPr marL="800100" lvl="1" indent="-342900" fontAlgn="base" latinLnBrk="0">
              <a:spcBef>
                <a:spcPct val="20000"/>
              </a:spcBef>
              <a:spcAft>
                <a:spcPct val="0"/>
              </a:spcAft>
              <a:buFontTx/>
              <a:buChar char="-"/>
            </a:pPr>
            <a:r>
              <a:rPr lang="en-US" altLang="ko-KR" sz="2000" dirty="0">
                <a:solidFill>
                  <a:prstClr val="black"/>
                </a:solidFill>
                <a:ea typeface="SimSun" pitchFamily="2" charset="-122"/>
                <a:cs typeface="Calibri" pitchFamily="34" charset="0"/>
              </a:rPr>
              <a:t>k-space threshold (TKD), regularization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using magnitude edge information (MEDI) and others (</a:t>
            </a:r>
            <a:r>
              <a:rPr lang="en-US" altLang="ko-KR" sz="2000" dirty="0" err="1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iLSQR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, HEIDI, ….)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488" y="3116017"/>
            <a:ext cx="4369527" cy="1104900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8664626" y="1578621"/>
            <a:ext cx="24044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Tian Liu, MRM 2009</a:t>
            </a:r>
          </a:p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Sam Wharton, MRM 2010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8286133" y="4878006"/>
            <a:ext cx="366670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>
              <a:spcAft>
                <a:spcPct val="0"/>
              </a:spcAft>
            </a:pPr>
            <a:r>
              <a:rPr lang="en-US" altLang="ko-KR" sz="1600" dirty="0" err="1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Ludovic</a:t>
            </a: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 de Rochefort MRM 2008</a:t>
            </a:r>
            <a:endParaRPr lang="en-US" altLang="ko-KR" sz="1600" dirty="0">
              <a:solidFill>
                <a:srgbClr val="0000FF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Karin </a:t>
            </a:r>
            <a:r>
              <a:rPr lang="en-US" altLang="ko-KR" sz="1600" dirty="0" err="1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Shmueli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, MRM 2009</a:t>
            </a:r>
          </a:p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Tian Liu, MRM 2011</a:t>
            </a:r>
          </a:p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Christian </a:t>
            </a:r>
            <a:r>
              <a:rPr lang="en-US" altLang="ko-KR" sz="1600" dirty="0" err="1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Langkammer</a:t>
            </a: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NeuroImage</a:t>
            </a: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 2012</a:t>
            </a:r>
          </a:p>
          <a:p>
            <a:pPr fontAlgn="base" latinLnBrk="0">
              <a:spcAft>
                <a:spcPct val="0"/>
              </a:spcAft>
            </a:pP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Wei Liu, </a:t>
            </a:r>
            <a:r>
              <a:rPr lang="en-US" altLang="ko-KR" sz="1600" dirty="0" err="1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NeuroImage</a:t>
            </a:r>
            <a:r>
              <a:rPr lang="en-US" altLang="ko-KR" sz="1600" dirty="0">
                <a:solidFill>
                  <a:srgbClr val="0000FF"/>
                </a:solidFill>
                <a:ea typeface="SimSun" pitchFamily="2" charset="-122"/>
                <a:cs typeface="Calibri" pitchFamily="34" charset="0"/>
              </a:rPr>
              <a:t> 2015</a:t>
            </a:r>
            <a:endParaRPr lang="en-US" altLang="ko-KR" sz="1600" dirty="0">
              <a:solidFill>
                <a:srgbClr val="0000FF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286235" y="5057442"/>
            <a:ext cx="1666507" cy="869234"/>
            <a:chOff x="7225973" y="3867751"/>
            <a:chExt cx="1666507" cy="869234"/>
          </a:xfrm>
        </p:grpSpPr>
        <p:sp>
          <p:nvSpPr>
            <p:cNvPr id="22" name="직사각형 21"/>
            <p:cNvSpPr/>
            <p:nvPr/>
          </p:nvSpPr>
          <p:spPr>
            <a:xfrm>
              <a:off x="7225973" y="3867751"/>
              <a:ext cx="1666507" cy="437043"/>
            </a:xfrm>
            <a:prstGeom prst="rect">
              <a:avLst/>
            </a:prstGeom>
            <a:solidFill>
              <a:srgbClr val="0000FF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000" dirty="0">
                  <a:solidFill>
                    <a:prstClr val="white"/>
                  </a:solidFill>
                  <a:latin typeface="Calibri" pitchFamily="34" charset="0"/>
                  <a:ea typeface="맑은 고딕" panose="020B0503020000020004" pitchFamily="50" charset="-127"/>
                </a:rPr>
                <a:t>Practical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7225974" y="4299942"/>
              <a:ext cx="1666506" cy="437043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2000" dirty="0">
                  <a:solidFill>
                    <a:prstClr val="white"/>
                  </a:solidFill>
                  <a:latin typeface="Calibri" pitchFamily="34" charset="0"/>
                  <a:ea typeface="맑은 고딕" panose="020B0503020000020004" pitchFamily="50" charset="-127"/>
                </a:rPr>
                <a:t>Contain errors</a:t>
              </a: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9286235" y="2651332"/>
            <a:ext cx="1686272" cy="437043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prstClr val="white"/>
                </a:solidFill>
                <a:latin typeface="Calibri" pitchFamily="34" charset="0"/>
                <a:ea typeface="맑은 고딕" panose="020B0503020000020004" pitchFamily="50" charset="-127"/>
              </a:rPr>
              <a:t>Gold standard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9286235" y="3083522"/>
            <a:ext cx="1686272" cy="437043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prstClr val="white"/>
                </a:solidFill>
                <a:latin typeface="Calibri" pitchFamily="34" charset="0"/>
                <a:ea typeface="맑은 고딕" panose="020B0503020000020004" pitchFamily="50" charset="-127"/>
              </a:rPr>
              <a:t>Not practical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EE0261B-F5F8-4E05-BA3D-FDB222516B83}"/>
              </a:ext>
            </a:extLst>
          </p:cNvPr>
          <p:cNvPicPr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4" t="14936" r="24936" b="22453"/>
          <a:stretch/>
        </p:blipFill>
        <p:spPr>
          <a:xfrm>
            <a:off x="2147982" y="2150912"/>
            <a:ext cx="4426034" cy="96949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4823F32-D41F-45C1-BE4A-00CD9F1E28E5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9" t="3750" r="10922" b="8058"/>
          <a:stretch/>
        </p:blipFill>
        <p:spPr>
          <a:xfrm>
            <a:off x="6962123" y="2513161"/>
            <a:ext cx="1173745" cy="1170036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8163A33A-D10A-40A8-B291-F5F1CF6C1D18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</a:t>
            </a:r>
            <a:endParaRPr lang="ko-KR" alt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28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제목 1">
            <a:extLst>
              <a:ext uri="{FF2B5EF4-FFF2-40B4-BE49-F238E27FC236}">
                <a16:creationId xmlns:a16="http://schemas.microsoft.com/office/drawing/2014/main" id="{2B643652-4E8C-486B-877D-70063FC17E33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 using deep learning</a:t>
            </a: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2B0790-54F2-469F-831A-516F4E981670}"/>
              </a:ext>
            </a:extLst>
          </p:cNvPr>
          <p:cNvSpPr/>
          <p:nvPr/>
        </p:nvSpPr>
        <p:spPr>
          <a:xfrm>
            <a:off x="698545" y="1082165"/>
            <a:ext cx="11198082" cy="200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Neural network shown success in inverse problem when </a:t>
            </a:r>
            <a:r>
              <a:rPr lang="en-US" altLang="ko-KR" sz="2000" i="1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expensive</a:t>
            </a: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gold standard label </a:t>
            </a: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is available</a:t>
            </a: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	e.g., parallel imaging with full sample data, low dose CT with full dose data</a:t>
            </a:r>
          </a:p>
          <a:p>
            <a:pPr fontAlgn="base" latinLnBrk="0">
              <a:spcBef>
                <a:spcPct val="20000"/>
              </a:spcBef>
              <a:spcAft>
                <a:spcPct val="0"/>
              </a:spcAft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In QSM</a:t>
            </a: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: for training, </a:t>
            </a:r>
            <a:r>
              <a:rPr lang="en-US" altLang="ko-KR" sz="2000" i="1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expensive</a:t>
            </a: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 COSMOS as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label paired with single orientation local field as input</a:t>
            </a:r>
          </a:p>
          <a:p>
            <a:pPr fontAlgn="base" latinLnBrk="0">
              <a:spcBef>
                <a:spcPct val="20000"/>
              </a:spcBef>
              <a:spcAft>
                <a:spcPct val="0"/>
              </a:spcAft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                     for </a:t>
            </a: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inference, single orientation local field as input, generating COSMOS-quality QSM map</a:t>
            </a:r>
          </a:p>
          <a:p>
            <a:pPr fontAlgn="base" latinLnBrk="0">
              <a:spcBef>
                <a:spcPct val="20000"/>
              </a:spcBef>
              <a:spcAft>
                <a:spcPct val="0"/>
              </a:spcAft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7E2406-390A-4D24-8DE5-F4467C8D059C}"/>
              </a:ext>
            </a:extLst>
          </p:cNvPr>
          <p:cNvSpPr/>
          <p:nvPr/>
        </p:nvSpPr>
        <p:spPr>
          <a:xfrm>
            <a:off x="9111251" y="1415256"/>
            <a:ext cx="22044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 calibri"/>
              </a:rPr>
              <a:t>McCann, IEEE SPM 2017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 calibri"/>
              </a:rPr>
              <a:t>Wang, Nature MI 2020</a:t>
            </a:r>
            <a:endParaRPr lang="ko-KR" altLang="en-US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6EAB679-27A5-4563-A7BC-A138E2D047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30"/>
          <a:stretch/>
        </p:blipFill>
        <p:spPr>
          <a:xfrm>
            <a:off x="1546260" y="2908397"/>
            <a:ext cx="6953990" cy="3499179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791924D-A6D4-4CB1-B1A4-A1C5B2BA416C}"/>
              </a:ext>
            </a:extLst>
          </p:cNvPr>
          <p:cNvSpPr/>
          <p:nvPr/>
        </p:nvSpPr>
        <p:spPr>
          <a:xfrm rot="10800000">
            <a:off x="6295799" y="3772749"/>
            <a:ext cx="457213" cy="2709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B410D-2E9B-4453-98E0-18DE3ABE54CB}"/>
              </a:ext>
            </a:extLst>
          </p:cNvPr>
          <p:cNvSpPr txBox="1"/>
          <p:nvPr/>
        </p:nvSpPr>
        <p:spPr>
          <a:xfrm>
            <a:off x="6915572" y="3082095"/>
            <a:ext cx="1221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latin typeface="Calibri" panose="020F0502020204030204" pitchFamily="34" charset="0"/>
                <a:cs typeface="Calibri" panose="020F0502020204030204" pitchFamily="34" charset="0"/>
              </a:rPr>
              <a:t>high cost data</a:t>
            </a:r>
            <a:endParaRPr lang="ko-KR" altLang="en-US" sz="14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A6465-D40F-4A11-A420-265CAC680203}"/>
              </a:ext>
            </a:extLst>
          </p:cNvPr>
          <p:cNvSpPr/>
          <p:nvPr/>
        </p:nvSpPr>
        <p:spPr>
          <a:xfrm>
            <a:off x="6915572" y="5087411"/>
            <a:ext cx="3815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err="1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QSMnet</a:t>
            </a:r>
            <a:r>
              <a:rPr lang="en-US" altLang="ko-KR" sz="2400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  </a:t>
            </a:r>
            <a:r>
              <a:rPr lang="en-US" altLang="ko-KR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Yoon, NeuroImage 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2018</a:t>
            </a:r>
            <a:endParaRPr lang="en-US" altLang="ko-KR" dirty="0">
              <a:solidFill>
                <a:srgbClr val="0000FF"/>
              </a:solidFill>
              <a:latin typeface="Calibri" panose="020F0502020204030204" pitchFamily="34" charset="0"/>
              <a:ea typeface="굴림" pitchFamily="50" charset="-127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CF35F6-F994-419F-8F17-8BB4C83861F5}"/>
              </a:ext>
            </a:extLst>
          </p:cNvPr>
          <p:cNvSpPr/>
          <p:nvPr/>
        </p:nvSpPr>
        <p:spPr>
          <a:xfrm>
            <a:off x="6915572" y="5523698"/>
            <a:ext cx="4204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err="1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DeepQSM</a:t>
            </a:r>
            <a:r>
              <a:rPr lang="en-US" altLang="ko-KR">
                <a:latin typeface="Calibri" panose="020F0502020204030204" pitchFamily="34" charset="0"/>
                <a:ea typeface="굴림" pitchFamily="50" charset="-127"/>
                <a:cs typeface="Calibri" panose="020F0502020204030204" pitchFamily="34" charset="0"/>
              </a:rPr>
              <a:t>      </a:t>
            </a:r>
            <a:r>
              <a:rPr lang="en-US" altLang="ko-KR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Bollmann, NeuroImage 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  <a:endParaRPr lang="en-US" altLang="ko-KR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82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Z:\Shin\sagitatal_video_tiff2\qsm_gif1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91" y="1275606"/>
            <a:ext cx="7937880" cy="56926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TextBox 10"/>
          <p:cNvSpPr txBox="1"/>
          <p:nvPr/>
        </p:nvSpPr>
        <p:spPr>
          <a:xfrm>
            <a:off x="1997272" y="3721717"/>
            <a:ext cx="148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Calibri" panose="020F0502020204030204" pitchFamily="34" charset="0"/>
              </a:rPr>
              <a:t>QSMnet</a:t>
            </a:r>
            <a:endParaRPr lang="ko-KR" altLang="en-US" sz="24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27039" y="3721717"/>
            <a:ext cx="148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  <a:latin typeface="Calibri" panose="020F0502020204030204" pitchFamily="34" charset="0"/>
              </a:rPr>
              <a:t>COSMOS</a:t>
            </a:r>
            <a:endParaRPr lang="ko-KR" altLang="en-US" sz="24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90501" y="1275603"/>
            <a:ext cx="5831105" cy="31764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290502" y="6378454"/>
            <a:ext cx="5727952" cy="9863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 rot="16200000">
            <a:off x="4440934" y="3776098"/>
            <a:ext cx="5155038" cy="20630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 rot="16200000">
            <a:off x="-1329305" y="3743685"/>
            <a:ext cx="5201483" cy="2653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922488" y="1235998"/>
            <a:ext cx="148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Calibri" panose="020F0502020204030204" pitchFamily="34" charset="0"/>
              </a:rPr>
              <a:t>TKD</a:t>
            </a:r>
            <a:endParaRPr lang="ko-KR" alt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2258" y="1235998"/>
            <a:ext cx="148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Calibri" panose="020F0502020204030204" pitchFamily="34" charset="0"/>
              </a:rPr>
              <a:t>MEDI</a:t>
            </a:r>
            <a:endParaRPr lang="ko-KR" altLang="en-US" sz="24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7014007" y="1093959"/>
            <a:ext cx="1188424" cy="55241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</a:pPr>
            <a:endParaRPr lang="ko-KR" altLang="en-US" sz="2000" b="1">
              <a:latin typeface="Arial" charset="0"/>
              <a:ea typeface="SimSun" pitchFamily="2" charset="-122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271860" y="6307424"/>
            <a:ext cx="7428111" cy="4467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 fontAlgn="base" latinLnBrk="0">
              <a:spcBef>
                <a:spcPct val="20000"/>
              </a:spcBef>
              <a:spcAft>
                <a:spcPct val="0"/>
              </a:spcAft>
            </a:pPr>
            <a:endParaRPr lang="ko-KR" altLang="en-US" sz="2000" b="1">
              <a:latin typeface="Arial" charset="0"/>
              <a:ea typeface="SimSun" pitchFamily="2" charset="-122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038842" y="6316651"/>
            <a:ext cx="21856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>
              <a:spcAft>
                <a:spcPct val="0"/>
              </a:spcAft>
            </a:pPr>
            <a:r>
              <a:rPr lang="en-US" altLang="ko-KR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Yoon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NeuroImage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2018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750D8F-484F-4D4D-8A16-1D627FFB880D}"/>
              </a:ext>
            </a:extLst>
          </p:cNvPr>
          <p:cNvSpPr/>
          <p:nvPr/>
        </p:nvSpPr>
        <p:spPr>
          <a:xfrm>
            <a:off x="7325701" y="1048641"/>
            <a:ext cx="4395652" cy="965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3D U-net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Streaking free maps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27D8AC-7515-4B05-978A-D2018F154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230" y="2003554"/>
            <a:ext cx="2293153" cy="206624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8ABC748-3E78-450E-B804-57A17059FDD6}"/>
              </a:ext>
            </a:extLst>
          </p:cNvPr>
          <p:cNvSpPr/>
          <p:nvPr/>
        </p:nvSpPr>
        <p:spPr>
          <a:xfrm>
            <a:off x="7325701" y="4160621"/>
            <a:ext cx="4176913" cy="878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Computational efficiency (few secs)</a:t>
            </a:r>
            <a:endParaRPr lang="en-US" altLang="ko-KR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COSMOS-trained or simulation-trained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08E604-338F-4934-BE60-396E7DC52C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701"/>
          <a:stretch/>
        </p:blipFill>
        <p:spPr>
          <a:xfrm>
            <a:off x="7705849" y="5035057"/>
            <a:ext cx="2053793" cy="1376086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551564E3-563B-4E70-A1CD-CBD92E718D33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 using deep learning</a:t>
            </a:r>
            <a:endParaRPr lang="ko-KR" alt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58F839-1EE2-41C3-9130-AB72690D22F1}"/>
              </a:ext>
            </a:extLst>
          </p:cNvPr>
          <p:cNvSpPr txBox="1"/>
          <p:nvPr/>
        </p:nvSpPr>
        <p:spPr>
          <a:xfrm>
            <a:off x="9759642" y="5655939"/>
            <a:ext cx="2372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Jung, NMR BioMed 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215188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">
            <a:extLst>
              <a:ext uri="{FF2B5EF4-FFF2-40B4-BE49-F238E27FC236}">
                <a16:creationId xmlns:a16="http://schemas.microsoft.com/office/drawing/2014/main" id="{1860554E-CA85-43A2-8021-692BF02631D5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 using deep learning</a:t>
            </a:r>
            <a:endParaRPr lang="ko-KR" altLang="en-US" sz="3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DC2816-C5D0-4ED0-82AB-9602628111EF}"/>
              </a:ext>
            </a:extLst>
          </p:cNvPr>
          <p:cNvSpPr/>
          <p:nvPr/>
        </p:nvSpPr>
        <p:spPr>
          <a:xfrm>
            <a:off x="6478571" y="1080810"/>
            <a:ext cx="43002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QSMGAN</a:t>
            </a:r>
            <a:r>
              <a:rPr lang="en-US" altLang="ko-KR" sz="2000">
                <a:latin typeface=" calibri"/>
              </a:rPr>
              <a:t>: GAN improves quality</a:t>
            </a:r>
            <a:endParaRPr lang="ko-KR" altLang="en-US" sz="2000">
              <a:latin typeface=" calibri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FD8E71-7DF9-49D2-8B19-B3545FF92D2D}"/>
              </a:ext>
            </a:extLst>
          </p:cNvPr>
          <p:cNvSpPr/>
          <p:nvPr/>
        </p:nvSpPr>
        <p:spPr>
          <a:xfrm>
            <a:off x="6478571" y="3939980"/>
            <a:ext cx="40817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 calibri"/>
              </a:rPr>
              <a:t>QSM outside of brain with fat</a:t>
            </a:r>
            <a:endParaRPr lang="ko-KR" altLang="en-US" sz="2000">
              <a:latin typeface=" calibri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53277D-36BF-4A22-8539-865D1F50772D}"/>
              </a:ext>
            </a:extLst>
          </p:cNvPr>
          <p:cNvSpPr/>
          <p:nvPr/>
        </p:nvSpPr>
        <p:spPr>
          <a:xfrm>
            <a:off x="539968" y="1080810"/>
            <a:ext cx="566580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 calibri"/>
              </a:rPr>
              <a:t>AutoQSM: No need for background removal </a:t>
            </a:r>
          </a:p>
          <a:p>
            <a:r>
              <a:rPr lang="en-US" altLang="ko-KR" sz="2000">
                <a:latin typeface=" calibri"/>
              </a:rPr>
              <a:t>                          or brain mask</a:t>
            </a:r>
            <a:endParaRPr lang="ko-KR" altLang="en-US" sz="2000">
              <a:latin typeface=" 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D6E7B9C-4C8C-4A6A-AC23-6361F7137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96" y="1912952"/>
            <a:ext cx="4654762" cy="184219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563E7D9-DC4F-459B-958A-A247E4738900}"/>
              </a:ext>
            </a:extLst>
          </p:cNvPr>
          <p:cNvSpPr/>
          <p:nvPr/>
        </p:nvSpPr>
        <p:spPr>
          <a:xfrm>
            <a:off x="3615788" y="1421845"/>
            <a:ext cx="20957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Wei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Neuro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I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mage 2019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D2C9CC-D7AB-4E64-AD8E-749C36642B02}"/>
              </a:ext>
            </a:extLst>
          </p:cNvPr>
          <p:cNvSpPr/>
          <p:nvPr/>
        </p:nvSpPr>
        <p:spPr>
          <a:xfrm>
            <a:off x="9166813" y="1423540"/>
            <a:ext cx="22490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Chen, Neuro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I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mage 2020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F16F95-33E6-4DBB-B49A-52DB18FEA3C0}"/>
              </a:ext>
            </a:extLst>
          </p:cNvPr>
          <p:cNvSpPr/>
          <p:nvPr/>
        </p:nvSpPr>
        <p:spPr>
          <a:xfrm>
            <a:off x="9977341" y="3970758"/>
            <a:ext cx="20201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Hanspach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MRM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2022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F1192AE-B836-4AB5-A64A-C9580FB49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343" y="4495661"/>
            <a:ext cx="5301941" cy="20024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5C8D79-070C-47D7-98D5-205F7975D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344" y="2049908"/>
            <a:ext cx="5592311" cy="158331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1AE6E6B-4B7C-4597-AB98-2AD67ADD488E}"/>
              </a:ext>
            </a:extLst>
          </p:cNvPr>
          <p:cNvSpPr/>
          <p:nvPr/>
        </p:nvSpPr>
        <p:spPr>
          <a:xfrm>
            <a:off x="539968" y="3939980"/>
            <a:ext cx="48125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Recovering SWI-filtered phase data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C79F32C-ADC2-410E-8323-D3936E341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13" y="4524924"/>
            <a:ext cx="4663218" cy="197314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03C5DB-A53C-408E-93FE-1A8607F54345}"/>
              </a:ext>
            </a:extLst>
          </p:cNvPr>
          <p:cNvSpPr/>
          <p:nvPr/>
        </p:nvSpPr>
        <p:spPr>
          <a:xfrm>
            <a:off x="3922787" y="4157107"/>
            <a:ext cx="19927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Kames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MRM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 2022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9D08B9-5BD3-4C18-85B6-F8BDD658D848}"/>
              </a:ext>
            </a:extLst>
          </p:cNvPr>
          <p:cNvSpPr/>
          <p:nvPr/>
        </p:nvSpPr>
        <p:spPr>
          <a:xfrm>
            <a:off x="927340" y="4524924"/>
            <a:ext cx="43328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>
                <a:latin typeface=" calibri"/>
              </a:rPr>
              <a:t>SWI-filtered phase            </a:t>
            </a:r>
            <a:r>
              <a:rPr lang="en-US" altLang="ko-KR" sz="1400" b="1">
                <a:latin typeface=" calibri"/>
              </a:rPr>
              <a:t>Recovered                     Original</a:t>
            </a:r>
            <a:endParaRPr lang="ko-KR" altLang="en-US" sz="1400" b="1"/>
          </a:p>
        </p:txBody>
      </p:sp>
    </p:spTree>
    <p:extLst>
      <p:ext uri="{BB962C8B-B14F-4D97-AF65-F5344CB8AC3E}">
        <p14:creationId xmlns:p14="http://schemas.microsoft.com/office/powerpoint/2010/main" val="3772066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96EF9A-649E-48E3-A88B-59418D6C0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698" y="1869911"/>
            <a:ext cx="4916138" cy="1822503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1860554E-CA85-43A2-8021-692BF02631D5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 dirty="0">
                <a:latin typeface="Calibri" panose="020F0502020204030204"/>
              </a:rPr>
              <a:t> Dipole deconvolution using deep learning</a:t>
            </a:r>
            <a:endParaRPr lang="ko-KR" altLang="en-US" sz="3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D147F9-CDF6-4B1D-A730-9F9F02C14A99}"/>
              </a:ext>
            </a:extLst>
          </p:cNvPr>
          <p:cNvSpPr/>
          <p:nvPr/>
        </p:nvSpPr>
        <p:spPr>
          <a:xfrm>
            <a:off x="470070" y="953328"/>
            <a:ext cx="58860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FINE</a:t>
            </a:r>
            <a:r>
              <a:rPr lang="en-US" altLang="ko-KR" sz="2000">
                <a:latin typeface=" calibri"/>
              </a:rPr>
              <a:t>:</a:t>
            </a:r>
            <a:r>
              <a:rPr lang="ko-KR" altLang="en-US" sz="2000">
                <a:latin typeface=" calibri"/>
              </a:rPr>
              <a:t> </a:t>
            </a:r>
            <a:r>
              <a:rPr lang="en-US" altLang="ko-KR" sz="2000">
                <a:solidFill>
                  <a:srgbClr val="2E2E2E"/>
                </a:solidFill>
                <a:latin typeface="NexusSerif"/>
              </a:rPr>
              <a:t>Self transfer learning with physical model loss</a:t>
            </a:r>
            <a:endParaRPr lang="ko-KR" altLang="en-US">
              <a:solidFill>
                <a:srgbClr val="0000FF"/>
              </a:solidFill>
              <a:latin typeface=" 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260A1-E239-4ACB-BC82-CA371ECD68FF}"/>
              </a:ext>
            </a:extLst>
          </p:cNvPr>
          <p:cNvSpPr/>
          <p:nvPr/>
        </p:nvSpPr>
        <p:spPr>
          <a:xfrm>
            <a:off x="6421836" y="3944719"/>
            <a:ext cx="50562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 calibri"/>
              </a:rPr>
              <a:t>Va</a:t>
            </a:r>
            <a:r>
              <a:rPr lang="ko-KR" altLang="en-US" sz="2000">
                <a:latin typeface=" calibri"/>
              </a:rPr>
              <a:t>NDI</a:t>
            </a:r>
            <a:r>
              <a:rPr lang="en-US" altLang="ko-KR" sz="2000">
                <a:latin typeface=" calibri"/>
              </a:rPr>
              <a:t>: Combine nonlinear dipole inversion </a:t>
            </a:r>
          </a:p>
          <a:p>
            <a:r>
              <a:rPr lang="en-US" altLang="ko-KR" sz="2000">
                <a:latin typeface=" calibri"/>
              </a:rPr>
              <a:t>                    with variational network</a:t>
            </a:r>
            <a:endParaRPr lang="ko-KR" altLang="en-US" sz="2000">
              <a:latin typeface=" calibri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431B2-CD43-4540-AD34-DFA0134AA55A}"/>
              </a:ext>
            </a:extLst>
          </p:cNvPr>
          <p:cNvSpPr/>
          <p:nvPr/>
        </p:nvSpPr>
        <p:spPr>
          <a:xfrm>
            <a:off x="6421836" y="953328"/>
            <a:ext cx="49716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MoDL-QSM: </a:t>
            </a:r>
            <a:r>
              <a:rPr lang="en-US" altLang="ko-KR" sz="2000">
                <a:latin typeface=" calibri"/>
              </a:rPr>
              <a:t>Physics model enforced with</a:t>
            </a:r>
          </a:p>
          <a:p>
            <a:r>
              <a:rPr lang="en-US" altLang="ko-KR" sz="2000">
                <a:latin typeface=" calibri"/>
              </a:rPr>
              <a:t>                             network as regularizer</a:t>
            </a:r>
            <a:endParaRPr lang="ko-KR" altLang="en-US" sz="2000">
              <a:latin typeface=" calibri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94D038-F6CF-4DA7-A762-E7A5195192FB}"/>
              </a:ext>
            </a:extLst>
          </p:cNvPr>
          <p:cNvSpPr/>
          <p:nvPr/>
        </p:nvSpPr>
        <p:spPr>
          <a:xfrm>
            <a:off x="1341121" y="1201630"/>
            <a:ext cx="4348480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solidFill>
                  <a:srgbClr val="2E2E2E"/>
                </a:solidFill>
                <a:latin typeface="NexusSerif"/>
              </a:rPr>
              <a:t>Generalization to untrained input</a:t>
            </a:r>
            <a:endParaRPr lang="ko-KR" altLang="en-US" sz="2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F011D8-C870-4154-9DC2-1804AC1A7E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373"/>
          <a:stretch/>
        </p:blipFill>
        <p:spPr>
          <a:xfrm>
            <a:off x="6834294" y="1804100"/>
            <a:ext cx="4916138" cy="196187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8F1C140-97AD-49A3-9BD1-4CCE2C39F1E3}"/>
              </a:ext>
            </a:extLst>
          </p:cNvPr>
          <p:cNvSpPr/>
          <p:nvPr/>
        </p:nvSpPr>
        <p:spPr>
          <a:xfrm>
            <a:off x="3814805" y="1594476"/>
            <a:ext cx="22786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Zhang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N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euroimage 2020</a:t>
            </a:r>
            <a:endParaRPr lang="ko-KR" altLang="en-US" sz="1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4FCD30-FE4E-4581-BC67-35989BD3D747}"/>
              </a:ext>
            </a:extLst>
          </p:cNvPr>
          <p:cNvSpPr/>
          <p:nvPr/>
        </p:nvSpPr>
        <p:spPr>
          <a:xfrm>
            <a:off x="10388574" y="5158940"/>
            <a:ext cx="133882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>
                <a:solidFill>
                  <a:srgbClr val="0000FF"/>
                </a:solidFill>
                <a:latin typeface=" calibri"/>
              </a:rPr>
              <a:t>Polak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</a:t>
            </a:r>
          </a:p>
          <a:p>
            <a:pPr algn="ctr"/>
            <a:r>
              <a:rPr lang="ko-KR" altLang="en-US" sz="1600">
                <a:solidFill>
                  <a:srgbClr val="0000FF"/>
                </a:solidFill>
                <a:latin typeface=" calibri"/>
              </a:rPr>
              <a:t>NMR Biomed </a:t>
            </a:r>
            <a:endParaRPr lang="en-US" altLang="ko-KR" sz="1600">
              <a:solidFill>
                <a:srgbClr val="0000FF"/>
              </a:solidFill>
              <a:latin typeface=" calibri"/>
            </a:endParaRPr>
          </a:p>
          <a:p>
            <a:pPr algn="ctr"/>
            <a:r>
              <a:rPr lang="ko-KR" altLang="en-US" sz="1600">
                <a:solidFill>
                  <a:srgbClr val="0000FF"/>
                </a:solidFill>
                <a:latin typeface=" calibri"/>
              </a:rPr>
              <a:t>2020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EDE40C-A00B-42C1-AC1E-09F83C1CFC2E}"/>
              </a:ext>
            </a:extLst>
          </p:cNvPr>
          <p:cNvSpPr/>
          <p:nvPr/>
        </p:nvSpPr>
        <p:spPr>
          <a:xfrm>
            <a:off x="470070" y="3944719"/>
            <a:ext cx="55812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xQSM: </a:t>
            </a:r>
            <a:r>
              <a:rPr lang="en-US" altLang="ko-KR" sz="2000">
                <a:latin typeface=" calibri"/>
              </a:rPr>
              <a:t>O</a:t>
            </a:r>
            <a:r>
              <a:rPr lang="ko-KR" altLang="en-US" sz="2000">
                <a:latin typeface=" calibri"/>
              </a:rPr>
              <a:t>ctave conv and noise-regulariz</a:t>
            </a:r>
            <a:r>
              <a:rPr lang="en-US" altLang="ko-KR" sz="2000">
                <a:latin typeface=" calibri"/>
              </a:rPr>
              <a:t>ation</a:t>
            </a:r>
          </a:p>
          <a:p>
            <a:r>
              <a:rPr lang="en-US" altLang="ko-KR" sz="2000">
                <a:latin typeface=" calibri"/>
              </a:rPr>
              <a:t>                  Generalization for resolution</a:t>
            </a:r>
            <a:endParaRPr lang="ko-KR" altLang="en-US" sz="2000">
              <a:latin typeface=" calibri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191A3D-CC2E-4DE4-86F1-6B4862260C13}"/>
              </a:ext>
            </a:extLst>
          </p:cNvPr>
          <p:cNvSpPr/>
          <p:nvPr/>
        </p:nvSpPr>
        <p:spPr>
          <a:xfrm>
            <a:off x="3944847" y="4541659"/>
            <a:ext cx="22327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Gao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NMR Biomed 2021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pic>
        <p:nvPicPr>
          <p:cNvPr id="14" name="Picture 4" descr="Details are in the caption following the image">
            <a:extLst>
              <a:ext uri="{FF2B5EF4-FFF2-40B4-BE49-F238E27FC236}">
                <a16:creationId xmlns:a16="http://schemas.microsoft.com/office/drawing/2014/main" id="{83143756-3FFB-471D-9D5D-8C43159E02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7" t="34168" r="31507" b="33786"/>
          <a:stretch/>
        </p:blipFill>
        <p:spPr bwMode="auto">
          <a:xfrm>
            <a:off x="1803069" y="4880213"/>
            <a:ext cx="3886532" cy="161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EBD923-BAB4-4AB1-A109-777535805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1515" y="4541659"/>
            <a:ext cx="3327416" cy="206556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53305F9-A27E-47F9-8193-6FE3BD38E32F}"/>
              </a:ext>
            </a:extLst>
          </p:cNvPr>
          <p:cNvSpPr/>
          <p:nvPr/>
        </p:nvSpPr>
        <p:spPr>
          <a:xfrm>
            <a:off x="9559526" y="1567835"/>
            <a:ext cx="2217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Feng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 Neuroimage 2021 </a:t>
            </a:r>
            <a:endParaRPr lang="ko-KR" altLang="en-US" sz="16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67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D8222F-3905-4C4B-A1CA-0E454BE4A8D5}"/>
              </a:ext>
            </a:extLst>
          </p:cNvPr>
          <p:cNvSpPr/>
          <p:nvPr/>
        </p:nvSpPr>
        <p:spPr>
          <a:xfrm>
            <a:off x="3259166" y="2418883"/>
            <a:ext cx="5668551" cy="2020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charset="0"/>
                <a:ea typeface="굴림" pitchFamily="50" charset="-127"/>
                <a:cs typeface="Calibri" charset="0"/>
              </a:rPr>
              <a:t>Issues of “generalization</a:t>
            </a: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”  </a:t>
            </a:r>
            <a:endParaRPr lang="en-US" altLang="ko-KR" sz="2400" dirty="0">
              <a:latin typeface="Calibri" charset="0"/>
              <a:ea typeface="굴림" pitchFamily="50" charset="-127"/>
              <a:cs typeface="Calibri" charset="0"/>
            </a:endParaRP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Issues of “performance comparison”</a:t>
            </a: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Issues of “performance”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DD7815B-EAAB-43F1-BE8D-660DBD9C1FA0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>
                <a:latin typeface="Calibri" panose="020F0502020204030204"/>
              </a:rPr>
              <a:t> Issues with deep learning dipole deconvolution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7204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D8222F-3905-4C4B-A1CA-0E454BE4A8D5}"/>
              </a:ext>
            </a:extLst>
          </p:cNvPr>
          <p:cNvSpPr/>
          <p:nvPr/>
        </p:nvSpPr>
        <p:spPr>
          <a:xfrm>
            <a:off x="3259166" y="2418883"/>
            <a:ext cx="5668551" cy="2020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Calibri" charset="0"/>
                <a:ea typeface="굴림" pitchFamily="50" charset="-127"/>
                <a:cs typeface="Calibri" charset="0"/>
              </a:rPr>
              <a:t>Issues of “generalization</a:t>
            </a: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”  </a:t>
            </a:r>
            <a:endParaRPr lang="en-US" altLang="ko-KR" sz="2400" dirty="0">
              <a:latin typeface="Calibri" charset="0"/>
              <a:ea typeface="굴림" pitchFamily="50" charset="-127"/>
              <a:cs typeface="Calibri" charset="0"/>
            </a:endParaRP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“performance comparison”</a:t>
            </a: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“performance”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DD7815B-EAAB-43F1-BE8D-660DBD9C1FA0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>
                <a:latin typeface="Calibri" panose="020F0502020204030204"/>
              </a:rPr>
              <a:t> Issues with deep learning dipole deconvolution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45598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AD494340-B108-4432-BBCA-0D94595BB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080" y="1330108"/>
            <a:ext cx="3585098" cy="3350700"/>
          </a:xfrm>
          <a:prstGeom prst="rect">
            <a:avLst/>
          </a:prstGeom>
        </p:spPr>
      </p:pic>
      <p:sp>
        <p:nvSpPr>
          <p:cNvPr id="19" name="아래쪽 화살표 2">
            <a:extLst>
              <a:ext uri="{FF2B5EF4-FFF2-40B4-BE49-F238E27FC236}">
                <a16:creationId xmlns:a16="http://schemas.microsoft.com/office/drawing/2014/main" id="{7B7BE376-525B-44F2-A22B-2DFD516216D8}"/>
              </a:ext>
            </a:extLst>
          </p:cNvPr>
          <p:cNvSpPr/>
          <p:nvPr/>
        </p:nvSpPr>
        <p:spPr>
          <a:xfrm rot="8184907">
            <a:off x="8876559" y="2517007"/>
            <a:ext cx="157082" cy="2891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아래쪽 화살표 53">
            <a:extLst>
              <a:ext uri="{FF2B5EF4-FFF2-40B4-BE49-F238E27FC236}">
                <a16:creationId xmlns:a16="http://schemas.microsoft.com/office/drawing/2014/main" id="{E0594389-4377-4979-970F-CAFC368409A1}"/>
              </a:ext>
            </a:extLst>
          </p:cNvPr>
          <p:cNvSpPr/>
          <p:nvPr/>
        </p:nvSpPr>
        <p:spPr>
          <a:xfrm rot="8184907">
            <a:off x="9173960" y="2275159"/>
            <a:ext cx="157082" cy="2891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1" name="아래쪽 화살표 54">
            <a:extLst>
              <a:ext uri="{FF2B5EF4-FFF2-40B4-BE49-F238E27FC236}">
                <a16:creationId xmlns:a16="http://schemas.microsoft.com/office/drawing/2014/main" id="{E51E55F3-B5B1-41DD-868D-B922AC83C1A3}"/>
              </a:ext>
            </a:extLst>
          </p:cNvPr>
          <p:cNvSpPr/>
          <p:nvPr/>
        </p:nvSpPr>
        <p:spPr>
          <a:xfrm rot="8184907">
            <a:off x="8579158" y="2771942"/>
            <a:ext cx="157082" cy="28912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74A562-6F5D-49B4-B65C-E78266A6B5AC}"/>
              </a:ext>
            </a:extLst>
          </p:cNvPr>
          <p:cNvSpPr/>
          <p:nvPr/>
        </p:nvSpPr>
        <p:spPr>
          <a:xfrm>
            <a:off x="8512768" y="3557590"/>
            <a:ext cx="1291576" cy="634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100" dirty="0">
                <a:solidFill>
                  <a:srgbClr val="2084C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ko-KR"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 err="1">
                <a:solidFill>
                  <a:srgbClr val="2084C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QSMnet</a:t>
            </a:r>
            <a:endParaRPr lang="en-US" altLang="ko-KR" dirty="0">
              <a:solidFill>
                <a:srgbClr val="2084C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100" dirty="0">
                <a:solidFill>
                  <a:srgbClr val="EDB12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altLang="ko-KR"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 err="1">
                <a:solidFill>
                  <a:srgbClr val="EFBB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QSMnet</a:t>
            </a:r>
            <a:r>
              <a:rPr lang="en-US" altLang="ko-KR" sz="2400" baseline="30000" dirty="0">
                <a:solidFill>
                  <a:srgbClr val="EFBB3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endParaRPr lang="en-US" altLang="ko-KR" baseline="30000" dirty="0">
              <a:solidFill>
                <a:srgbClr val="EFBB3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53357" y="1019188"/>
            <a:ext cx="4139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Training data distribution </a:t>
            </a:r>
            <a:r>
              <a:rPr lang="en-US" altLang="ko-KR" sz="2000">
                <a:latin typeface="Calibri" panose="020F0502020204030204" pitchFamily="34" charset="0"/>
                <a:cs typeface="Calibri" panose="020F0502020204030204" pitchFamily="34" charset="0"/>
              </a:rPr>
              <a:t>of QSMnet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DE02AC-EF6A-4C44-9B09-8C729B558B38}"/>
              </a:ext>
            </a:extLst>
          </p:cNvPr>
          <p:cNvSpPr txBox="1"/>
          <p:nvPr/>
        </p:nvSpPr>
        <p:spPr>
          <a:xfrm>
            <a:off x="6336000" y="1023805"/>
            <a:ext cx="397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Susceptibility value in lesion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3FC2BC-D55E-4E1D-BE83-7F18FC403E9C}"/>
              </a:ext>
            </a:extLst>
          </p:cNvPr>
          <p:cNvSpPr/>
          <p:nvPr/>
        </p:nvSpPr>
        <p:spPr>
          <a:xfrm>
            <a:off x="6934019" y="1580518"/>
            <a:ext cx="2775368" cy="2736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15E0D7-F2D8-4985-96FC-C758EEC94FDC}"/>
              </a:ext>
            </a:extLst>
          </p:cNvPr>
          <p:cNvSpPr txBox="1"/>
          <p:nvPr/>
        </p:nvSpPr>
        <p:spPr>
          <a:xfrm>
            <a:off x="7058447" y="4523060"/>
            <a:ext cx="2526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Conventional QSM (ppm)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D7D9C7-2013-4D60-83E8-4C9234577182}"/>
              </a:ext>
            </a:extLst>
          </p:cNvPr>
          <p:cNvSpPr txBox="1"/>
          <p:nvPr/>
        </p:nvSpPr>
        <p:spPr>
          <a:xfrm rot="16200000">
            <a:off x="5520367" y="2751239"/>
            <a:ext cx="1914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QSMnet (ppm)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312F5FF-05C0-487D-9920-01503C4B11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826" t="56654" r="10871" b="7586"/>
          <a:stretch/>
        </p:blipFill>
        <p:spPr>
          <a:xfrm>
            <a:off x="7013630" y="1718517"/>
            <a:ext cx="1074560" cy="1059008"/>
          </a:xfrm>
          <a:prstGeom prst="rect">
            <a:avLst/>
          </a:prstGeom>
        </p:spPr>
      </p:pic>
      <p:sp>
        <p:nvSpPr>
          <p:cNvPr id="26" name="자유형 29">
            <a:extLst>
              <a:ext uri="{FF2B5EF4-FFF2-40B4-BE49-F238E27FC236}">
                <a16:creationId xmlns:a16="http://schemas.microsoft.com/office/drawing/2014/main" id="{83A46EB8-8469-4B2A-BFF2-A9474D19CAA2}"/>
              </a:ext>
            </a:extLst>
          </p:cNvPr>
          <p:cNvSpPr/>
          <p:nvPr/>
        </p:nvSpPr>
        <p:spPr>
          <a:xfrm>
            <a:off x="7653773" y="2184798"/>
            <a:ext cx="107156" cy="153590"/>
          </a:xfrm>
          <a:custGeom>
            <a:avLst/>
            <a:gdLst>
              <a:gd name="connsiteX0" fmla="*/ 26194 w 116682"/>
              <a:gd name="connsiteY0" fmla="*/ 626 h 133976"/>
              <a:gd name="connsiteX1" fmla="*/ 42863 w 116682"/>
              <a:gd name="connsiteY1" fmla="*/ 3008 h 133976"/>
              <a:gd name="connsiteX2" fmla="*/ 50007 w 116682"/>
              <a:gd name="connsiteY2" fmla="*/ 5389 h 133976"/>
              <a:gd name="connsiteX3" fmla="*/ 64294 w 116682"/>
              <a:gd name="connsiteY3" fmla="*/ 7770 h 133976"/>
              <a:gd name="connsiteX4" fmla="*/ 71438 w 116682"/>
              <a:gd name="connsiteY4" fmla="*/ 12533 h 133976"/>
              <a:gd name="connsiteX5" fmla="*/ 85725 w 116682"/>
              <a:gd name="connsiteY5" fmla="*/ 17295 h 133976"/>
              <a:gd name="connsiteX6" fmla="*/ 92869 w 116682"/>
              <a:gd name="connsiteY6" fmla="*/ 22058 h 133976"/>
              <a:gd name="connsiteX7" fmla="*/ 100013 w 116682"/>
              <a:gd name="connsiteY7" fmla="*/ 24439 h 133976"/>
              <a:gd name="connsiteX8" fmla="*/ 102394 w 116682"/>
              <a:gd name="connsiteY8" fmla="*/ 31583 h 133976"/>
              <a:gd name="connsiteX9" fmla="*/ 109538 w 116682"/>
              <a:gd name="connsiteY9" fmla="*/ 36345 h 133976"/>
              <a:gd name="connsiteX10" fmla="*/ 116682 w 116682"/>
              <a:gd name="connsiteY10" fmla="*/ 76826 h 133976"/>
              <a:gd name="connsiteX11" fmla="*/ 111919 w 116682"/>
              <a:gd name="connsiteY11" fmla="*/ 95876 h 133976"/>
              <a:gd name="connsiteX12" fmla="*/ 107157 w 116682"/>
              <a:gd name="connsiteY12" fmla="*/ 103020 h 133976"/>
              <a:gd name="connsiteX13" fmla="*/ 102394 w 116682"/>
              <a:gd name="connsiteY13" fmla="*/ 117308 h 133976"/>
              <a:gd name="connsiteX14" fmla="*/ 100013 w 116682"/>
              <a:gd name="connsiteY14" fmla="*/ 124451 h 133976"/>
              <a:gd name="connsiteX15" fmla="*/ 92869 w 116682"/>
              <a:gd name="connsiteY15" fmla="*/ 129214 h 133976"/>
              <a:gd name="connsiteX16" fmla="*/ 78582 w 116682"/>
              <a:gd name="connsiteY16" fmla="*/ 133976 h 133976"/>
              <a:gd name="connsiteX17" fmla="*/ 73819 w 116682"/>
              <a:gd name="connsiteY17" fmla="*/ 126833 h 133976"/>
              <a:gd name="connsiteX18" fmla="*/ 66675 w 116682"/>
              <a:gd name="connsiteY18" fmla="*/ 112545 h 133976"/>
              <a:gd name="connsiteX19" fmla="*/ 52388 w 116682"/>
              <a:gd name="connsiteY19" fmla="*/ 107783 h 133976"/>
              <a:gd name="connsiteX20" fmla="*/ 42863 w 116682"/>
              <a:gd name="connsiteY20" fmla="*/ 105401 h 133976"/>
              <a:gd name="connsiteX21" fmla="*/ 28575 w 116682"/>
              <a:gd name="connsiteY21" fmla="*/ 100639 h 133976"/>
              <a:gd name="connsiteX22" fmla="*/ 11907 w 116682"/>
              <a:gd name="connsiteY22" fmla="*/ 81589 h 133976"/>
              <a:gd name="connsiteX23" fmla="*/ 7144 w 116682"/>
              <a:gd name="connsiteY23" fmla="*/ 67301 h 133976"/>
              <a:gd name="connsiteX24" fmla="*/ 0 w 116682"/>
              <a:gd name="connsiteY24" fmla="*/ 53014 h 133976"/>
              <a:gd name="connsiteX25" fmla="*/ 2382 w 116682"/>
              <a:gd name="connsiteY25" fmla="*/ 22058 h 133976"/>
              <a:gd name="connsiteX26" fmla="*/ 9525 w 116682"/>
              <a:gd name="connsiteY26" fmla="*/ 17295 h 133976"/>
              <a:gd name="connsiteX27" fmla="*/ 16669 w 116682"/>
              <a:gd name="connsiteY27" fmla="*/ 14914 h 133976"/>
              <a:gd name="connsiteX28" fmla="*/ 26194 w 116682"/>
              <a:gd name="connsiteY28" fmla="*/ 626 h 13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16682" h="133976">
                <a:moveTo>
                  <a:pt x="26194" y="626"/>
                </a:moveTo>
                <a:cubicBezTo>
                  <a:pt x="30560" y="-1358"/>
                  <a:pt x="37359" y="1907"/>
                  <a:pt x="42863" y="3008"/>
                </a:cubicBezTo>
                <a:cubicBezTo>
                  <a:pt x="45324" y="3500"/>
                  <a:pt x="47557" y="4845"/>
                  <a:pt x="50007" y="5389"/>
                </a:cubicBezTo>
                <a:cubicBezTo>
                  <a:pt x="54720" y="6436"/>
                  <a:pt x="59532" y="6976"/>
                  <a:pt x="64294" y="7770"/>
                </a:cubicBezTo>
                <a:cubicBezTo>
                  <a:pt x="66675" y="9358"/>
                  <a:pt x="68823" y="11371"/>
                  <a:pt x="71438" y="12533"/>
                </a:cubicBezTo>
                <a:cubicBezTo>
                  <a:pt x="76025" y="14572"/>
                  <a:pt x="85725" y="17295"/>
                  <a:pt x="85725" y="17295"/>
                </a:cubicBezTo>
                <a:cubicBezTo>
                  <a:pt x="88106" y="18883"/>
                  <a:pt x="90309" y="20778"/>
                  <a:pt x="92869" y="22058"/>
                </a:cubicBezTo>
                <a:cubicBezTo>
                  <a:pt x="95114" y="23181"/>
                  <a:pt x="98238" y="22664"/>
                  <a:pt x="100013" y="24439"/>
                </a:cubicBezTo>
                <a:cubicBezTo>
                  <a:pt x="101788" y="26214"/>
                  <a:pt x="100826" y="29623"/>
                  <a:pt x="102394" y="31583"/>
                </a:cubicBezTo>
                <a:cubicBezTo>
                  <a:pt x="104182" y="33818"/>
                  <a:pt x="107157" y="34758"/>
                  <a:pt x="109538" y="36345"/>
                </a:cubicBezTo>
                <a:cubicBezTo>
                  <a:pt x="117072" y="58950"/>
                  <a:pt x="113845" y="45633"/>
                  <a:pt x="116682" y="76826"/>
                </a:cubicBezTo>
                <a:cubicBezTo>
                  <a:pt x="115776" y="81353"/>
                  <a:pt x="114359" y="90995"/>
                  <a:pt x="111919" y="95876"/>
                </a:cubicBezTo>
                <a:cubicBezTo>
                  <a:pt x="110639" y="98436"/>
                  <a:pt x="108319" y="100405"/>
                  <a:pt x="107157" y="103020"/>
                </a:cubicBezTo>
                <a:cubicBezTo>
                  <a:pt x="105118" y="107608"/>
                  <a:pt x="103982" y="112545"/>
                  <a:pt x="102394" y="117308"/>
                </a:cubicBezTo>
                <a:cubicBezTo>
                  <a:pt x="101600" y="119689"/>
                  <a:pt x="102101" y="123059"/>
                  <a:pt x="100013" y="124451"/>
                </a:cubicBezTo>
                <a:cubicBezTo>
                  <a:pt x="97632" y="126039"/>
                  <a:pt x="95484" y="128052"/>
                  <a:pt x="92869" y="129214"/>
                </a:cubicBezTo>
                <a:cubicBezTo>
                  <a:pt x="88282" y="131253"/>
                  <a:pt x="78582" y="133976"/>
                  <a:pt x="78582" y="133976"/>
                </a:cubicBezTo>
                <a:cubicBezTo>
                  <a:pt x="76994" y="131595"/>
                  <a:pt x="75099" y="129393"/>
                  <a:pt x="73819" y="126833"/>
                </a:cubicBezTo>
                <a:cubicBezTo>
                  <a:pt x="71577" y="122349"/>
                  <a:pt x="71640" y="115648"/>
                  <a:pt x="66675" y="112545"/>
                </a:cubicBezTo>
                <a:cubicBezTo>
                  <a:pt x="62418" y="109884"/>
                  <a:pt x="57258" y="109001"/>
                  <a:pt x="52388" y="107783"/>
                </a:cubicBezTo>
                <a:cubicBezTo>
                  <a:pt x="49213" y="106989"/>
                  <a:pt x="45998" y="106341"/>
                  <a:pt x="42863" y="105401"/>
                </a:cubicBezTo>
                <a:cubicBezTo>
                  <a:pt x="38055" y="103958"/>
                  <a:pt x="28575" y="100639"/>
                  <a:pt x="28575" y="100639"/>
                </a:cubicBezTo>
                <a:cubicBezTo>
                  <a:pt x="20242" y="95082"/>
                  <a:pt x="15875" y="93493"/>
                  <a:pt x="11907" y="81589"/>
                </a:cubicBezTo>
                <a:cubicBezTo>
                  <a:pt x="10319" y="76826"/>
                  <a:pt x="9929" y="71478"/>
                  <a:pt x="7144" y="67301"/>
                </a:cubicBezTo>
                <a:cubicBezTo>
                  <a:pt x="990" y="58069"/>
                  <a:pt x="3287" y="62873"/>
                  <a:pt x="0" y="53014"/>
                </a:cubicBezTo>
                <a:cubicBezTo>
                  <a:pt x="794" y="42695"/>
                  <a:pt x="-285" y="32058"/>
                  <a:pt x="2382" y="22058"/>
                </a:cubicBezTo>
                <a:cubicBezTo>
                  <a:pt x="3119" y="19293"/>
                  <a:pt x="6965" y="18575"/>
                  <a:pt x="9525" y="17295"/>
                </a:cubicBezTo>
                <a:cubicBezTo>
                  <a:pt x="11770" y="16172"/>
                  <a:pt x="14338" y="15846"/>
                  <a:pt x="16669" y="14914"/>
                </a:cubicBezTo>
                <a:cubicBezTo>
                  <a:pt x="18317" y="14255"/>
                  <a:pt x="21828" y="2610"/>
                  <a:pt x="26194" y="626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0F1608-4E55-4B56-8EA6-08B31A8F450D}"/>
              </a:ext>
            </a:extLst>
          </p:cNvPr>
          <p:cNvSpPr/>
          <p:nvPr/>
        </p:nvSpPr>
        <p:spPr>
          <a:xfrm>
            <a:off x="6434383" y="1514476"/>
            <a:ext cx="471248" cy="18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E6F1DCC-014D-4D78-8014-DCCDDCDA621A}"/>
              </a:ext>
            </a:extLst>
          </p:cNvPr>
          <p:cNvSpPr/>
          <p:nvPr/>
        </p:nvSpPr>
        <p:spPr>
          <a:xfrm>
            <a:off x="9426716" y="4341978"/>
            <a:ext cx="471248" cy="18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3914AA-AC0D-4FDB-B85C-0950A660066F}"/>
              </a:ext>
            </a:extLst>
          </p:cNvPr>
          <p:cNvSpPr txBox="1"/>
          <p:nvPr/>
        </p:nvSpPr>
        <p:spPr>
          <a:xfrm rot="16200000">
            <a:off x="1348109" y="2785719"/>
            <a:ext cx="1845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Number of voxels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D25CB4-BAB4-484F-9C09-9D6B13C056D2}"/>
              </a:ext>
            </a:extLst>
          </p:cNvPr>
          <p:cNvSpPr txBox="1"/>
          <p:nvPr/>
        </p:nvSpPr>
        <p:spPr>
          <a:xfrm>
            <a:off x="2712230" y="4529088"/>
            <a:ext cx="2621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Susceptibility value (ppm)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F069E5C7-C8CE-475B-B004-F62A41E76D39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4" t="16794" b="7779"/>
          <a:stretch/>
        </p:blipFill>
        <p:spPr>
          <a:xfrm>
            <a:off x="2387657" y="1378634"/>
            <a:ext cx="3352145" cy="3257941"/>
          </a:xfrm>
          <a:prstGeom prst="rect">
            <a:avLst/>
          </a:prstGeom>
        </p:spPr>
      </p:pic>
      <p:sp>
        <p:nvSpPr>
          <p:cNvPr id="56" name="아래쪽 화살표 18">
            <a:extLst>
              <a:ext uri="{FF2B5EF4-FFF2-40B4-BE49-F238E27FC236}">
                <a16:creationId xmlns:a16="http://schemas.microsoft.com/office/drawing/2014/main" id="{32AC6EC9-D09D-4BE7-AB7C-58AC21AF7FFC}"/>
              </a:ext>
            </a:extLst>
          </p:cNvPr>
          <p:cNvSpPr/>
          <p:nvPr/>
        </p:nvSpPr>
        <p:spPr>
          <a:xfrm>
            <a:off x="5142008" y="3987978"/>
            <a:ext cx="142875" cy="288446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A7D565-B65B-43B8-8294-967EDD7D2638}"/>
              </a:ext>
            </a:extLst>
          </p:cNvPr>
          <p:cNvSpPr txBox="1"/>
          <p:nvPr/>
        </p:nvSpPr>
        <p:spPr>
          <a:xfrm>
            <a:off x="4602248" y="3608284"/>
            <a:ext cx="12341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Hemorrhage</a:t>
            </a:r>
            <a:endParaRPr lang="ko-KR" altLang="en-US" sz="15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99E88A-25A6-4F07-858E-EDFA98C3D966}"/>
              </a:ext>
            </a:extLst>
          </p:cNvPr>
          <p:cNvSpPr/>
          <p:nvPr/>
        </p:nvSpPr>
        <p:spPr>
          <a:xfrm>
            <a:off x="7760929" y="4837411"/>
            <a:ext cx="22065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0000FF"/>
                </a:solidFill>
                <a:latin typeface="Calibri" panose="020F0502020204030204" pitchFamily="34" charset="0"/>
              </a:rPr>
              <a:t>Jung, NeuroImage </a:t>
            </a:r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</a:rPr>
              <a:t>2020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041F4E3C-7E48-4D66-ADEB-3FF119364028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Generalization: Susceptibility range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8F56AF-0334-4222-B78D-D8FEFC0F3607}"/>
              </a:ext>
            </a:extLst>
          </p:cNvPr>
          <p:cNvSpPr/>
          <p:nvPr/>
        </p:nvSpPr>
        <p:spPr>
          <a:xfrm>
            <a:off x="1545224" y="5035701"/>
            <a:ext cx="9095513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Calibri" panose="020F0502020204030204" pitchFamily="34" charset="0"/>
              </a:rPr>
              <a:t>QSMnet</a:t>
            </a:r>
            <a:r>
              <a:rPr lang="en-US" altLang="ko-KR" sz="2000" dirty="0">
                <a:latin typeface="Calibri" panose="020F0502020204030204" pitchFamily="34" charset="0"/>
              </a:rPr>
              <a:t> was trained with limited susceptibility range (-0.4 to 0.6 ppm)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Calibri" panose="020F0502020204030204" pitchFamily="34" charset="0"/>
              </a:rPr>
              <a:t>Hemorrhage with high susceptibility (&gt;1 ppm) was underestimated </a:t>
            </a:r>
            <a:r>
              <a:rPr lang="en-US" altLang="ko-KR" sz="2000">
                <a:latin typeface="Calibri" panose="020F0502020204030204" pitchFamily="34" charset="0"/>
              </a:rPr>
              <a:t>in QSMnet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latin typeface="Calibri" panose="020F0502020204030204" pitchFamily="34" charset="0"/>
              </a:rPr>
              <a:t>Augmentation using simulated data improves hemorrhage estimation in QSMnet+</a:t>
            </a:r>
          </a:p>
        </p:txBody>
      </p:sp>
    </p:spTree>
    <p:extLst>
      <p:ext uri="{BB962C8B-B14F-4D97-AF65-F5344CB8AC3E}">
        <p14:creationId xmlns:p14="http://schemas.microsoft.com/office/powerpoint/2010/main" val="1945156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73"/>
          <a:stretch/>
        </p:blipFill>
        <p:spPr>
          <a:xfrm>
            <a:off x="1771203" y="1210705"/>
            <a:ext cx="8181522" cy="23661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F4D63F3-8972-4126-B73B-696270075E12}"/>
              </a:ext>
            </a:extLst>
          </p:cNvPr>
          <p:cNvSpPr txBox="1"/>
          <p:nvPr/>
        </p:nvSpPr>
        <p:spPr>
          <a:xfrm>
            <a:off x="7763417" y="891305"/>
            <a:ext cx="2372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Jung, NMR BioMed 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2020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7E29C0-AE49-442B-AC18-FE04E8BC5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01" y="4733836"/>
            <a:ext cx="5609394" cy="11729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3BA1EF8-8065-459B-B675-4A4B710A0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672" y="4070505"/>
            <a:ext cx="5274255" cy="207773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11A4D94-8793-4670-8BBC-D8D45B499367}"/>
              </a:ext>
            </a:extLst>
          </p:cNvPr>
          <p:cNvSpPr/>
          <p:nvPr/>
        </p:nvSpPr>
        <p:spPr>
          <a:xfrm>
            <a:off x="591918" y="4042832"/>
            <a:ext cx="5265964" cy="2092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7C8B128-66EE-4F49-95A3-810B0E383B01}"/>
              </a:ext>
            </a:extLst>
          </p:cNvPr>
          <p:cNvSpPr txBox="1">
            <a:spLocks/>
          </p:cNvSpPr>
          <p:nvPr/>
        </p:nvSpPr>
        <p:spPr>
          <a:xfrm>
            <a:off x="739489" y="3868917"/>
            <a:ext cx="1897585" cy="362683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Lower resolution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64879B-44B0-436D-AB5C-188DF7E50B84}"/>
              </a:ext>
            </a:extLst>
          </p:cNvPr>
          <p:cNvSpPr/>
          <p:nvPr/>
        </p:nvSpPr>
        <p:spPr>
          <a:xfrm>
            <a:off x="6316438" y="4042832"/>
            <a:ext cx="5265964" cy="2092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DE5463E-333C-426B-82E6-EE8801F64E52}"/>
              </a:ext>
            </a:extLst>
          </p:cNvPr>
          <p:cNvSpPr txBox="1">
            <a:spLocks/>
          </p:cNvSpPr>
          <p:nvPr/>
        </p:nvSpPr>
        <p:spPr>
          <a:xfrm>
            <a:off x="6457729" y="3909027"/>
            <a:ext cx="1897585" cy="311519"/>
          </a:xfrm>
          <a:prstGeom prst="rect">
            <a:avLst/>
          </a:prstGeom>
          <a:solidFill>
            <a:schemeClr val="bg1"/>
          </a:solidFill>
        </p:spPr>
        <p:txBody>
          <a:bodyPr>
            <a:normAutofit fontScale="9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Higher resolution</a:t>
            </a:r>
            <a:endParaRPr lang="ko-KR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988E2E9F-C377-484B-9BC8-06A0AC943324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Generalization: Resolution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47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ars.els-cdn.com/content/image/1-s2.0-S1361841522001244-gr1_lr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141" y="1625967"/>
            <a:ext cx="4832659" cy="223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ADF1A2B-CCD6-48FC-8F10-4F1BDCA74C64}"/>
              </a:ext>
            </a:extLst>
          </p:cNvPr>
          <p:cNvSpPr txBox="1"/>
          <p:nvPr/>
        </p:nvSpPr>
        <p:spPr>
          <a:xfrm>
            <a:off x="6388575" y="762087"/>
            <a:ext cx="3593625" cy="388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>
                <a:solidFill>
                  <a:srgbClr val="0000FF"/>
                </a:solidFill>
                <a:latin typeface=" calibri"/>
              </a:rPr>
              <a:t>Oh, Med Img Anal 2022</a:t>
            </a:r>
            <a:endParaRPr lang="ko-KR" altLang="en-US" sz="1600" dirty="0">
              <a:solidFill>
                <a:srgbClr val="0000FF"/>
              </a:solidFill>
              <a:latin typeface=" calibri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F5F3818-FC10-4A44-BD53-5BF3AA403068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Generalization: Resolution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pic>
        <p:nvPicPr>
          <p:cNvPr id="23" name="Picture 4" descr="Details are in the caption following the image">
            <a:extLst>
              <a:ext uri="{FF2B5EF4-FFF2-40B4-BE49-F238E27FC236}">
                <a16:creationId xmlns:a16="http://schemas.microsoft.com/office/drawing/2014/main" id="{4C490767-72BF-49B0-98E3-0B3CD247A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06" y="1258741"/>
            <a:ext cx="4148537" cy="282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BDA7712-D01D-4524-8749-75052DF76F6D}"/>
              </a:ext>
            </a:extLst>
          </p:cNvPr>
          <p:cNvSpPr txBox="1"/>
          <p:nvPr/>
        </p:nvSpPr>
        <p:spPr>
          <a:xfrm>
            <a:off x="864259" y="762087"/>
            <a:ext cx="34398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>
                <a:solidFill>
                  <a:srgbClr val="0000FF"/>
                </a:solidFill>
                <a:latin typeface=" calibri"/>
              </a:rPr>
              <a:t>Gao, NMR Biomed </a:t>
            </a:r>
            <a:r>
              <a:rPr lang="en-US" altLang="ko-KR" sz="1600" dirty="0">
                <a:solidFill>
                  <a:srgbClr val="0000FF"/>
                </a:solidFill>
                <a:latin typeface=" calibri"/>
              </a:rPr>
              <a:t>2021</a:t>
            </a:r>
            <a:endParaRPr lang="ko-KR" altLang="en-US" sz="1600" dirty="0">
              <a:solidFill>
                <a:srgbClr val="0000FF"/>
              </a:solidFill>
              <a:latin typeface=" 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A87BF8-1AF3-44B9-98FC-9B46CF28D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86" y="4306359"/>
            <a:ext cx="4595576" cy="220588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BAFDD89-DF01-49E5-9B6A-25691D3AD391}"/>
              </a:ext>
            </a:extLst>
          </p:cNvPr>
          <p:cNvSpPr/>
          <p:nvPr/>
        </p:nvSpPr>
        <p:spPr>
          <a:xfrm>
            <a:off x="6601486" y="1151868"/>
            <a:ext cx="46745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>
                <a:solidFill>
                  <a:srgbClr val="2E2E2E"/>
                </a:solidFill>
                <a:latin typeface="NexusSerif"/>
              </a:rPr>
              <a:t>Unsuprevised learning with adaptive instance normalization </a:t>
            </a:r>
            <a:endParaRPr lang="ko-KR" altLang="en-US" sz="1400" b="1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F4DFC5-32A0-43D8-8BE3-0F6757837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9576" y="4306359"/>
            <a:ext cx="4671958" cy="217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87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F5F3818-FC10-4A44-BD53-5BF3AA403068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Generalization: Resolution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9D83DE3-FF85-4DE2-ACDB-245DF0FA00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055"/>
          <a:stretch/>
        </p:blipFill>
        <p:spPr>
          <a:xfrm>
            <a:off x="1139176" y="946279"/>
            <a:ext cx="9908531" cy="25098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CF95E3-0935-49CF-A109-DB5C9B266C57}"/>
              </a:ext>
            </a:extLst>
          </p:cNvPr>
          <p:cNvSpPr txBox="1"/>
          <p:nvPr/>
        </p:nvSpPr>
        <p:spPr>
          <a:xfrm>
            <a:off x="849747" y="5904563"/>
            <a:ext cx="2172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solidFill>
                  <a:srgbClr val="0000FF"/>
                </a:solidFill>
                <a:latin typeface=" calibri"/>
              </a:rPr>
              <a:t>Sooyeon Ji</a:t>
            </a:r>
          </a:p>
          <a:p>
            <a:pPr algn="ctr"/>
            <a:r>
              <a:rPr lang="en-US" altLang="ko-KR" sz="1600">
                <a:solidFill>
                  <a:srgbClr val="0000FF"/>
                </a:solidFill>
                <a:latin typeface=" calibri"/>
              </a:rPr>
              <a:t>QSM workshop 2022</a:t>
            </a:r>
            <a:endParaRPr lang="ko-KR" altLang="en-US" sz="1600" dirty="0">
              <a:solidFill>
                <a:srgbClr val="0000FF"/>
              </a:solidFill>
              <a:latin typeface=" calibri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99A89F4-75BF-4193-8E08-1C3A4EBB07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037"/>
          <a:stretch/>
        </p:blipFill>
        <p:spPr>
          <a:xfrm>
            <a:off x="3334153" y="3567807"/>
            <a:ext cx="7686039" cy="27885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933259-4315-4E56-9715-50ED924CB5AE}"/>
              </a:ext>
            </a:extLst>
          </p:cNvPr>
          <p:cNvSpPr txBox="1"/>
          <p:nvPr/>
        </p:nvSpPr>
        <p:spPr>
          <a:xfrm>
            <a:off x="4083189" y="6263079"/>
            <a:ext cx="6416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 calibri"/>
              </a:rPr>
              <a:t>1 </a:t>
            </a:r>
            <a:r>
              <a:rPr lang="en-US" altLang="ko-KR">
                <a:latin typeface=" calibri"/>
              </a:rPr>
              <a:t>x 1 </a:t>
            </a:r>
            <a:r>
              <a:rPr lang="en-US" altLang="ko-KR" dirty="0">
                <a:latin typeface=" calibri"/>
              </a:rPr>
              <a:t>x 3 mm</a:t>
            </a:r>
            <a:r>
              <a:rPr lang="en-US" altLang="ko-KR" baseline="30000" dirty="0">
                <a:latin typeface=" calibri"/>
              </a:rPr>
              <a:t>3</a:t>
            </a:r>
            <a:r>
              <a:rPr lang="en-US" altLang="ko-KR" dirty="0">
                <a:latin typeface=" calibri"/>
              </a:rPr>
              <a:t> </a:t>
            </a:r>
            <a:r>
              <a:rPr lang="en-US" altLang="ko-KR">
                <a:latin typeface=" calibri"/>
              </a:rPr>
              <a:t>data inference for network trained using 1.5 mm iso</a:t>
            </a:r>
            <a:endParaRPr lang="ko-KR" altLang="en-US" baseline="-25000" dirty="0">
              <a:latin typeface=" calibri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83AB475-1EA0-4D14-AE87-7889BFBBF5B4}"/>
              </a:ext>
            </a:extLst>
          </p:cNvPr>
          <p:cNvSpPr/>
          <p:nvPr/>
        </p:nvSpPr>
        <p:spPr>
          <a:xfrm>
            <a:off x="6204373" y="4036907"/>
            <a:ext cx="2208107" cy="2226172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9408CE-B864-413B-A848-075D23E96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441" y="3838742"/>
            <a:ext cx="2423697" cy="213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764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AC2730-05C6-47E2-BE00-6F1583A6AE95}"/>
              </a:ext>
            </a:extLst>
          </p:cNvPr>
          <p:cNvSpPr/>
          <p:nvPr/>
        </p:nvSpPr>
        <p:spPr>
          <a:xfrm>
            <a:off x="859906" y="891404"/>
            <a:ext cx="11162761" cy="686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  <a:latin typeface="Calibri" panose="020F0502020204030204" pitchFamily="34" charset="0"/>
              </a:rPr>
              <a:t>Performance of deep learning </a:t>
            </a:r>
            <a:r>
              <a:rPr lang="en-US" altLang="ko-KR" sz="2000">
                <a:solidFill>
                  <a:schemeClr val="tx1"/>
                </a:solidFill>
                <a:latin typeface="Calibri" panose="020F0502020204030204" pitchFamily="34" charset="0"/>
              </a:rPr>
              <a:t>QSM changes if test data has different characteristics from training data</a:t>
            </a:r>
            <a:endParaRPr lang="en-US" altLang="ko-KR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B4972-9B88-4714-B81D-D733780BC297}"/>
              </a:ext>
            </a:extLst>
          </p:cNvPr>
          <p:cNvSpPr txBox="1"/>
          <p:nvPr/>
        </p:nvSpPr>
        <p:spPr>
          <a:xfrm>
            <a:off x="8473847" y="1686564"/>
            <a:ext cx="16748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Høy, ISMRM2019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DF571-F62E-4E77-BAB3-264A9A0045BC}"/>
              </a:ext>
            </a:extLst>
          </p:cNvPr>
          <p:cNvSpPr txBox="1"/>
          <p:nvPr/>
        </p:nvSpPr>
        <p:spPr>
          <a:xfrm>
            <a:off x="7962809" y="6094546"/>
            <a:ext cx="2461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Jung, NMR BioMed 2020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70271B-D76E-4832-A788-6F2FAA5B8B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0" t="5031" b="64044"/>
          <a:stretch/>
        </p:blipFill>
        <p:spPr>
          <a:xfrm>
            <a:off x="1938790" y="3488227"/>
            <a:ext cx="8209870" cy="26063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38A3CE-0AE9-4347-99B0-B4D7E0CA0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575" y="1962172"/>
            <a:ext cx="8496300" cy="133350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4D61E3F0-71B4-4175-99FE-FE0B8C8A2709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>
                <a:latin typeface="Calibri" panose="020F0502020204030204"/>
              </a:rPr>
              <a:t> Generalization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384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96EF9A-649E-48E3-A88B-59418D6C0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8" y="2337375"/>
            <a:ext cx="5611706" cy="2080363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1860554E-CA85-43A2-8021-692BF02631D5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>
                <a:latin typeface="Calibri" panose="020F0502020204030204"/>
              </a:rPr>
              <a:t> Generalization: Solutions using network architectures</a:t>
            </a:r>
            <a:endParaRPr lang="ko-KR" altLang="en-US" sz="3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BD147F9-CDF6-4B1D-A730-9F9F02C14A99}"/>
              </a:ext>
            </a:extLst>
          </p:cNvPr>
          <p:cNvSpPr/>
          <p:nvPr/>
        </p:nvSpPr>
        <p:spPr>
          <a:xfrm>
            <a:off x="470070" y="1251353"/>
            <a:ext cx="588602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FINE</a:t>
            </a:r>
            <a:r>
              <a:rPr lang="en-US" altLang="ko-KR" sz="2000">
                <a:latin typeface=" calibri"/>
              </a:rPr>
              <a:t>:</a:t>
            </a:r>
            <a:r>
              <a:rPr lang="ko-KR" altLang="en-US" sz="2000">
                <a:latin typeface=" calibri"/>
              </a:rPr>
              <a:t> </a:t>
            </a:r>
            <a:r>
              <a:rPr lang="en-US" altLang="ko-KR" sz="2000">
                <a:solidFill>
                  <a:srgbClr val="2E2E2E"/>
                </a:solidFill>
                <a:latin typeface="NexusSerif"/>
              </a:rPr>
              <a:t>Self transfer learning with physical model loss</a:t>
            </a:r>
            <a:endParaRPr lang="ko-KR" altLang="en-US">
              <a:solidFill>
                <a:srgbClr val="0000FF"/>
              </a:solidFill>
              <a:latin typeface=" calibri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260A1-E239-4ACB-BC82-CA371ECD68FF}"/>
              </a:ext>
            </a:extLst>
          </p:cNvPr>
          <p:cNvSpPr/>
          <p:nvPr/>
        </p:nvSpPr>
        <p:spPr>
          <a:xfrm>
            <a:off x="1458974" y="4656652"/>
            <a:ext cx="62829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>
                <a:latin typeface=" calibri"/>
              </a:rPr>
              <a:t>Va</a:t>
            </a:r>
            <a:r>
              <a:rPr lang="ko-KR" altLang="en-US" sz="2000">
                <a:latin typeface=" calibri"/>
              </a:rPr>
              <a:t>NDI</a:t>
            </a:r>
            <a:r>
              <a:rPr lang="en-US" altLang="ko-KR" sz="2000">
                <a:latin typeface=" calibri"/>
              </a:rPr>
              <a:t>: Combine nonlinear dipole inversion with                   </a:t>
            </a:r>
          </a:p>
          <a:p>
            <a:r>
              <a:rPr lang="en-US" altLang="ko-KR" sz="2000">
                <a:latin typeface=" calibri"/>
              </a:rPr>
              <a:t>                    variational network</a:t>
            </a:r>
            <a:endParaRPr lang="ko-KR" altLang="en-US" sz="2000">
              <a:latin typeface=" calibri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431B2-CD43-4540-AD34-DFA0134AA55A}"/>
              </a:ext>
            </a:extLst>
          </p:cNvPr>
          <p:cNvSpPr/>
          <p:nvPr/>
        </p:nvSpPr>
        <p:spPr>
          <a:xfrm>
            <a:off x="6665676" y="1248427"/>
            <a:ext cx="49716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>
                <a:latin typeface=" calibri"/>
              </a:rPr>
              <a:t>MoDL-QSM: </a:t>
            </a:r>
            <a:r>
              <a:rPr lang="en-US" altLang="ko-KR" sz="2000">
                <a:latin typeface=" calibri"/>
              </a:rPr>
              <a:t>Physics model enforced with</a:t>
            </a:r>
          </a:p>
          <a:p>
            <a:r>
              <a:rPr lang="en-US" altLang="ko-KR" sz="2000">
                <a:latin typeface=" calibri"/>
              </a:rPr>
              <a:t>                             network as regularizer</a:t>
            </a:r>
            <a:endParaRPr lang="ko-KR" altLang="en-US" sz="2000">
              <a:latin typeface=" calibri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94D038-F6CF-4DA7-A762-E7A5195192FB}"/>
              </a:ext>
            </a:extLst>
          </p:cNvPr>
          <p:cNvSpPr/>
          <p:nvPr/>
        </p:nvSpPr>
        <p:spPr>
          <a:xfrm>
            <a:off x="1341121" y="1499655"/>
            <a:ext cx="4348480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solidFill>
                  <a:srgbClr val="2E2E2E"/>
                </a:solidFill>
                <a:latin typeface="NexusSerif"/>
              </a:rPr>
              <a:t>Generalization to untrained input</a:t>
            </a:r>
            <a:endParaRPr lang="ko-KR" altLang="en-US" sz="2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3305F9-A27E-47F9-8193-6FE3BD38E32F}"/>
              </a:ext>
            </a:extLst>
          </p:cNvPr>
          <p:cNvSpPr/>
          <p:nvPr/>
        </p:nvSpPr>
        <p:spPr>
          <a:xfrm>
            <a:off x="9519957" y="1999408"/>
            <a:ext cx="22179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Feng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 Neuroimage 2021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F011D8-C870-4154-9DC2-1804AC1A7E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714"/>
          <a:stretch/>
        </p:blipFill>
        <p:spPr>
          <a:xfrm>
            <a:off x="6834294" y="2313333"/>
            <a:ext cx="4916138" cy="195386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8F1C140-97AD-49A3-9BD1-4CCE2C39F1E3}"/>
              </a:ext>
            </a:extLst>
          </p:cNvPr>
          <p:cNvSpPr/>
          <p:nvPr/>
        </p:nvSpPr>
        <p:spPr>
          <a:xfrm>
            <a:off x="4179737" y="2029038"/>
            <a:ext cx="22786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Zhang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N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euroimage 2020</a:t>
            </a:r>
            <a:endParaRPr lang="ko-KR" altLang="en-US" sz="16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4FCD30-FE4E-4581-BC67-35989BD3D747}"/>
              </a:ext>
            </a:extLst>
          </p:cNvPr>
          <p:cNvSpPr/>
          <p:nvPr/>
        </p:nvSpPr>
        <p:spPr>
          <a:xfrm>
            <a:off x="2604956" y="5393233"/>
            <a:ext cx="23478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00FF"/>
                </a:solidFill>
                <a:latin typeface=" calibri"/>
              </a:rPr>
              <a:t>Polak</a:t>
            </a:r>
            <a:r>
              <a:rPr lang="en-US" altLang="ko-KR" sz="1600">
                <a:solidFill>
                  <a:srgbClr val="0000FF"/>
                </a:solidFill>
                <a:latin typeface=" calibri"/>
              </a:rPr>
              <a:t>, </a:t>
            </a:r>
            <a:r>
              <a:rPr lang="ko-KR" altLang="en-US" sz="1600">
                <a:solidFill>
                  <a:srgbClr val="0000FF"/>
                </a:solidFill>
                <a:latin typeface=" calibri"/>
              </a:rPr>
              <a:t>NMR Biomed 2020 </a:t>
            </a:r>
            <a:endParaRPr lang="ko-KR" altLang="en-US" sz="1600">
              <a:solidFill>
                <a:srgbClr val="0000FF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44595B9-AEEB-44E2-9A68-CD263C8070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283"/>
          <a:stretch/>
        </p:blipFill>
        <p:spPr>
          <a:xfrm>
            <a:off x="6910856" y="4497490"/>
            <a:ext cx="3327416" cy="179119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ABF807-9BC9-4DF5-BB29-72B8EEEFEB02}"/>
              </a:ext>
            </a:extLst>
          </p:cNvPr>
          <p:cNvSpPr/>
          <p:nvPr/>
        </p:nvSpPr>
        <p:spPr>
          <a:xfrm>
            <a:off x="242765" y="6043415"/>
            <a:ext cx="11701353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2400" b="1">
                <a:solidFill>
                  <a:srgbClr val="FF0000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Networks need to be explored for generalization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21236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D8222F-3905-4C4B-A1CA-0E454BE4A8D5}"/>
              </a:ext>
            </a:extLst>
          </p:cNvPr>
          <p:cNvSpPr/>
          <p:nvPr/>
        </p:nvSpPr>
        <p:spPr>
          <a:xfrm>
            <a:off x="3259166" y="2418883"/>
            <a:ext cx="5668551" cy="2020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“generalization</a:t>
            </a: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”  </a:t>
            </a:r>
            <a:endParaRPr lang="en-US" altLang="ko-KR" sz="2400" dirty="0">
              <a:solidFill>
                <a:schemeClr val="bg1">
                  <a:lumMod val="85000"/>
                </a:schemeClr>
              </a:solidFill>
              <a:latin typeface="Calibri" charset="0"/>
              <a:ea typeface="굴림" pitchFamily="50" charset="-127"/>
              <a:cs typeface="Calibri" charset="0"/>
            </a:endParaRP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Issues of “performance comparison”</a:t>
            </a: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“performance”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DD7815B-EAAB-43F1-BE8D-660DBD9C1FA0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>
                <a:latin typeface="Calibri" panose="020F0502020204030204"/>
              </a:rPr>
              <a:t> Issues with deep learning dipole deconvolution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6081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E1C40F7-8F48-458E-9B00-F7B8796621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76" t="4266" r="11371"/>
          <a:stretch/>
        </p:blipFill>
        <p:spPr>
          <a:xfrm>
            <a:off x="10417597" y="16931"/>
            <a:ext cx="1672809" cy="1709783"/>
          </a:xfrm>
          <a:prstGeom prst="rect">
            <a:avLst/>
          </a:prstGeom>
          <a:noFill/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137B735C-B6B6-4D86-A777-C3F76016E592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Performance comparison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B40B59-FFFE-4290-A04A-D9EDE70BDD49}"/>
              </a:ext>
            </a:extLst>
          </p:cNvPr>
          <p:cNvSpPr/>
          <p:nvPr/>
        </p:nvSpPr>
        <p:spPr>
          <a:xfrm>
            <a:off x="698544" y="938229"/>
            <a:ext cx="10934656" cy="145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No large size "public" dataset available for QSM</a:t>
            </a:r>
          </a:p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Comparison via "private" data of different characteristics (resolution, background removal ...)</a:t>
            </a: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220016-F68C-46AB-B6E2-031C65CBB5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 b="6721"/>
          <a:stretch/>
        </p:blipFill>
        <p:spPr>
          <a:xfrm>
            <a:off x="351409" y="2004734"/>
            <a:ext cx="5837544" cy="36425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80D0130-0915-4CE2-8A1B-A8F6C17DB3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507"/>
          <a:stretch/>
        </p:blipFill>
        <p:spPr>
          <a:xfrm>
            <a:off x="5954002" y="2004734"/>
            <a:ext cx="5895056" cy="390499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9F2EC44-5A87-498F-8385-71EAC65ACAEC}"/>
              </a:ext>
            </a:extLst>
          </p:cNvPr>
          <p:cNvSpPr/>
          <p:nvPr/>
        </p:nvSpPr>
        <p:spPr>
          <a:xfrm>
            <a:off x="10587505" y="1676084"/>
            <a:ext cx="13869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sz="1600" err="1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Chungseok</a:t>
            </a:r>
            <a:r>
              <a:rPr lang="en-US" altLang="ko-KR" sz="1600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 Oh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39A427-E47C-44CD-8DBE-7554B7F03C27}"/>
              </a:ext>
            </a:extLst>
          </p:cNvPr>
          <p:cNvSpPr/>
          <p:nvPr/>
        </p:nvSpPr>
        <p:spPr>
          <a:xfrm>
            <a:off x="698544" y="5647257"/>
            <a:ext cx="11493456" cy="102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Comparison with pre-trained net not fair due to data characteristic difference affecting performance</a:t>
            </a:r>
          </a:p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Comparison with re-trained net not fair because retrain net is no longer the same as original net</a:t>
            </a:r>
          </a:p>
        </p:txBody>
      </p:sp>
    </p:spTree>
    <p:extLst>
      <p:ext uri="{BB962C8B-B14F-4D97-AF65-F5344CB8AC3E}">
        <p14:creationId xmlns:p14="http://schemas.microsoft.com/office/powerpoint/2010/main" val="107272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7B735C-B6B6-4D86-A777-C3F76016E592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dirty="0">
                <a:latin typeface="Calibri" panose="020F0502020204030204"/>
              </a:rPr>
              <a:t> </a:t>
            </a:r>
            <a:r>
              <a:rPr lang="en-US" altLang="ko-KR" sz="3200">
                <a:latin typeface="Calibri" panose="020F0502020204030204"/>
              </a:rPr>
              <a:t>Performance comparison - reproducibility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B40B59-FFFE-4290-A04A-D9EDE70BDD49}"/>
              </a:ext>
            </a:extLst>
          </p:cNvPr>
          <p:cNvSpPr/>
          <p:nvPr/>
        </p:nvSpPr>
        <p:spPr>
          <a:xfrm>
            <a:off x="698544" y="938229"/>
            <a:ext cx="10934656" cy="934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Deep neural network has shown limited reproducibility</a:t>
            </a: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39A427-E47C-44CD-8DBE-7554B7F03C27}"/>
              </a:ext>
            </a:extLst>
          </p:cNvPr>
          <p:cNvSpPr/>
          <p:nvPr/>
        </p:nvSpPr>
        <p:spPr>
          <a:xfrm>
            <a:off x="242765" y="5904409"/>
            <a:ext cx="11701353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2400" b="1">
                <a:solidFill>
                  <a:srgbClr val="FF0000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For fair comparison, use of public dataset and sharing pretrained network is recommended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A1C2C2-889C-49C8-B759-6A58FC64C300}"/>
              </a:ext>
            </a:extLst>
          </p:cNvPr>
          <p:cNvSpPr/>
          <p:nvPr/>
        </p:nvSpPr>
        <p:spPr>
          <a:xfrm>
            <a:off x="7027026" y="1100662"/>
            <a:ext cx="45348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 latinLnBrk="0">
              <a:spcAft>
                <a:spcPct val="0"/>
              </a:spcAft>
            </a:pPr>
            <a:r>
              <a:rPr lang="en-US" altLang="ko-KR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Renard, Sci Rep 2020        Alahmari, IEEE Acess 2020</a:t>
            </a:r>
            <a:endParaRPr lang="en-US" altLang="ko-KR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89F0B16-0D2D-484D-A3ED-EBD52FABE5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247" b="7539"/>
          <a:stretch/>
        </p:blipFill>
        <p:spPr>
          <a:xfrm>
            <a:off x="497504" y="1507684"/>
            <a:ext cx="6118071" cy="432584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D10C75-452A-448C-95A7-8429A3F919DD}"/>
              </a:ext>
            </a:extLst>
          </p:cNvPr>
          <p:cNvSpPr/>
          <p:nvPr/>
        </p:nvSpPr>
        <p:spPr>
          <a:xfrm>
            <a:off x="10036287" y="5118971"/>
            <a:ext cx="15969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Oh, ISMRM 2022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FE540AF-9D7C-4018-AA28-18B064A67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670" y="2409725"/>
            <a:ext cx="4889434" cy="325232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5000"/>
              </a:lnSpc>
            </a:pPr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QSMnet and variational network </a:t>
            </a:r>
          </a:p>
          <a:p>
            <a:pPr algn="just">
              <a:lnSpc>
                <a:spcPct val="125000"/>
              </a:lnSpc>
            </a:pPr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Metrics: SSIM, RSME</a:t>
            </a:r>
          </a:p>
          <a:p>
            <a:pPr algn="just">
              <a:lnSpc>
                <a:spcPct val="125000"/>
              </a:lnSpc>
            </a:pPr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For training, CUDA convolution bench marking and determinism, mini-batch order, and network weight initiation affect results</a:t>
            </a:r>
          </a:p>
          <a:p>
            <a:pPr algn="just">
              <a:lnSpc>
                <a:spcPct val="125000"/>
              </a:lnSpc>
            </a:pPr>
            <a:r>
              <a:rPr lang="en-US" altLang="ko-KR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For inference, mostly reproduciblity</a:t>
            </a: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7727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6D8222F-3905-4C4B-A1CA-0E454BE4A8D5}"/>
              </a:ext>
            </a:extLst>
          </p:cNvPr>
          <p:cNvSpPr/>
          <p:nvPr/>
        </p:nvSpPr>
        <p:spPr>
          <a:xfrm>
            <a:off x="3259166" y="2418883"/>
            <a:ext cx="5668551" cy="2020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“generalization</a:t>
            </a: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”  </a:t>
            </a:r>
            <a:endParaRPr lang="en-US" altLang="ko-KR" sz="2400" dirty="0">
              <a:solidFill>
                <a:schemeClr val="bg1">
                  <a:lumMod val="85000"/>
                </a:schemeClr>
              </a:solidFill>
              <a:latin typeface="Calibri" charset="0"/>
              <a:ea typeface="굴림" pitchFamily="50" charset="-127"/>
              <a:cs typeface="Calibri" charset="0"/>
            </a:endParaRP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chemeClr val="bg1">
                    <a:lumMod val="85000"/>
                  </a:schemeClr>
                </a:solidFill>
                <a:latin typeface="Calibri" charset="0"/>
                <a:ea typeface="굴림" pitchFamily="50" charset="-127"/>
                <a:cs typeface="Calibri" charset="0"/>
              </a:rPr>
              <a:t>Issues of “performance comparison”</a:t>
            </a:r>
          </a:p>
          <a:p>
            <a:pPr marL="800100" lvl="1" indent="-342900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ko-KR" sz="2400">
                <a:latin typeface="Calibri" charset="0"/>
                <a:ea typeface="굴림" pitchFamily="50" charset="-127"/>
                <a:cs typeface="Calibri" charset="0"/>
              </a:rPr>
              <a:t>Issues of “performance”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DD7815B-EAAB-43F1-BE8D-660DBD9C1FA0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lnSpc>
                <a:spcPct val="100000"/>
              </a:lnSpc>
              <a:spcAft>
                <a:spcPts val="0"/>
              </a:spcAft>
            </a:pPr>
            <a:r>
              <a:rPr lang="en-US" altLang="ko-KR" sz="3200">
                <a:latin typeface="Calibri" panose="020F0502020204030204"/>
              </a:rPr>
              <a:t> Issues with deep learning dipole deconvolution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49519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F4D75D4-0E9D-41C7-BBD5-F9A83FE56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086" y="1242419"/>
            <a:ext cx="4786710" cy="3528106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137B735C-B6B6-4D86-A777-C3F76016E592}"/>
              </a:ext>
            </a:extLst>
          </p:cNvPr>
          <p:cNvSpPr txBox="1">
            <a:spLocks/>
          </p:cNvSpPr>
          <p:nvPr/>
        </p:nvSpPr>
        <p:spPr>
          <a:xfrm>
            <a:off x="-6773" y="0"/>
            <a:ext cx="12200431" cy="86363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>
                <a:latin typeface="Calibri" panose="020F0502020204030204"/>
              </a:rPr>
              <a:t> Performance</a:t>
            </a:r>
            <a:endParaRPr lang="en-US" altLang="ko-KR" sz="3600" dirty="0">
              <a:latin typeface="Calibri" charset="0"/>
              <a:ea typeface="굴림" pitchFamily="50" charset="-127"/>
              <a:cs typeface="Calibri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5D574E-286F-441B-B8BF-5C46A423A06E}"/>
              </a:ext>
            </a:extLst>
          </p:cNvPr>
          <p:cNvSpPr/>
          <p:nvPr/>
        </p:nvSpPr>
        <p:spPr>
          <a:xfrm>
            <a:off x="698544" y="4457216"/>
            <a:ext cx="10934656" cy="155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Meaning of better performance?</a:t>
            </a:r>
          </a:p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Still problem of generalization? (7T? unbalanced training for high iron concentration?)</a:t>
            </a:r>
          </a:p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Can we design network for improved performance for deep gray matter iron quantification?</a:t>
            </a: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C8B82-47FE-4068-8CE0-FB16CAA6B145}"/>
              </a:ext>
            </a:extLst>
          </p:cNvPr>
          <p:cNvSpPr txBox="1"/>
          <p:nvPr/>
        </p:nvSpPr>
        <p:spPr>
          <a:xfrm>
            <a:off x="7414360" y="3159056"/>
            <a:ext cx="3179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Yao, NI clinical available online</a:t>
            </a:r>
            <a:endParaRPr lang="en-US" sz="16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EA101E-03B4-4B43-8445-5DE3C87FBF0F}"/>
              </a:ext>
            </a:extLst>
          </p:cNvPr>
          <p:cNvSpPr/>
          <p:nvPr/>
        </p:nvSpPr>
        <p:spPr>
          <a:xfrm>
            <a:off x="698544" y="753935"/>
            <a:ext cx="10836443" cy="934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prstClr val="black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Deep learning shown high quality results but conventional recon outperformed in challenge 2.0</a:t>
            </a:r>
            <a:endParaRPr lang="en-US" altLang="ko-KR" sz="20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  <a:p>
            <a:pPr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SimSun" pitchFamily="2" charset="-122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95967C-5484-4E24-B8F9-BBB2E5858B27}"/>
              </a:ext>
            </a:extLst>
          </p:cNvPr>
          <p:cNvSpPr/>
          <p:nvPr/>
        </p:nvSpPr>
        <p:spPr>
          <a:xfrm>
            <a:off x="8630174" y="1267580"/>
            <a:ext cx="24752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600">
                <a:solidFill>
                  <a:srgbClr val="0000FF"/>
                </a:solidFill>
                <a:latin typeface="Calibri" panose="020F0502020204030204"/>
                <a:ea typeface="맑은 고딕" panose="020B0503020000020004" pitchFamily="50" charset="-127"/>
              </a:rPr>
              <a:t>QSM Challenge, MRM 2021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B2A340-8413-4D6D-916D-D1C6C31760DF}"/>
              </a:ext>
            </a:extLst>
          </p:cNvPr>
          <p:cNvSpPr/>
          <p:nvPr/>
        </p:nvSpPr>
        <p:spPr>
          <a:xfrm>
            <a:off x="242765" y="6043415"/>
            <a:ext cx="11701353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2400" b="1">
                <a:solidFill>
                  <a:srgbClr val="FF0000"/>
                </a:solidFill>
                <a:latin typeface="Calibri" panose="020F0502020204030204"/>
                <a:ea typeface="SimSun" pitchFamily="2" charset="-122"/>
                <a:cs typeface="Calibri" pitchFamily="34" charset="0"/>
              </a:rPr>
              <a:t>Redefine performance matrix (not only SSIM but "functional" performance)</a:t>
            </a:r>
          </a:p>
        </p:txBody>
      </p:sp>
    </p:spTree>
    <p:extLst>
      <p:ext uri="{BB962C8B-B14F-4D97-AF65-F5344CB8AC3E}">
        <p14:creationId xmlns:p14="http://schemas.microsoft.com/office/powerpoint/2010/main" val="5738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16823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Generalization vs. Harmonization</a:t>
            </a:r>
          </a:p>
        </p:txBody>
      </p:sp>
    </p:spTree>
    <p:extLst>
      <p:ext uri="{BB962C8B-B14F-4D97-AF65-F5344CB8AC3E}">
        <p14:creationId xmlns:p14="http://schemas.microsoft.com/office/powerpoint/2010/main" val="206282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Generalization vs. Harmonization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966647-7D3C-4284-A1B8-98D074A0B825}"/>
              </a:ext>
            </a:extLst>
          </p:cNvPr>
          <p:cNvSpPr/>
          <p:nvPr/>
        </p:nvSpPr>
        <p:spPr>
          <a:xfrm>
            <a:off x="2528445" y="1591418"/>
            <a:ext cx="970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solidFill>
                  <a:schemeClr val="bg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Siemens</a:t>
            </a:r>
            <a:endParaRPr lang="en-US" altLang="ko-KR" dirty="0">
              <a:solidFill>
                <a:schemeClr val="bg1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574376-DA18-4A97-9211-F1FF32FD2D12}"/>
              </a:ext>
            </a:extLst>
          </p:cNvPr>
          <p:cNvSpPr/>
          <p:nvPr/>
        </p:nvSpPr>
        <p:spPr>
          <a:xfrm>
            <a:off x="6578786" y="1591418"/>
            <a:ext cx="794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solidFill>
                  <a:schemeClr val="bg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Philips</a:t>
            </a:r>
            <a:endParaRPr lang="en-US" altLang="ko-KR" dirty="0">
              <a:solidFill>
                <a:schemeClr val="bg1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99120C-25E3-4C3B-9407-89CAF8414B0A}"/>
              </a:ext>
            </a:extLst>
          </p:cNvPr>
          <p:cNvSpPr/>
          <p:nvPr/>
        </p:nvSpPr>
        <p:spPr>
          <a:xfrm>
            <a:off x="699127" y="1155700"/>
            <a:ext cx="4816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Generalization: 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Develop neural network that can process various conditions of input 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(e.g., different vendor images)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0CAAD4-381B-4EE7-A860-6E1B97092CF1}"/>
              </a:ext>
            </a:extLst>
          </p:cNvPr>
          <p:cNvSpPr/>
          <p:nvPr/>
        </p:nvSpPr>
        <p:spPr>
          <a:xfrm>
            <a:off x="6181256" y="1155700"/>
            <a:ext cx="54860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Harmonization:</a:t>
            </a:r>
          </a:p>
          <a:p>
            <a:pPr lvl="1"/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Process input image to have similar characteristics to training data</a:t>
            </a:r>
            <a:endParaRPr lang="ko-KR" altLang="en-US" sz="2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682590-5C2F-493D-981C-C3D52B41B18F}"/>
              </a:ext>
            </a:extLst>
          </p:cNvPr>
          <p:cNvSpPr/>
          <p:nvPr/>
        </p:nvSpPr>
        <p:spPr>
          <a:xfrm>
            <a:off x="696938" y="4135615"/>
            <a:ext cx="445160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Cons and pros: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Need more data or new design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May generalize for unknown domain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Takes longer time for training </a:t>
            </a:r>
            <a:endParaRPr lang="en-US" altLang="ko-KR" sz="2400" dirty="0">
              <a:solidFill>
                <a:srgbClr val="2E2E2E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006219-1013-4F45-93D2-8157C37DB004}"/>
              </a:ext>
            </a:extLst>
          </p:cNvPr>
          <p:cNvSpPr/>
          <p:nvPr/>
        </p:nvSpPr>
        <p:spPr>
          <a:xfrm>
            <a:off x="696938" y="6076043"/>
            <a:ext cx="91138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*No need to worry if network is used for the same characteristic dataset as train data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A94D60-2775-4933-9D1F-CB3406607FF4}"/>
              </a:ext>
            </a:extLst>
          </p:cNvPr>
          <p:cNvSpPr/>
          <p:nvPr/>
        </p:nvSpPr>
        <p:spPr>
          <a:xfrm>
            <a:off x="6181256" y="2971169"/>
            <a:ext cx="49654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How: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Preprocessing using neural network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64E4F0-4856-4B1E-9AD1-A5DC7D32E8F9}"/>
              </a:ext>
            </a:extLst>
          </p:cNvPr>
          <p:cNvSpPr/>
          <p:nvPr/>
        </p:nvSpPr>
        <p:spPr>
          <a:xfrm>
            <a:off x="699127" y="2971169"/>
            <a:ext cx="496540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How: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Data augmentation, network architecture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4B50A23-B82C-44F3-BB7F-1EBF92DA7C9F}"/>
              </a:ext>
            </a:extLst>
          </p:cNvPr>
          <p:cNvSpPr/>
          <p:nvPr/>
        </p:nvSpPr>
        <p:spPr>
          <a:xfrm>
            <a:off x="6181256" y="4131145"/>
            <a:ext cx="513736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4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Cons and pros: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Need to design new network (require data)</a:t>
            </a:r>
          </a:p>
          <a:p>
            <a:pPr lvl="1"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Takes longer time for inference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175FB3A-0F0C-4DFA-B498-88DF9638D160}"/>
              </a:ext>
            </a:extLst>
          </p:cNvPr>
          <p:cNvSpPr/>
          <p:nvPr/>
        </p:nvSpPr>
        <p:spPr>
          <a:xfrm>
            <a:off x="6010745" y="1103793"/>
            <a:ext cx="2323605" cy="5666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58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  <p:bldP spid="17" grpId="0"/>
      <p:bldP spid="19" grpId="0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966647-7D3C-4284-A1B8-98D074A0B825}"/>
              </a:ext>
            </a:extLst>
          </p:cNvPr>
          <p:cNvSpPr/>
          <p:nvPr/>
        </p:nvSpPr>
        <p:spPr>
          <a:xfrm>
            <a:off x="2528445" y="1591418"/>
            <a:ext cx="970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solidFill>
                  <a:schemeClr val="bg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Siemens</a:t>
            </a:r>
            <a:endParaRPr lang="en-US" altLang="ko-KR" dirty="0">
              <a:solidFill>
                <a:schemeClr val="bg1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574376-DA18-4A97-9211-F1FF32FD2D12}"/>
              </a:ext>
            </a:extLst>
          </p:cNvPr>
          <p:cNvSpPr/>
          <p:nvPr/>
        </p:nvSpPr>
        <p:spPr>
          <a:xfrm>
            <a:off x="6578786" y="1591418"/>
            <a:ext cx="794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>
                <a:solidFill>
                  <a:schemeClr val="bg1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Philips</a:t>
            </a:r>
            <a:endParaRPr lang="en-US" altLang="ko-KR" dirty="0">
              <a:solidFill>
                <a:schemeClr val="bg1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6C658E-DF24-4023-9EC6-46B5ABFD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98" y="976315"/>
            <a:ext cx="8280799" cy="506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40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Image harmonization: Style transfer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051BE6-29DC-46B0-923B-CFC2CC0F8694}"/>
              </a:ext>
            </a:extLst>
          </p:cNvPr>
          <p:cNvSpPr/>
          <p:nvPr/>
        </p:nvSpPr>
        <p:spPr>
          <a:xfrm>
            <a:off x="1432664" y="6154033"/>
            <a:ext cx="2339102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67" dirty="0">
                <a:solidFill>
                  <a:schemeClr val="bg1"/>
                </a:solidFill>
                <a:latin typeface="Calibri" pitchFamily="34" charset="0"/>
                <a:ea typeface="굴림" pitchFamily="50" charset="-127"/>
                <a:cs typeface="Calibri" pitchFamily="34" charset="0"/>
              </a:rPr>
              <a:t> </a:t>
            </a:r>
            <a:r>
              <a:rPr lang="en-US" altLang="ko-KR" sz="1867" dirty="0">
                <a:solidFill>
                  <a:schemeClr val="bg1"/>
                </a:solidFill>
                <a:latin typeface="Calibri" pitchFamily="34" charset="0"/>
              </a:rPr>
              <a:t>0.43 x 0.43 x 1.5 mm</a:t>
            </a:r>
            <a:r>
              <a:rPr lang="en-US" altLang="ko-KR" sz="1867" baseline="30000" dirty="0">
                <a:solidFill>
                  <a:schemeClr val="bg1"/>
                </a:solidFill>
                <a:latin typeface="Calibri" pitchFamily="34" charset="0"/>
                <a:ea typeface="굴림" pitchFamily="50" charset="-127"/>
                <a:cs typeface="Calibri" pitchFamily="34" charset="0"/>
              </a:rPr>
              <a:t>3</a:t>
            </a:r>
            <a:endParaRPr lang="ko-KR" altLang="en-US" sz="1867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9D9C87-B9D7-4BE1-AF6E-B134F4A1E159}"/>
              </a:ext>
            </a:extLst>
          </p:cNvPr>
          <p:cNvSpPr/>
          <p:nvPr/>
        </p:nvSpPr>
        <p:spPr>
          <a:xfrm>
            <a:off x="461859" y="2235695"/>
            <a:ext cx="3589501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21917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If paired data set available: </a:t>
            </a:r>
            <a:r>
              <a:rPr lang="en-US" altLang="ko-KR" sz="200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Supervised learning</a:t>
            </a:r>
          </a:p>
          <a:p>
            <a:pPr marL="342900" indent="-342900" algn="just" defTabSz="121917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2E2E2E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42900" indent="-342900" algn="just" defTabSz="121917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Only unpaired data available: Style transfer via </a:t>
            </a:r>
            <a:r>
              <a:rPr lang="en-US" altLang="ko-KR" sz="2000" dirty="0" err="1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cycleGAN</a:t>
            </a:r>
            <a:endParaRPr lang="en-US" altLang="ko-KR" sz="2000" dirty="0">
              <a:solidFill>
                <a:srgbClr val="2E2E2E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42900" indent="-342900" algn="just" defTabSz="121917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2E2E2E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  <a:p>
            <a:pPr marL="342900" indent="-342900" algn="just" defTabSz="121917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Combine </a:t>
            </a:r>
            <a:r>
              <a:rPr lang="en-US" altLang="ko-KR" sz="2000" dirty="0">
                <a:solidFill>
                  <a:srgbClr val="2E2E2E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both for limited paired data</a:t>
            </a:r>
          </a:p>
          <a:p>
            <a:pPr algn="just" defTabSz="1219170" fontAlgn="base" latinLnBrk="0">
              <a:spcBef>
                <a:spcPct val="0"/>
              </a:spcBef>
              <a:spcAft>
                <a:spcPct val="0"/>
              </a:spcAft>
            </a:pPr>
            <a:endParaRPr lang="en-US" altLang="ko-KR" dirty="0">
              <a:solidFill>
                <a:srgbClr val="2E2E2E"/>
              </a:solidFill>
              <a:latin typeface="Calibri" panose="020F0502020204030204" pitchFamily="34" charset="0"/>
              <a:ea typeface="ＭＳ Ｐゴシック" pitchFamily="34" charset="-128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BF2D7-8BC7-4199-9ABA-9CFDCA6E0630}"/>
              </a:ext>
            </a:extLst>
          </p:cNvPr>
          <p:cNvSpPr txBox="1"/>
          <p:nvPr/>
        </p:nvSpPr>
        <p:spPr>
          <a:xfrm>
            <a:off x="10206675" y="628491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  <a:latin typeface=" calibri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 calibri"/>
              </a:rPr>
              <a:t>Isola, CVPR 2017</a:t>
            </a:r>
            <a:endParaRPr lang="ko-KR" altLang="en-US" dirty="0">
              <a:solidFill>
                <a:srgbClr val="0000FF"/>
              </a:solidFill>
              <a:latin typeface=" calibri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D47334A-5190-4AA7-88A1-EB47728BBAC5}"/>
              </a:ext>
            </a:extLst>
          </p:cNvPr>
          <p:cNvCxnSpPr/>
          <p:nvPr/>
        </p:nvCxnSpPr>
        <p:spPr>
          <a:xfrm>
            <a:off x="10136345" y="2244541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01BF30-B271-49D9-8640-B8AF1CD98959}"/>
              </a:ext>
            </a:extLst>
          </p:cNvPr>
          <p:cNvCxnSpPr/>
          <p:nvPr/>
        </p:nvCxnSpPr>
        <p:spPr>
          <a:xfrm>
            <a:off x="7621456" y="2244541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DF517C6-C683-4EB2-807D-07EFD280786E}"/>
              </a:ext>
            </a:extLst>
          </p:cNvPr>
          <p:cNvCxnSpPr/>
          <p:nvPr/>
        </p:nvCxnSpPr>
        <p:spPr>
          <a:xfrm>
            <a:off x="5648557" y="2244541"/>
            <a:ext cx="8640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8EC355-2803-44B0-ACBE-D17AC38E7F19}"/>
              </a:ext>
            </a:extLst>
          </p:cNvPr>
          <p:cNvSpPr txBox="1"/>
          <p:nvPr/>
        </p:nvSpPr>
        <p:spPr>
          <a:xfrm>
            <a:off x="4334250" y="1061238"/>
            <a:ext cx="1103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latin typeface=" calibri"/>
              </a:rPr>
              <a:t>CycleGAN</a:t>
            </a:r>
            <a:endParaRPr lang="ko-KR" altLang="en-US" sz="2400" dirty="0">
              <a:latin typeface=" calibri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751A3E-ACDD-42CA-A617-AB5C54F58EBC}"/>
              </a:ext>
            </a:extLst>
          </p:cNvPr>
          <p:cNvSpPr/>
          <p:nvPr/>
        </p:nvSpPr>
        <p:spPr>
          <a:xfrm>
            <a:off x="4702231" y="1895063"/>
            <a:ext cx="953214" cy="6480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 calibri"/>
              </a:rPr>
              <a:t>Siemens</a:t>
            </a:r>
          </a:p>
          <a:p>
            <a:pPr algn="ctr"/>
            <a:r>
              <a:rPr lang="en-US" altLang="ko-KR" sz="1400" dirty="0">
                <a:latin typeface=" calibri"/>
              </a:rPr>
              <a:t>(unpaired)</a:t>
            </a:r>
            <a:endParaRPr lang="en-US" altLang="ko-KR" sz="1050" dirty="0">
              <a:latin typeface=" calibri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462B34-4A7C-43E6-98CF-C9A114A7983E}"/>
              </a:ext>
            </a:extLst>
          </p:cNvPr>
          <p:cNvSpPr/>
          <p:nvPr/>
        </p:nvSpPr>
        <p:spPr>
          <a:xfrm>
            <a:off x="6505523" y="1895063"/>
            <a:ext cx="1173889" cy="64807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 calibri"/>
              </a:rPr>
              <a:t>Philips style image</a:t>
            </a:r>
            <a:endParaRPr lang="en-US" altLang="ko-KR" sz="1050" dirty="0">
              <a:solidFill>
                <a:srgbClr val="00B050"/>
              </a:solidFill>
              <a:latin typeface=" calibri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DF6DDC-AE90-4215-8CC1-DF1CFCD3692F}"/>
              </a:ext>
            </a:extLst>
          </p:cNvPr>
          <p:cNvSpPr/>
          <p:nvPr/>
        </p:nvSpPr>
        <p:spPr>
          <a:xfrm>
            <a:off x="9165862" y="1895063"/>
            <a:ext cx="953214" cy="64807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 calibri"/>
              </a:rPr>
              <a:t>Philips</a:t>
            </a:r>
            <a:endParaRPr lang="en-US" altLang="ko-KR" dirty="0">
              <a:solidFill>
                <a:schemeClr val="tx1"/>
              </a:solidFill>
              <a:latin typeface=" 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1C5F7B-5352-4CFA-BAFF-CBFE75C44334}"/>
              </a:ext>
            </a:extLst>
          </p:cNvPr>
          <p:cNvSpPr txBox="1"/>
          <p:nvPr/>
        </p:nvSpPr>
        <p:spPr>
          <a:xfrm>
            <a:off x="10670393" y="2462306"/>
            <a:ext cx="1205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 calibri"/>
              </a:rPr>
              <a:t>Philips style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 calibri"/>
              </a:rPr>
              <a:t>or not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 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27BF63-90B4-40B0-99B8-8C18589FDD2D}"/>
                  </a:ext>
                </a:extLst>
              </p:cNvPr>
              <p:cNvSpPr txBox="1"/>
              <p:nvPr/>
            </p:nvSpPr>
            <p:spPr>
              <a:xfrm>
                <a:off x="5078584" y="1564228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27BF63-90B4-40B0-99B8-8C18589F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584" y="1564228"/>
                <a:ext cx="183320" cy="276999"/>
              </a:xfrm>
              <a:prstGeom prst="rect">
                <a:avLst/>
              </a:prstGeom>
              <a:blipFill>
                <a:blip r:embed="rId2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C28EF4-6FEE-4487-964E-BB2305BC7630}"/>
              </a:ext>
            </a:extLst>
          </p:cNvPr>
          <p:cNvGrpSpPr/>
          <p:nvPr/>
        </p:nvGrpSpPr>
        <p:grpSpPr>
          <a:xfrm>
            <a:off x="5829730" y="1937878"/>
            <a:ext cx="460820" cy="627449"/>
            <a:chOff x="2736949" y="2527483"/>
            <a:chExt cx="460820" cy="62744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1C67CA5-C9EF-43AF-A2C0-8F1DE76EAB5B}"/>
                </a:ext>
              </a:extLst>
            </p:cNvPr>
            <p:cNvGrpSpPr/>
            <p:nvPr/>
          </p:nvGrpSpPr>
          <p:grpSpPr>
            <a:xfrm>
              <a:off x="2736949" y="2527483"/>
              <a:ext cx="460820" cy="627449"/>
              <a:chOff x="2736949" y="2527483"/>
              <a:chExt cx="460820" cy="627449"/>
            </a:xfrm>
            <a:solidFill>
              <a:srgbClr val="00B0F0"/>
            </a:solidFill>
          </p:grpSpPr>
          <p:sp>
            <p:nvSpPr>
              <p:cNvPr id="45" name="평행 사변형 44">
                <a:extLst>
                  <a:ext uri="{FF2B5EF4-FFF2-40B4-BE49-F238E27FC236}">
                    <a16:creationId xmlns:a16="http://schemas.microsoft.com/office/drawing/2014/main" id="{8E465F50-D93A-4BD1-A67B-8D9783BE87BA}"/>
                  </a:ext>
                </a:extLst>
              </p:cNvPr>
              <p:cNvSpPr/>
              <p:nvPr/>
            </p:nvSpPr>
            <p:spPr>
              <a:xfrm rot="5400000" flipH="1">
                <a:off x="2538491" y="2725941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6" name="평행 사변형 45">
                <a:extLst>
                  <a:ext uri="{FF2B5EF4-FFF2-40B4-BE49-F238E27FC236}">
                    <a16:creationId xmlns:a16="http://schemas.microsoft.com/office/drawing/2014/main" id="{B98A3CC9-1EC8-491C-ACA3-A262D5EDB67B}"/>
                  </a:ext>
                </a:extLst>
              </p:cNvPr>
              <p:cNvSpPr/>
              <p:nvPr/>
            </p:nvSpPr>
            <p:spPr>
              <a:xfrm rot="5400000" flipH="1">
                <a:off x="2596062" y="2725941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7" name="평행 사변형 46">
                <a:extLst>
                  <a:ext uri="{FF2B5EF4-FFF2-40B4-BE49-F238E27FC236}">
                    <a16:creationId xmlns:a16="http://schemas.microsoft.com/office/drawing/2014/main" id="{2A7FB54A-FA09-4DF2-BFA0-BC3397ED7691}"/>
                  </a:ext>
                </a:extLst>
              </p:cNvPr>
              <p:cNvSpPr/>
              <p:nvPr/>
            </p:nvSpPr>
            <p:spPr>
              <a:xfrm rot="5400000" flipH="1">
                <a:off x="2653633" y="2725941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8" name="평행 사변형 47">
                <a:extLst>
                  <a:ext uri="{FF2B5EF4-FFF2-40B4-BE49-F238E27FC236}">
                    <a16:creationId xmlns:a16="http://schemas.microsoft.com/office/drawing/2014/main" id="{E92C7012-6B03-4439-8BF6-998160916E3B}"/>
                  </a:ext>
                </a:extLst>
              </p:cNvPr>
              <p:cNvSpPr/>
              <p:nvPr/>
            </p:nvSpPr>
            <p:spPr>
              <a:xfrm rot="5400000" flipH="1">
                <a:off x="2711205" y="2725941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9" name="평행 사변형 48">
                <a:extLst>
                  <a:ext uri="{FF2B5EF4-FFF2-40B4-BE49-F238E27FC236}">
                    <a16:creationId xmlns:a16="http://schemas.microsoft.com/office/drawing/2014/main" id="{0F79C27F-EE98-4C17-B1FF-47BC3191C56D}"/>
                  </a:ext>
                </a:extLst>
              </p:cNvPr>
              <p:cNvSpPr/>
              <p:nvPr/>
            </p:nvSpPr>
            <p:spPr>
              <a:xfrm rot="5400000" flipH="1">
                <a:off x="2768777" y="2725941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256A378-E6C6-45F8-8C15-A2203F51DE38}"/>
                    </a:ext>
                  </a:extLst>
                </p:cNvPr>
                <p:cNvSpPr txBox="1"/>
                <p:nvPr/>
              </p:nvSpPr>
              <p:spPr>
                <a:xfrm>
                  <a:off x="2845935" y="2707570"/>
                  <a:ext cx="2089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ko-KR" altLang="en-US" dirty="0">
                    <a:latin typeface=" calibri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256A378-E6C6-45F8-8C15-A2203F51DE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5935" y="2707570"/>
                  <a:ext cx="20890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6471" r="-23529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96792B-5F38-4384-8781-D2887CEA2A25}"/>
                  </a:ext>
                </a:extLst>
              </p:cNvPr>
              <p:cNvSpPr txBox="1"/>
              <p:nvPr/>
            </p:nvSpPr>
            <p:spPr>
              <a:xfrm>
                <a:off x="6501666" y="1564228"/>
                <a:ext cx="5316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396792B-5F38-4384-8781-D2887CEA2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666" y="1564228"/>
                <a:ext cx="531684" cy="276999"/>
              </a:xfrm>
              <a:prstGeom prst="rect">
                <a:avLst/>
              </a:prstGeom>
              <a:blipFill>
                <a:blip r:embed="rId4"/>
                <a:stretch>
                  <a:fillRect l="-10345" t="-4444" r="-16092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3FE7C091-73E9-4453-8582-FBDE0F0987A9}"/>
              </a:ext>
            </a:extLst>
          </p:cNvPr>
          <p:cNvGrpSpPr/>
          <p:nvPr/>
        </p:nvGrpSpPr>
        <p:grpSpPr>
          <a:xfrm>
            <a:off x="7853872" y="1937879"/>
            <a:ext cx="460820" cy="627449"/>
            <a:chOff x="4447380" y="2527484"/>
            <a:chExt cx="460820" cy="627449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9B5B9EA-FFF3-4B59-8ABD-8C2FD3C989C9}"/>
                </a:ext>
              </a:extLst>
            </p:cNvPr>
            <p:cNvGrpSpPr/>
            <p:nvPr/>
          </p:nvGrpSpPr>
          <p:grpSpPr>
            <a:xfrm>
              <a:off x="4447380" y="2527484"/>
              <a:ext cx="460820" cy="627449"/>
              <a:chOff x="4447380" y="2527484"/>
              <a:chExt cx="460820" cy="627449"/>
            </a:xfrm>
            <a:solidFill>
              <a:srgbClr val="FFC000"/>
            </a:solidFill>
          </p:grpSpPr>
          <p:sp>
            <p:nvSpPr>
              <p:cNvPr id="38" name="평행 사변형 37">
                <a:extLst>
                  <a:ext uri="{FF2B5EF4-FFF2-40B4-BE49-F238E27FC236}">
                    <a16:creationId xmlns:a16="http://schemas.microsoft.com/office/drawing/2014/main" id="{F7104D20-2C56-43B8-8587-EAFD8B8EB66F}"/>
                  </a:ext>
                </a:extLst>
              </p:cNvPr>
              <p:cNvSpPr/>
              <p:nvPr/>
            </p:nvSpPr>
            <p:spPr>
              <a:xfrm rot="5400000" flipH="1">
                <a:off x="4248922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39" name="평행 사변형 38">
                <a:extLst>
                  <a:ext uri="{FF2B5EF4-FFF2-40B4-BE49-F238E27FC236}">
                    <a16:creationId xmlns:a16="http://schemas.microsoft.com/office/drawing/2014/main" id="{5BCDFFE8-4189-4E0E-ACD4-1FB5DD8DD90F}"/>
                  </a:ext>
                </a:extLst>
              </p:cNvPr>
              <p:cNvSpPr/>
              <p:nvPr/>
            </p:nvSpPr>
            <p:spPr>
              <a:xfrm rot="5400000" flipH="1">
                <a:off x="4306493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0" name="평행 사변형 39">
                <a:extLst>
                  <a:ext uri="{FF2B5EF4-FFF2-40B4-BE49-F238E27FC236}">
                    <a16:creationId xmlns:a16="http://schemas.microsoft.com/office/drawing/2014/main" id="{B0B7AAA8-BAF9-4A09-B42A-1E5635864CEB}"/>
                  </a:ext>
                </a:extLst>
              </p:cNvPr>
              <p:cNvSpPr/>
              <p:nvPr/>
            </p:nvSpPr>
            <p:spPr>
              <a:xfrm rot="5400000" flipH="1">
                <a:off x="4364064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1" name="평행 사변형 40">
                <a:extLst>
                  <a:ext uri="{FF2B5EF4-FFF2-40B4-BE49-F238E27FC236}">
                    <a16:creationId xmlns:a16="http://schemas.microsoft.com/office/drawing/2014/main" id="{08EEBE86-81E3-4B73-8DE2-B6FB12E6B050}"/>
                  </a:ext>
                </a:extLst>
              </p:cNvPr>
              <p:cNvSpPr/>
              <p:nvPr/>
            </p:nvSpPr>
            <p:spPr>
              <a:xfrm rot="5400000" flipH="1">
                <a:off x="4421636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42" name="평행 사변형 41">
                <a:extLst>
                  <a:ext uri="{FF2B5EF4-FFF2-40B4-BE49-F238E27FC236}">
                    <a16:creationId xmlns:a16="http://schemas.microsoft.com/office/drawing/2014/main" id="{6E669F84-B686-41DA-B27C-7555E2832909}"/>
                  </a:ext>
                </a:extLst>
              </p:cNvPr>
              <p:cNvSpPr/>
              <p:nvPr/>
            </p:nvSpPr>
            <p:spPr>
              <a:xfrm rot="5400000" flipH="1">
                <a:off x="4479208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A85C9F1-D449-49AE-87B0-2E32DDCC8A1D}"/>
                    </a:ext>
                  </a:extLst>
                </p:cNvPr>
                <p:cNvSpPr txBox="1"/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dirty="0">
                    <a:latin typeface=" calibri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A85C9F1-D449-49AE-87B0-2E32DDCC8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2222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BE5918-2FD5-4A10-BA51-1CF4A3BB2B96}"/>
                  </a:ext>
                </a:extLst>
              </p:cNvPr>
              <p:cNvSpPr txBox="1"/>
              <p:nvPr/>
            </p:nvSpPr>
            <p:spPr>
              <a:xfrm>
                <a:off x="9654297" y="1564228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7BE5918-2FD5-4A10-BA51-1CF4A3BB2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297" y="1564228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3404753C-1CA6-4801-83FB-E8AE1447E6AE}"/>
              </a:ext>
            </a:extLst>
          </p:cNvPr>
          <p:cNvGrpSpPr/>
          <p:nvPr/>
        </p:nvGrpSpPr>
        <p:grpSpPr>
          <a:xfrm>
            <a:off x="10307766" y="1937879"/>
            <a:ext cx="460820" cy="627449"/>
            <a:chOff x="4447380" y="2527484"/>
            <a:chExt cx="460820" cy="627449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6DD3876-C996-4AB4-988E-B671CC8BA599}"/>
                </a:ext>
              </a:extLst>
            </p:cNvPr>
            <p:cNvGrpSpPr/>
            <p:nvPr/>
          </p:nvGrpSpPr>
          <p:grpSpPr>
            <a:xfrm>
              <a:off x="4447380" y="2527484"/>
              <a:ext cx="460820" cy="627449"/>
              <a:chOff x="4447380" y="2527484"/>
              <a:chExt cx="460820" cy="627449"/>
            </a:xfrm>
            <a:solidFill>
              <a:srgbClr val="FFC000"/>
            </a:solidFill>
          </p:grpSpPr>
          <p:sp>
            <p:nvSpPr>
              <p:cNvPr id="31" name="평행 사변형 30">
                <a:extLst>
                  <a:ext uri="{FF2B5EF4-FFF2-40B4-BE49-F238E27FC236}">
                    <a16:creationId xmlns:a16="http://schemas.microsoft.com/office/drawing/2014/main" id="{4CEBEE95-D7EF-4F3B-8AF4-9ACE2866B400}"/>
                  </a:ext>
                </a:extLst>
              </p:cNvPr>
              <p:cNvSpPr/>
              <p:nvPr/>
            </p:nvSpPr>
            <p:spPr>
              <a:xfrm rot="5400000" flipH="1">
                <a:off x="4248922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32" name="평행 사변형 31">
                <a:extLst>
                  <a:ext uri="{FF2B5EF4-FFF2-40B4-BE49-F238E27FC236}">
                    <a16:creationId xmlns:a16="http://schemas.microsoft.com/office/drawing/2014/main" id="{40547796-B611-480F-B9A3-5AAA54F281F2}"/>
                  </a:ext>
                </a:extLst>
              </p:cNvPr>
              <p:cNvSpPr/>
              <p:nvPr/>
            </p:nvSpPr>
            <p:spPr>
              <a:xfrm rot="5400000" flipH="1">
                <a:off x="4306493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33" name="평행 사변형 32">
                <a:extLst>
                  <a:ext uri="{FF2B5EF4-FFF2-40B4-BE49-F238E27FC236}">
                    <a16:creationId xmlns:a16="http://schemas.microsoft.com/office/drawing/2014/main" id="{E9A222D5-1342-4A23-B670-B08A9D88DDE9}"/>
                  </a:ext>
                </a:extLst>
              </p:cNvPr>
              <p:cNvSpPr/>
              <p:nvPr/>
            </p:nvSpPr>
            <p:spPr>
              <a:xfrm rot="5400000" flipH="1">
                <a:off x="4364064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34" name="평행 사변형 33">
                <a:extLst>
                  <a:ext uri="{FF2B5EF4-FFF2-40B4-BE49-F238E27FC236}">
                    <a16:creationId xmlns:a16="http://schemas.microsoft.com/office/drawing/2014/main" id="{0CD0DD4B-1DDA-4331-A3EB-57F91EA416F1}"/>
                  </a:ext>
                </a:extLst>
              </p:cNvPr>
              <p:cNvSpPr/>
              <p:nvPr/>
            </p:nvSpPr>
            <p:spPr>
              <a:xfrm rot="5400000" flipH="1">
                <a:off x="4421636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35" name="평행 사변형 34">
                <a:extLst>
                  <a:ext uri="{FF2B5EF4-FFF2-40B4-BE49-F238E27FC236}">
                    <a16:creationId xmlns:a16="http://schemas.microsoft.com/office/drawing/2014/main" id="{A1F1E904-AF1C-418D-B8CD-5D0A92371A23}"/>
                  </a:ext>
                </a:extLst>
              </p:cNvPr>
              <p:cNvSpPr/>
              <p:nvPr/>
            </p:nvSpPr>
            <p:spPr>
              <a:xfrm rot="5400000" flipH="1">
                <a:off x="4479208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AF936C3-CE9E-47D5-86F7-2147483E2FC5}"/>
                    </a:ext>
                  </a:extLst>
                </p:cNvPr>
                <p:cNvSpPr txBox="1"/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dirty="0">
                    <a:latin typeface=" 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AF936C3-CE9E-47D5-86F7-2147483E2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7778" r="-19444" b="-65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831F738-C882-46F8-A5F8-309219A205EB}"/>
              </a:ext>
            </a:extLst>
          </p:cNvPr>
          <p:cNvSpPr txBox="1"/>
          <p:nvPr/>
        </p:nvSpPr>
        <p:spPr>
          <a:xfrm>
            <a:off x="8444543" y="2078664"/>
            <a:ext cx="542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 calibri"/>
              </a:rPr>
              <a:t>fake</a:t>
            </a:r>
            <a:endParaRPr lang="ko-KR" altLang="en-US" sz="1600" b="1" dirty="0">
              <a:solidFill>
                <a:srgbClr val="FF0000"/>
              </a:solidFill>
              <a:latin typeface=" 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39258C-0B6C-499A-9787-8307C93B1375}"/>
              </a:ext>
            </a:extLst>
          </p:cNvPr>
          <p:cNvSpPr txBox="1"/>
          <p:nvPr/>
        </p:nvSpPr>
        <p:spPr>
          <a:xfrm>
            <a:off x="11000441" y="2081619"/>
            <a:ext cx="509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B050"/>
                </a:solidFill>
                <a:latin typeface=" calibri"/>
              </a:rPr>
              <a:t>real</a:t>
            </a:r>
            <a:endParaRPr lang="ko-KR" altLang="en-US" sz="1600" b="1" dirty="0">
              <a:solidFill>
                <a:srgbClr val="00B050"/>
              </a:solidFill>
              <a:latin typeface=" calibri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04392BD-7618-419A-AB4B-3DE3EE5FFB6F}"/>
              </a:ext>
            </a:extLst>
          </p:cNvPr>
          <p:cNvSpPr/>
          <p:nvPr/>
        </p:nvSpPr>
        <p:spPr>
          <a:xfrm>
            <a:off x="4423141" y="1399235"/>
            <a:ext cx="7488832" cy="1659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 calibri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E7E968C-7292-4922-A010-C493C564FFA1}"/>
              </a:ext>
            </a:extLst>
          </p:cNvPr>
          <p:cNvSpPr/>
          <p:nvPr/>
        </p:nvSpPr>
        <p:spPr>
          <a:xfrm>
            <a:off x="4696936" y="3939904"/>
            <a:ext cx="947691" cy="6480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 calibri"/>
              </a:rPr>
              <a:t>Siemens</a:t>
            </a:r>
          </a:p>
          <a:p>
            <a:pPr algn="ctr"/>
            <a:r>
              <a:rPr lang="en-US" altLang="ko-KR" sz="1600" dirty="0">
                <a:latin typeface=" calibri"/>
              </a:rPr>
              <a:t>(pair A)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F2F5A59-F148-4BC5-831E-C8482DE041FB}"/>
              </a:ext>
            </a:extLst>
          </p:cNvPr>
          <p:cNvSpPr/>
          <p:nvPr/>
        </p:nvSpPr>
        <p:spPr>
          <a:xfrm>
            <a:off x="6528674" y="3939904"/>
            <a:ext cx="1144951" cy="64807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 calibri"/>
              </a:rPr>
              <a:t>Philips style image</a:t>
            </a:r>
            <a:endParaRPr lang="en-US" altLang="ko-KR" sz="1400" dirty="0">
              <a:solidFill>
                <a:srgbClr val="00B050"/>
              </a:solidFill>
              <a:latin typeface=" calibri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037600A-7D68-4DDB-A768-5D4F3E608B0A}"/>
              </a:ext>
            </a:extLst>
          </p:cNvPr>
          <p:cNvSpPr/>
          <p:nvPr/>
        </p:nvSpPr>
        <p:spPr>
          <a:xfrm>
            <a:off x="9387016" y="4923138"/>
            <a:ext cx="992552" cy="6480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 calibri"/>
              </a:rPr>
              <a:t>Siemens</a:t>
            </a:r>
          </a:p>
          <a:p>
            <a:pPr algn="ctr"/>
            <a:r>
              <a:rPr lang="en-US" altLang="ko-KR" sz="1600" dirty="0">
                <a:latin typeface=" calibri"/>
              </a:rPr>
              <a:t>(pair A)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1F9F1E2-6AA7-4860-8683-345131B2CD91}"/>
              </a:ext>
            </a:extLst>
          </p:cNvPr>
          <p:cNvSpPr/>
          <p:nvPr/>
        </p:nvSpPr>
        <p:spPr>
          <a:xfrm>
            <a:off x="9387016" y="3939904"/>
            <a:ext cx="992552" cy="648072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 calibri"/>
              </a:rPr>
              <a:t>Philips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 calibri"/>
              </a:rPr>
              <a:t>(pair A)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D45F8DB-5FEB-476F-9F9D-35B5D4E5EF69}"/>
              </a:ext>
            </a:extLst>
          </p:cNvPr>
          <p:cNvSpPr/>
          <p:nvPr/>
        </p:nvSpPr>
        <p:spPr>
          <a:xfrm>
            <a:off x="6662022" y="4923138"/>
            <a:ext cx="992553" cy="6480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 calibri"/>
              </a:rPr>
              <a:t>Siemens</a:t>
            </a:r>
          </a:p>
          <a:p>
            <a:pPr algn="ctr"/>
            <a:r>
              <a:rPr lang="en-US" altLang="ko-KR" sz="1600" dirty="0">
                <a:latin typeface=" calibri"/>
              </a:rPr>
              <a:t>(pair A)</a:t>
            </a: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E8E59041-0FAF-4F1C-9437-FFDD0992A66D}"/>
              </a:ext>
            </a:extLst>
          </p:cNvPr>
          <p:cNvCxnSpPr>
            <a:cxnSpLocks/>
            <a:stCxn id="56" idx="0"/>
            <a:endCxn id="58" idx="0"/>
          </p:cNvCxnSpPr>
          <p:nvPr/>
        </p:nvCxnSpPr>
        <p:spPr>
          <a:xfrm rot="5400000" flipH="1" flipV="1">
            <a:off x="8492221" y="2548833"/>
            <a:ext cx="12700" cy="2782142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3DE763B-1452-4F15-84B2-5DDB2AB13B9B}"/>
              </a:ext>
            </a:extLst>
          </p:cNvPr>
          <p:cNvSpPr txBox="1"/>
          <p:nvPr/>
        </p:nvSpPr>
        <p:spPr>
          <a:xfrm>
            <a:off x="10659566" y="5044277"/>
            <a:ext cx="1205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 calibri"/>
              </a:rPr>
              <a:t>Philips style 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 calibri"/>
              </a:rPr>
              <a:t>or not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 calibri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0125E273-477B-406D-A1D3-34241FB8EEBE}"/>
              </a:ext>
            </a:extLst>
          </p:cNvPr>
          <p:cNvGrpSpPr/>
          <p:nvPr/>
        </p:nvGrpSpPr>
        <p:grpSpPr>
          <a:xfrm>
            <a:off x="5648206" y="3980165"/>
            <a:ext cx="864096" cy="627449"/>
            <a:chOff x="2127290" y="2527483"/>
            <a:chExt cx="864096" cy="627449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00F355E3-1938-4263-9A2D-B56C2AB7E68D}"/>
                </a:ext>
              </a:extLst>
            </p:cNvPr>
            <p:cNvCxnSpPr>
              <a:cxnSpLocks/>
            </p:cNvCxnSpPr>
            <p:nvPr/>
          </p:nvCxnSpPr>
          <p:spPr>
            <a:xfrm>
              <a:off x="2127290" y="2834146"/>
              <a:ext cx="86409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4A3BDF72-6F9A-4431-842E-80FC1D44A2C6}"/>
                </a:ext>
              </a:extLst>
            </p:cNvPr>
            <p:cNvGrpSpPr/>
            <p:nvPr/>
          </p:nvGrpSpPr>
          <p:grpSpPr>
            <a:xfrm>
              <a:off x="2308463" y="2527483"/>
              <a:ext cx="460820" cy="627449"/>
              <a:chOff x="2736949" y="2527483"/>
              <a:chExt cx="460820" cy="627449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CF8E3340-FC67-47B5-BE94-734DB7897EEC}"/>
                  </a:ext>
                </a:extLst>
              </p:cNvPr>
              <p:cNvGrpSpPr/>
              <p:nvPr/>
            </p:nvGrpSpPr>
            <p:grpSpPr>
              <a:xfrm>
                <a:off x="2736949" y="2527483"/>
                <a:ext cx="460820" cy="627449"/>
                <a:chOff x="2736949" y="2527483"/>
                <a:chExt cx="460820" cy="627449"/>
              </a:xfrm>
              <a:solidFill>
                <a:srgbClr val="00B0F0"/>
              </a:solidFill>
            </p:grpSpPr>
            <p:sp>
              <p:nvSpPr>
                <p:cNvPr id="90" name="평행 사변형 89">
                  <a:extLst>
                    <a:ext uri="{FF2B5EF4-FFF2-40B4-BE49-F238E27FC236}">
                      <a16:creationId xmlns:a16="http://schemas.microsoft.com/office/drawing/2014/main" id="{2FC7C392-179D-4AD2-BF96-3B1CCA4D6AF8}"/>
                    </a:ext>
                  </a:extLst>
                </p:cNvPr>
                <p:cNvSpPr/>
                <p:nvPr/>
              </p:nvSpPr>
              <p:spPr>
                <a:xfrm rot="5400000" flipH="1">
                  <a:off x="2538491" y="2725941"/>
                  <a:ext cx="627449" cy="230534"/>
                </a:xfrm>
                <a:prstGeom prst="parallelogram">
                  <a:avLst>
                    <a:gd name="adj" fmla="val 8735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 calibri"/>
                  </a:endParaRPr>
                </a:p>
              </p:txBody>
            </p:sp>
            <p:sp>
              <p:nvSpPr>
                <p:cNvPr id="91" name="평행 사변형 90">
                  <a:extLst>
                    <a:ext uri="{FF2B5EF4-FFF2-40B4-BE49-F238E27FC236}">
                      <a16:creationId xmlns:a16="http://schemas.microsoft.com/office/drawing/2014/main" id="{FEF40583-9B58-490D-82C5-826306A17D17}"/>
                    </a:ext>
                  </a:extLst>
                </p:cNvPr>
                <p:cNvSpPr/>
                <p:nvPr/>
              </p:nvSpPr>
              <p:spPr>
                <a:xfrm rot="5400000" flipH="1">
                  <a:off x="2596062" y="2725941"/>
                  <a:ext cx="627449" cy="230534"/>
                </a:xfrm>
                <a:prstGeom prst="parallelogram">
                  <a:avLst>
                    <a:gd name="adj" fmla="val 8735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 calibri"/>
                  </a:endParaRPr>
                </a:p>
              </p:txBody>
            </p:sp>
            <p:sp>
              <p:nvSpPr>
                <p:cNvPr id="92" name="평행 사변형 91">
                  <a:extLst>
                    <a:ext uri="{FF2B5EF4-FFF2-40B4-BE49-F238E27FC236}">
                      <a16:creationId xmlns:a16="http://schemas.microsoft.com/office/drawing/2014/main" id="{54988002-13A1-4B3A-AFFF-B821296DE8B9}"/>
                    </a:ext>
                  </a:extLst>
                </p:cNvPr>
                <p:cNvSpPr/>
                <p:nvPr/>
              </p:nvSpPr>
              <p:spPr>
                <a:xfrm rot="5400000" flipH="1">
                  <a:off x="2653633" y="2725941"/>
                  <a:ext cx="627449" cy="230534"/>
                </a:xfrm>
                <a:prstGeom prst="parallelogram">
                  <a:avLst>
                    <a:gd name="adj" fmla="val 8735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 calibri"/>
                  </a:endParaRPr>
                </a:p>
              </p:txBody>
            </p:sp>
            <p:sp>
              <p:nvSpPr>
                <p:cNvPr id="93" name="평행 사변형 92">
                  <a:extLst>
                    <a:ext uri="{FF2B5EF4-FFF2-40B4-BE49-F238E27FC236}">
                      <a16:creationId xmlns:a16="http://schemas.microsoft.com/office/drawing/2014/main" id="{02E86945-91F1-428F-8826-9111E16BA748}"/>
                    </a:ext>
                  </a:extLst>
                </p:cNvPr>
                <p:cNvSpPr/>
                <p:nvPr/>
              </p:nvSpPr>
              <p:spPr>
                <a:xfrm rot="5400000" flipH="1">
                  <a:off x="2711205" y="2725941"/>
                  <a:ext cx="627449" cy="230534"/>
                </a:xfrm>
                <a:prstGeom prst="parallelogram">
                  <a:avLst>
                    <a:gd name="adj" fmla="val 8735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 calibri"/>
                  </a:endParaRPr>
                </a:p>
              </p:txBody>
            </p:sp>
            <p:sp>
              <p:nvSpPr>
                <p:cNvPr id="94" name="평행 사변형 93">
                  <a:extLst>
                    <a:ext uri="{FF2B5EF4-FFF2-40B4-BE49-F238E27FC236}">
                      <a16:creationId xmlns:a16="http://schemas.microsoft.com/office/drawing/2014/main" id="{A7EF2FD6-2B65-49A3-B627-46B096319C50}"/>
                    </a:ext>
                  </a:extLst>
                </p:cNvPr>
                <p:cNvSpPr/>
                <p:nvPr/>
              </p:nvSpPr>
              <p:spPr>
                <a:xfrm rot="5400000" flipH="1">
                  <a:off x="2768777" y="2725941"/>
                  <a:ext cx="627449" cy="230534"/>
                </a:xfrm>
                <a:prstGeom prst="parallelogram">
                  <a:avLst>
                    <a:gd name="adj" fmla="val 87355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 calibri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48BBD685-C711-4701-B1C5-E7EDABBEAA41}"/>
                      </a:ext>
                    </a:extLst>
                  </p:cNvPr>
                  <p:cNvSpPr txBox="1"/>
                  <p:nvPr/>
                </p:nvSpPr>
                <p:spPr>
                  <a:xfrm>
                    <a:off x="2845935" y="2707570"/>
                    <a:ext cx="20890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lang="ko-KR" altLang="en-US" dirty="0">
                      <a:latin typeface=" calibri"/>
                    </a:endParaRPr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48BBD685-C711-4701-B1C5-E7EDABBEAA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45935" y="2707570"/>
                    <a:ext cx="208903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6471" r="-23529" b="-6522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DAB2271-9A6F-4921-A831-C7648D80F224}"/>
                  </a:ext>
                </a:extLst>
              </p:cNvPr>
              <p:cNvSpPr txBox="1"/>
              <p:nvPr/>
            </p:nvSpPr>
            <p:spPr>
              <a:xfrm>
                <a:off x="6826144" y="4573132"/>
                <a:ext cx="5316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DAB2271-9A6F-4921-A831-C7648D80F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144" y="4573132"/>
                <a:ext cx="531684" cy="276999"/>
              </a:xfrm>
              <a:prstGeom prst="rect">
                <a:avLst/>
              </a:prstGeom>
              <a:blipFill>
                <a:blip r:embed="rId9"/>
                <a:stretch>
                  <a:fillRect l="-10345" t="-2174" r="-16092" b="-326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BF722B-D7B9-4698-957A-2485CE30E125}"/>
                  </a:ext>
                </a:extLst>
              </p:cNvPr>
              <p:cNvSpPr txBox="1"/>
              <p:nvPr/>
            </p:nvSpPr>
            <p:spPr>
              <a:xfrm>
                <a:off x="7081577" y="5531593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BF722B-D7B9-4698-957A-2485CE30E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577" y="5531593"/>
                <a:ext cx="183320" cy="276999"/>
              </a:xfrm>
              <a:prstGeom prst="rect">
                <a:avLst/>
              </a:prstGeom>
              <a:blipFill>
                <a:blip r:embed="rId10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6622A41E-49AA-42F7-931F-C93A0203A325}"/>
              </a:ext>
            </a:extLst>
          </p:cNvPr>
          <p:cNvCxnSpPr>
            <a:cxnSpLocks/>
            <a:stCxn id="55" idx="2"/>
            <a:endCxn id="59" idx="1"/>
          </p:cNvCxnSpPr>
          <p:nvPr/>
        </p:nvCxnSpPr>
        <p:spPr>
          <a:xfrm rot="16200000" flipH="1">
            <a:off x="5586803" y="4171955"/>
            <a:ext cx="659198" cy="1491240"/>
          </a:xfrm>
          <a:prstGeom prst="bentConnector2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B7508D6-2E28-4B57-A3D0-99CCCC4AC196}"/>
              </a:ext>
            </a:extLst>
          </p:cNvPr>
          <p:cNvGrpSpPr/>
          <p:nvPr/>
        </p:nvGrpSpPr>
        <p:grpSpPr>
          <a:xfrm>
            <a:off x="7673628" y="4263940"/>
            <a:ext cx="992557" cy="1003628"/>
            <a:chOff x="5033717" y="4913992"/>
            <a:chExt cx="1087957" cy="1003628"/>
          </a:xfrm>
        </p:grpSpPr>
        <p:cxnSp>
          <p:nvCxnSpPr>
            <p:cNvPr id="84" name="연결선: 꺾임 83">
              <a:extLst>
                <a:ext uri="{FF2B5EF4-FFF2-40B4-BE49-F238E27FC236}">
                  <a16:creationId xmlns:a16="http://schemas.microsoft.com/office/drawing/2014/main" id="{3D035A67-7F11-4F6D-B9D4-453498B009A7}"/>
                </a:ext>
              </a:extLst>
            </p:cNvPr>
            <p:cNvCxnSpPr>
              <a:cxnSpLocks/>
            </p:cNvCxnSpPr>
            <p:nvPr/>
          </p:nvCxnSpPr>
          <p:spPr>
            <a:xfrm>
              <a:off x="5033718" y="4913992"/>
              <a:ext cx="1087956" cy="483036"/>
            </a:xfrm>
            <a:prstGeom prst="bentConnector3">
              <a:avLst>
                <a:gd name="adj1" fmla="val 1335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연결선: 꺾임 84">
              <a:extLst>
                <a:ext uri="{FF2B5EF4-FFF2-40B4-BE49-F238E27FC236}">
                  <a16:creationId xmlns:a16="http://schemas.microsoft.com/office/drawing/2014/main" id="{9B3BAE5C-87A4-4AC7-BFD5-D3C9F20E4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3717" y="5406553"/>
              <a:ext cx="1087953" cy="511067"/>
            </a:xfrm>
            <a:prstGeom prst="bentConnector3">
              <a:avLst>
                <a:gd name="adj1" fmla="val 1335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19FDBDA6-60FF-4DAB-8A85-649A54A6680E}"/>
              </a:ext>
            </a:extLst>
          </p:cNvPr>
          <p:cNvGrpSpPr/>
          <p:nvPr/>
        </p:nvGrpSpPr>
        <p:grpSpPr>
          <a:xfrm>
            <a:off x="7972668" y="4459140"/>
            <a:ext cx="460820" cy="627449"/>
            <a:chOff x="4447380" y="2527484"/>
            <a:chExt cx="460820" cy="627449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282C7A02-3557-4D2D-B4B2-BCBE0C64F36D}"/>
                </a:ext>
              </a:extLst>
            </p:cNvPr>
            <p:cNvGrpSpPr/>
            <p:nvPr/>
          </p:nvGrpSpPr>
          <p:grpSpPr>
            <a:xfrm>
              <a:off x="4447380" y="2527484"/>
              <a:ext cx="460820" cy="627449"/>
              <a:chOff x="4447380" y="2527484"/>
              <a:chExt cx="460820" cy="627449"/>
            </a:xfrm>
            <a:solidFill>
              <a:srgbClr val="FFC000"/>
            </a:solidFill>
          </p:grpSpPr>
          <p:sp>
            <p:nvSpPr>
              <p:cNvPr id="79" name="평행 사변형 78">
                <a:extLst>
                  <a:ext uri="{FF2B5EF4-FFF2-40B4-BE49-F238E27FC236}">
                    <a16:creationId xmlns:a16="http://schemas.microsoft.com/office/drawing/2014/main" id="{92A3891D-8004-4BB4-9437-5F5FC3D4DCDE}"/>
                  </a:ext>
                </a:extLst>
              </p:cNvPr>
              <p:cNvSpPr/>
              <p:nvPr/>
            </p:nvSpPr>
            <p:spPr>
              <a:xfrm rot="5400000" flipH="1">
                <a:off x="4248922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80" name="평행 사변형 79">
                <a:extLst>
                  <a:ext uri="{FF2B5EF4-FFF2-40B4-BE49-F238E27FC236}">
                    <a16:creationId xmlns:a16="http://schemas.microsoft.com/office/drawing/2014/main" id="{F0473578-1CFF-43FA-8C36-A82EC49D9198}"/>
                  </a:ext>
                </a:extLst>
              </p:cNvPr>
              <p:cNvSpPr/>
              <p:nvPr/>
            </p:nvSpPr>
            <p:spPr>
              <a:xfrm rot="5400000" flipH="1">
                <a:off x="4306493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81" name="평행 사변형 80">
                <a:extLst>
                  <a:ext uri="{FF2B5EF4-FFF2-40B4-BE49-F238E27FC236}">
                    <a16:creationId xmlns:a16="http://schemas.microsoft.com/office/drawing/2014/main" id="{55EBA2A2-48E7-4E2E-AE8C-2C2FFB2B4239}"/>
                  </a:ext>
                </a:extLst>
              </p:cNvPr>
              <p:cNvSpPr/>
              <p:nvPr/>
            </p:nvSpPr>
            <p:spPr>
              <a:xfrm rot="5400000" flipH="1">
                <a:off x="4364064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82" name="평행 사변형 81">
                <a:extLst>
                  <a:ext uri="{FF2B5EF4-FFF2-40B4-BE49-F238E27FC236}">
                    <a16:creationId xmlns:a16="http://schemas.microsoft.com/office/drawing/2014/main" id="{FF7FABF9-23DA-4FA8-BBED-D4848F0DC59E}"/>
                  </a:ext>
                </a:extLst>
              </p:cNvPr>
              <p:cNvSpPr/>
              <p:nvPr/>
            </p:nvSpPr>
            <p:spPr>
              <a:xfrm rot="5400000" flipH="1">
                <a:off x="4421636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  <p:sp>
            <p:nvSpPr>
              <p:cNvPr id="83" name="평행 사변형 82">
                <a:extLst>
                  <a:ext uri="{FF2B5EF4-FFF2-40B4-BE49-F238E27FC236}">
                    <a16:creationId xmlns:a16="http://schemas.microsoft.com/office/drawing/2014/main" id="{39AE7457-B88F-4381-897B-2B147A5E115A}"/>
                  </a:ext>
                </a:extLst>
              </p:cNvPr>
              <p:cNvSpPr/>
              <p:nvPr/>
            </p:nvSpPr>
            <p:spPr>
              <a:xfrm rot="5400000" flipH="1">
                <a:off x="4479208" y="2725942"/>
                <a:ext cx="627449" cy="230534"/>
              </a:xfrm>
              <a:prstGeom prst="parallelogram">
                <a:avLst>
                  <a:gd name="adj" fmla="val 8735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 calibri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54962E3-1CA4-418D-80BE-56E9BD64264B}"/>
                    </a:ext>
                  </a:extLst>
                </p:cNvPr>
                <p:cNvSpPr txBox="1"/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dirty="0">
                    <a:latin typeface=" calibri"/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54962E3-1CA4-418D-80BE-56E9BD642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6044" y="2707570"/>
                  <a:ext cx="21993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7778" r="-19444" b="-88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2B14CF83-BCBB-4361-8E1A-725CB650E17A}"/>
              </a:ext>
            </a:extLst>
          </p:cNvPr>
          <p:cNvSpPr txBox="1"/>
          <p:nvPr/>
        </p:nvSpPr>
        <p:spPr>
          <a:xfrm>
            <a:off x="8591244" y="4574037"/>
            <a:ext cx="542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 calibri"/>
              </a:rPr>
              <a:t>fake</a:t>
            </a:r>
            <a:endParaRPr lang="ko-KR" altLang="en-US" sz="1600" b="1" dirty="0">
              <a:solidFill>
                <a:srgbClr val="FF0000"/>
              </a:solidFill>
              <a:latin typeface=" calibri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553D49D-CCFF-4FA8-A80F-EDD154A8FABF}"/>
              </a:ext>
            </a:extLst>
          </p:cNvPr>
          <p:cNvGrpSpPr/>
          <p:nvPr/>
        </p:nvGrpSpPr>
        <p:grpSpPr>
          <a:xfrm>
            <a:off x="10389097" y="4263940"/>
            <a:ext cx="650843" cy="1003628"/>
            <a:chOff x="5586475" y="4656817"/>
            <a:chExt cx="1087954" cy="1003628"/>
          </a:xfrm>
        </p:grpSpPr>
        <p:cxnSp>
          <p:nvCxnSpPr>
            <p:cNvPr id="75" name="연결선: 꺾임 74">
              <a:extLst>
                <a:ext uri="{FF2B5EF4-FFF2-40B4-BE49-F238E27FC236}">
                  <a16:creationId xmlns:a16="http://schemas.microsoft.com/office/drawing/2014/main" id="{F184A454-AB11-49FC-9503-4A7DF0FBA223}"/>
                </a:ext>
              </a:extLst>
            </p:cNvPr>
            <p:cNvCxnSpPr>
              <a:cxnSpLocks/>
            </p:cNvCxnSpPr>
            <p:nvPr/>
          </p:nvCxnSpPr>
          <p:spPr>
            <a:xfrm>
              <a:off x="5586475" y="4656817"/>
              <a:ext cx="1087953" cy="483036"/>
            </a:xfrm>
            <a:prstGeom prst="bentConnector3">
              <a:avLst>
                <a:gd name="adj1" fmla="val 1335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77F887CD-83F0-4755-8A51-D1015B5C7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6477" y="5149378"/>
              <a:ext cx="1087952" cy="511067"/>
            </a:xfrm>
            <a:prstGeom prst="bentConnector3">
              <a:avLst>
                <a:gd name="adj1" fmla="val 1335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C3C91AE-CC66-4D27-9612-19F23EF3A9B5}"/>
                  </a:ext>
                </a:extLst>
              </p:cNvPr>
              <p:cNvSpPr txBox="1"/>
              <p:nvPr/>
            </p:nvSpPr>
            <p:spPr>
              <a:xfrm>
                <a:off x="9786007" y="4547256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C3C91AE-CC66-4D27-9612-19F23EF3A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007" y="4547256"/>
                <a:ext cx="186718" cy="276999"/>
              </a:xfrm>
              <a:prstGeom prst="rect">
                <a:avLst/>
              </a:prstGeom>
              <a:blipFill>
                <a:blip r:embed="rId12"/>
                <a:stretch>
                  <a:fillRect l="-32258" r="-25806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54842D7-F694-4479-AC78-72C30655ECC6}"/>
                  </a:ext>
                </a:extLst>
              </p:cNvPr>
              <p:cNvSpPr txBox="1"/>
              <p:nvPr/>
            </p:nvSpPr>
            <p:spPr>
              <a:xfrm>
                <a:off x="9789406" y="5531593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>
                  <a:latin typeface=" calibri"/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54842D7-F694-4479-AC78-72C30655E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406" y="5531593"/>
                <a:ext cx="183320" cy="276999"/>
              </a:xfrm>
              <a:prstGeom prst="rect">
                <a:avLst/>
              </a:prstGeom>
              <a:blipFill>
                <a:blip r:embed="rId1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5FE2D211-418C-4DD1-A118-7F3C32488446}"/>
              </a:ext>
            </a:extLst>
          </p:cNvPr>
          <p:cNvSpPr txBox="1"/>
          <p:nvPr/>
        </p:nvSpPr>
        <p:spPr>
          <a:xfrm>
            <a:off x="11032515" y="4568591"/>
            <a:ext cx="5093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B050"/>
                </a:solidFill>
                <a:latin typeface=" calibri"/>
              </a:rPr>
              <a:t>real</a:t>
            </a:r>
            <a:endParaRPr lang="ko-KR" altLang="en-US" sz="1600" b="1" dirty="0">
              <a:solidFill>
                <a:srgbClr val="00B050"/>
              </a:solidFill>
              <a:latin typeface=" 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7650F3D-345B-4877-9D84-0BD3E2FD4631}"/>
                  </a:ext>
                </a:extLst>
              </p:cNvPr>
              <p:cNvSpPr txBox="1"/>
              <p:nvPr/>
            </p:nvSpPr>
            <p:spPr>
              <a:xfrm>
                <a:off x="7926251" y="3700178"/>
                <a:ext cx="2847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latin typeface=" calibri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7650F3D-345B-4877-9D84-0BD3E2FD4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251" y="3700178"/>
                <a:ext cx="284757" cy="215444"/>
              </a:xfrm>
              <a:prstGeom prst="rect">
                <a:avLst/>
              </a:prstGeom>
              <a:blipFill>
                <a:blip r:embed="rId14"/>
                <a:stretch>
                  <a:fillRect l="-14894" r="-4255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46F85E-4DD6-42C8-951B-5C92E80A5AD9}"/>
                  </a:ext>
                </a:extLst>
              </p:cNvPr>
              <p:cNvSpPr txBox="1"/>
              <p:nvPr/>
            </p:nvSpPr>
            <p:spPr>
              <a:xfrm>
                <a:off x="7722025" y="4013366"/>
                <a:ext cx="8744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𝐺𝐴𝑁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 dirty="0">
                  <a:latin typeface=" calibri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46F85E-4DD6-42C8-951B-5C92E80A5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025" y="4013366"/>
                <a:ext cx="874470" cy="215444"/>
              </a:xfrm>
              <a:prstGeom prst="rect">
                <a:avLst/>
              </a:prstGeom>
              <a:blipFill>
                <a:blip r:embed="rId15"/>
                <a:stretch>
                  <a:fillRect l="-4196" r="-6294" b="-30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105B05-9095-4A68-B641-6388BE43F1D6}"/>
                  </a:ext>
                </a:extLst>
              </p:cNvPr>
              <p:cNvSpPr txBox="1"/>
              <p:nvPr/>
            </p:nvSpPr>
            <p:spPr>
              <a:xfrm>
                <a:off x="4638322" y="5934345"/>
                <a:ext cx="3529236" cy="3208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6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600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lim>
                                  </m:limLow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𝐺𝐴𝑁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ko-KR" sz="1600" b="0" i="1" smtClean="0"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sSub>
                                    <m:sSubPr>
                                      <m:ctrlPr>
                                        <a:rPr lang="el-GR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ko-KR" altLang="en-US" sz="1600" dirty="0">
                  <a:latin typeface=" calibri"/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105B05-9095-4A68-B641-6388BE43F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322" y="5934345"/>
                <a:ext cx="3529236" cy="320857"/>
              </a:xfrm>
              <a:prstGeom prst="rect">
                <a:avLst/>
              </a:prstGeom>
              <a:blipFill>
                <a:blip r:embed="rId16"/>
                <a:stretch>
                  <a:fillRect l="-864" r="-1554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B6B96D5C-725D-4BE6-85FF-CF9BCBDCAA03}"/>
              </a:ext>
            </a:extLst>
          </p:cNvPr>
          <p:cNvSpPr txBox="1"/>
          <p:nvPr/>
        </p:nvSpPr>
        <p:spPr>
          <a:xfrm>
            <a:off x="4321060" y="3047145"/>
            <a:ext cx="2643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latin typeface=" calibri"/>
              </a:rPr>
              <a:t>CycleGan</a:t>
            </a:r>
            <a:r>
              <a:rPr lang="en-US" altLang="ko-KR" dirty="0">
                <a:latin typeface=" calibri"/>
              </a:rPr>
              <a:t> with paired data</a:t>
            </a:r>
            <a:endParaRPr lang="ko-KR" altLang="en-US" dirty="0">
              <a:latin typeface=" calibri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C979E82-6987-483B-9504-713E511EB36D}"/>
              </a:ext>
            </a:extLst>
          </p:cNvPr>
          <p:cNvSpPr/>
          <p:nvPr/>
        </p:nvSpPr>
        <p:spPr>
          <a:xfrm>
            <a:off x="4423141" y="3372096"/>
            <a:ext cx="7488832" cy="2909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 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356CD1-71BA-4BBA-9A51-4D1A620D9029}"/>
              </a:ext>
            </a:extLst>
          </p:cNvPr>
          <p:cNvGrpSpPr/>
          <p:nvPr/>
        </p:nvGrpSpPr>
        <p:grpSpPr>
          <a:xfrm>
            <a:off x="533342" y="990713"/>
            <a:ext cx="11473826" cy="1993144"/>
            <a:chOff x="0" y="2527018"/>
            <a:chExt cx="12192000" cy="2098474"/>
          </a:xfrm>
          <a:solidFill>
            <a:schemeClr val="bg1"/>
          </a:solidFill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939E5DE-D6BC-4E0B-9F57-25B681FF3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0" y="2527018"/>
              <a:ext cx="12192000" cy="1803963"/>
            </a:xfrm>
            <a:prstGeom prst="rect">
              <a:avLst/>
            </a:prstGeom>
            <a:grpFill/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952DFA8-424A-434B-B0AB-8787BA626A3F}"/>
                </a:ext>
              </a:extLst>
            </p:cNvPr>
            <p:cNvSpPr txBox="1"/>
            <p:nvPr/>
          </p:nvSpPr>
          <p:spPr>
            <a:xfrm>
              <a:off x="0" y="4236642"/>
              <a:ext cx="12192000" cy="38885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>
                  <a:solidFill>
                    <a:srgbClr val="0000FF"/>
                  </a:solidFill>
                  <a:latin typeface=" calibri"/>
                </a:rPr>
                <a:t>Zhu, ICCV 2017</a:t>
              </a:r>
              <a:endParaRPr lang="ko-KR" altLang="en-US" dirty="0">
                <a:solidFill>
                  <a:srgbClr val="0000FF"/>
                </a:solidFill>
                <a:latin typeface=" 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119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7">
            <a:extLst>
              <a:ext uri="{FF2B5EF4-FFF2-40B4-BE49-F238E27FC236}">
                <a16:creationId xmlns:a16="http://schemas.microsoft.com/office/drawing/2014/main" id="{5469BE1B-850D-482E-96C8-54B760F23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"/>
            <a:ext cx="121920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buNone/>
            </a:pPr>
            <a:r>
              <a:rPr lang="en-US" altLang="ko-KR" dirty="0">
                <a:latin typeface="Calibri" pitchFamily="34" charset="0"/>
                <a:ea typeface="굴림" pitchFamily="50" charset="-127"/>
                <a:cs typeface="Calibri" pitchFamily="34" charset="0"/>
              </a:rPr>
              <a:t>Image harmonization: Style transfer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051BE6-29DC-46B0-923B-CFC2CC0F8694}"/>
              </a:ext>
            </a:extLst>
          </p:cNvPr>
          <p:cNvSpPr/>
          <p:nvPr/>
        </p:nvSpPr>
        <p:spPr>
          <a:xfrm>
            <a:off x="1432664" y="6154033"/>
            <a:ext cx="2339102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67" dirty="0">
                <a:solidFill>
                  <a:schemeClr val="bg1"/>
                </a:solidFill>
                <a:latin typeface="Calibri" pitchFamily="34" charset="0"/>
                <a:ea typeface="굴림" pitchFamily="50" charset="-127"/>
                <a:cs typeface="Calibri" pitchFamily="34" charset="0"/>
              </a:rPr>
              <a:t> </a:t>
            </a:r>
            <a:r>
              <a:rPr lang="en-US" altLang="ko-KR" sz="1867" dirty="0">
                <a:solidFill>
                  <a:schemeClr val="bg1"/>
                </a:solidFill>
                <a:latin typeface="Calibri" pitchFamily="34" charset="0"/>
              </a:rPr>
              <a:t>0.43 x 0.43 x 1.5 mm</a:t>
            </a:r>
            <a:r>
              <a:rPr lang="en-US" altLang="ko-KR" sz="1867" baseline="30000" dirty="0">
                <a:solidFill>
                  <a:schemeClr val="bg1"/>
                </a:solidFill>
                <a:latin typeface="Calibri" pitchFamily="34" charset="0"/>
                <a:ea typeface="굴림" pitchFamily="50" charset="-127"/>
                <a:cs typeface="Calibri" pitchFamily="34" charset="0"/>
              </a:rPr>
              <a:t>3</a:t>
            </a:r>
            <a:endParaRPr lang="ko-KR" altLang="en-US" sz="1867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AF958F-7094-40C1-9066-3612344AA3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606"/>
          <a:stretch/>
        </p:blipFill>
        <p:spPr>
          <a:xfrm>
            <a:off x="188920" y="769215"/>
            <a:ext cx="11610959" cy="340751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F59C9A2-4A24-4FF9-9F1F-4DFD30AC9D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5"/>
          <a:stretch/>
        </p:blipFill>
        <p:spPr>
          <a:xfrm>
            <a:off x="430212" y="4202130"/>
            <a:ext cx="5589588" cy="252867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679D595-7DAD-4583-9AB2-F26ED42BEF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6305545" y="4176730"/>
            <a:ext cx="5310188" cy="263364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BBE60B7-0ADD-45A9-90AD-3A8EF625EF3C}"/>
              </a:ext>
            </a:extLst>
          </p:cNvPr>
          <p:cNvSpPr/>
          <p:nvPr/>
        </p:nvSpPr>
        <p:spPr>
          <a:xfrm>
            <a:off x="10438560" y="1422362"/>
            <a:ext cx="16903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 err="1">
                <a:solidFill>
                  <a:srgbClr val="0000FF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Joonhyeok</a:t>
            </a:r>
            <a:r>
              <a:rPr lang="en-US" altLang="ko-KR" dirty="0">
                <a:solidFill>
                  <a:srgbClr val="0000FF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 Yoon</a:t>
            </a:r>
          </a:p>
          <a:p>
            <a:pPr algn="ctr" defTabSz="121917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FF"/>
                </a:solidFill>
                <a:latin typeface="Calibri" panose="020F0502020204030204" pitchFamily="34" charset="0"/>
                <a:ea typeface="ＭＳ Ｐゴシック" pitchFamily="34" charset="-128"/>
                <a:cs typeface="Calibri" panose="020F0502020204030204" pitchFamily="34" charset="0"/>
              </a:rPr>
              <a:t>ISMRM 2022</a:t>
            </a:r>
            <a:endParaRPr lang="ko-KR" altLang="en-US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797E48-D5E0-4D38-9BAA-950ED4B6A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5989" y="0"/>
            <a:ext cx="1575519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9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.4|5.5|26.7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8118</TotalTime>
  <Words>1408</Words>
  <Application>Microsoft Office PowerPoint</Application>
  <PresentationFormat>와이드스크린</PresentationFormat>
  <Paragraphs>280</Paragraphs>
  <Slides>32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 calibri</vt:lpstr>
      <vt:lpstr>NexusSerif</vt:lpstr>
      <vt:lpstr>맑은 고딕</vt:lpstr>
      <vt:lpstr>Arial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0730 Genentech meeting</dc:title>
  <dc:creator>김지예</dc:creator>
  <cp:lastModifiedBy>gram</cp:lastModifiedBy>
  <cp:revision>831</cp:revision>
  <dcterms:created xsi:type="dcterms:W3CDTF">2024-07-28T09:15:14Z</dcterms:created>
  <dcterms:modified xsi:type="dcterms:W3CDTF">2025-08-19T07:11:33Z</dcterms:modified>
</cp:coreProperties>
</file>